
<file path=[Content_Types].xml><?xml version="1.0" encoding="utf-8"?>
<ns0:Types xmlns:ns0="http://schemas.openxmlformats.org/package/2006/content-types">
  <ns0:Default Extension="jpeg" ContentType="image/jpeg"/>
  <ns0:Default Extension="rels" ContentType="application/vnd.openxmlformats-package.relationships+xml"/>
  <ns0:Default Extension="xml" ContentType="application/xml"/>
  <ns0:Default Extension="jpg" ContentType="image/jpeg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01" Type="http://schemas.openxmlformats.org/officeDocument/2006/relationships/slide" Target="slides/slide1.xml" /><Relationship Id="rId102" Type="http://schemas.openxmlformats.org/officeDocument/2006/relationships/slide" Target="slides/slide2.xml" /><Relationship Id="rId103" Type="http://schemas.openxmlformats.org/officeDocument/2006/relationships/slide" Target="slides/slide3.xml" /><Relationship Id="rId104" Type="http://schemas.openxmlformats.org/officeDocument/2006/relationships/slide" Target="slides/slide4.xml" /><Relationship Id="rId105" Type="http://schemas.openxmlformats.org/officeDocument/2006/relationships/slide" Target="slides/slide5.xml" /><Relationship Id="rId106" Type="http://schemas.openxmlformats.org/officeDocument/2006/relationships/slide" Target="slides/slide6.xml" /><Relationship Id="rId107" Type="http://schemas.openxmlformats.org/officeDocument/2006/relationships/slide" Target="slides/slide7.xml" /><Relationship Id="rId108" Type="http://schemas.openxmlformats.org/officeDocument/2006/relationships/slide" Target="slides/slide8.xml" /><Relationship Id="rId109" Type="http://schemas.openxmlformats.org/officeDocument/2006/relationships/slide" Target="slides/slide9.xml" /><Relationship Id="rId110" Type="http://schemas.openxmlformats.org/officeDocument/2006/relationships/slide" Target="slides/slide10.xml" /><Relationship Id="rId111" Type="http://schemas.openxmlformats.org/officeDocument/2006/relationships/slide" Target="slides/slide1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0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5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82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5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0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9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99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8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8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93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7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915F9-31EB-414A-BAFF-E677662AA384}" type="datetimeFigureOut">
              <a:rPr lang="en-US" smtClean="0"/>
              <a:t>21-Mar-19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49FC3-97F2-48A5-B07F-E4AE95278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7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4" name="Rect 4"/>
          <p:cNvSpPr/>
          <p:nvPr/>
        </p:nvSpPr>
        <p:spPr>
          <a:xfrm>
            <a:off x="0" y="485000"/>
            <a:ext cx="12192000" cy="55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5" name="Text 5"/>
          <p:cNvSpPr/>
          <p:nvPr/>
        </p:nvSpPr>
        <p:spPr>
          <a:xfrm>
            <a:off x="520000" y="100000"/>
            <a:ext cx="11152000" cy="285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2500" b="1">
                <a:solidFill>
                  <a:srgbClr val="FFFFFF"/>
                </a:solidFill>
                <a:latin typeface="Aptos"/>
                <a:cs typeface="Aptos"/>
              </a:rPr>
              <a:t>Kế hoạch triển khai benchmark gia sư LLM Tin học 9</a:t>
            </a:r>
          </a:p>
        </p:txBody>
      </p:sp>
      <p:sp>
        <p:nvSpPr>
          <p:cNvPr id="6" name="Text 6"/>
          <p:cNvSpPr/>
          <p:nvPr/>
        </p:nvSpPr>
        <p:spPr>
          <a:xfrm>
            <a:off x="520000" y="392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00">
                <a:solidFill>
                  <a:srgbClr val="D9EAF7"/>
                </a:solidFill>
                <a:latin typeface="Aptos"/>
                <a:cs typeface="Aptos"/>
              </a:rPr>
              <a:t>Bản v2 — làm rõ Phase 1 và Phase 2 cho buổi họp với giáo sư</a:t>
            </a:r>
          </a:p>
        </p:txBody>
      </p:sp>
      <p:sp>
        <p:nvSpPr>
          <p:cNvPr id="7" name="Text 7"/>
          <p:cNvSpPr/>
          <p:nvPr/>
        </p:nvSpPr>
        <p:spPr>
          <a:xfrm>
            <a:off x="520000" y="900000"/>
            <a:ext cx="2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900" b="1">
                <a:solidFill>
                  <a:srgbClr val="0B2341"/>
                </a:solidFill>
                <a:latin typeface="Aptos"/>
                <a:cs typeface="Aptos"/>
              </a:rPr>
              <a:t>Mục tiêu</a:t>
            </a:r>
          </a:p>
        </p:txBody>
      </p:sp>
      <p:sp>
        <p:nvSpPr>
          <p:cNvPr id="8" name="Text 8"/>
          <p:cNvSpPr/>
          <p:nvPr/>
        </p:nvSpPr>
        <p:spPr>
          <a:xfrm>
            <a:off x="520000" y="1210000"/>
            <a:ext cx="66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600">
                <a:solidFill>
                  <a:srgbClr val="404040"/>
                </a:solidFill>
                <a:latin typeface="Aptos"/>
                <a:cs typeface="Aptos"/>
              </a:rPr>
              <a:t>Không chỉ trình bày lịch; deck này giải thích vì sao Phase 1 và Phase 2 phải làm kỹ, cách làm ban đầu và output cụ thể trước khi sang task/rubric/metadata.</a:t>
            </a:r>
          </a:p>
        </p:txBody>
      </p:sp>
      <p:sp>
        <p:nvSpPr>
          <p:cNvPr id="9" name="Rect 9"/>
          <p:cNvSpPr/>
          <p:nvPr/>
        </p:nvSpPr>
        <p:spPr>
          <a:xfrm>
            <a:off x="7800000" y="930000"/>
            <a:ext cx="1450000" cy="7000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0" name="Text 10"/>
          <p:cNvSpPr/>
          <p:nvPr/>
        </p:nvSpPr>
        <p:spPr>
          <a:xfrm>
            <a:off x="7800000" y="990000"/>
            <a:ext cx="14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2500" b="1">
                <a:solidFill>
                  <a:srgbClr val="FFFFFF"/>
                </a:solidFill>
                <a:latin typeface="Aptos"/>
                <a:cs typeface="Aptos"/>
              </a:rPr>
              <a:t>28</a:t>
            </a:r>
          </a:p>
        </p:txBody>
      </p:sp>
      <p:sp>
        <p:nvSpPr>
          <p:cNvPr id="11" name="Text 11"/>
          <p:cNvSpPr/>
          <p:nvPr/>
        </p:nvSpPr>
        <p:spPr>
          <a:xfrm>
            <a:off x="7860000" y="1285000"/>
            <a:ext cx="133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1030">
                <a:solidFill>
                  <a:srgbClr val="FFFFFF"/>
                </a:solidFill>
                <a:latin typeface="Aptos"/>
                <a:cs typeface="Aptos"/>
              </a:rPr>
              <a:t>dòng việc/mốc trong Gantt</a:t>
            </a:r>
          </a:p>
        </p:txBody>
      </p:sp>
      <p:sp>
        <p:nvSpPr>
          <p:cNvPr id="12" name="Rect 12"/>
          <p:cNvSpPr/>
          <p:nvPr/>
        </p:nvSpPr>
        <p:spPr>
          <a:xfrm>
            <a:off x="9400000" y="930000"/>
            <a:ext cx="1700000" cy="7000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</p:sp>
      <p:sp>
        <p:nvSpPr>
          <p:cNvPr id="13" name="Text 13"/>
          <p:cNvSpPr/>
          <p:nvPr/>
        </p:nvSpPr>
        <p:spPr>
          <a:xfrm>
            <a:off x="9400000" y="990000"/>
            <a:ext cx="17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2500" b="1">
                <a:solidFill>
                  <a:srgbClr val="FFFFFF"/>
                </a:solidFill>
                <a:latin typeface="Aptos"/>
                <a:cs typeface="Aptos"/>
              </a:rPr>
              <a:t>01/07–10/09</a:t>
            </a:r>
          </a:p>
        </p:txBody>
      </p:sp>
      <p:sp>
        <p:nvSpPr>
          <p:cNvPr id="14" name="Text 14"/>
          <p:cNvSpPr/>
          <p:nvPr/>
        </p:nvSpPr>
        <p:spPr>
          <a:xfrm>
            <a:off x="9460000" y="1285000"/>
            <a:ext cx="158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1030">
                <a:solidFill>
                  <a:srgbClr val="FFFFFF"/>
                </a:solidFill>
                <a:latin typeface="Aptos"/>
                <a:cs typeface="Aptos"/>
              </a:rPr>
              <a:t>khoảng thời gian</a:t>
            </a:r>
          </a:p>
        </p:txBody>
      </p:sp>
      <p:sp>
        <p:nvSpPr>
          <p:cNvPr id="15" name="Rect 15"/>
          <p:cNvSpPr/>
          <p:nvPr/>
        </p:nvSpPr>
        <p:spPr>
          <a:xfrm>
            <a:off x="520000" y="2200000"/>
            <a:ext cx="5200000" cy="24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6" name="Rect 16"/>
          <p:cNvSpPr/>
          <p:nvPr/>
        </p:nvSpPr>
        <p:spPr>
          <a:xfrm>
            <a:off x="520000" y="2200000"/>
            <a:ext cx="85000" cy="2400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17" name="Text 17"/>
          <p:cNvSpPr/>
          <p:nvPr/>
        </p:nvSpPr>
        <p:spPr>
          <a:xfrm>
            <a:off x="650000" y="2285000"/>
            <a:ext cx="50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Luồng chính</a:t>
            </a:r>
          </a:p>
        </p:txBody>
      </p:sp>
      <p:sp>
        <p:nvSpPr>
          <p:cNvPr id="18" name="Text 18"/>
          <p:cNvSpPr/>
          <p:nvPr/>
        </p:nvSpPr>
        <p:spPr>
          <a:xfrm>
            <a:off x="670000" y="2515000"/>
            <a:ext cx="4960000" cy="20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01/07–15/07: literature review để ra framework v0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16/07–07/08: DB học liệu v0 + HNMU review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08/08–10/09: task, rubric, metadata và mẫu ví dụ</a:t>
            </a:r>
          </a:p>
        </p:txBody>
      </p:sp>
      <p:sp>
        <p:nvSpPr>
          <p:cNvPr id="19" name="Rect 19"/>
          <p:cNvSpPr/>
          <p:nvPr/>
        </p:nvSpPr>
        <p:spPr>
          <a:xfrm>
            <a:off x="6400000" y="2200000"/>
            <a:ext cx="5300000" cy="24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20" name="Rect 20"/>
          <p:cNvSpPr/>
          <p:nvPr/>
        </p:nvSpPr>
        <p:spPr>
          <a:xfrm>
            <a:off x="6400000" y="2200000"/>
            <a:ext cx="85000" cy="2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</p:sp>
      <p:sp>
        <p:nvSpPr>
          <p:cNvPr id="21" name="Text 21"/>
          <p:cNvSpPr/>
          <p:nvPr/>
        </p:nvSpPr>
        <p:spPr>
          <a:xfrm>
            <a:off x="6530000" y="2285000"/>
            <a:ext cx="51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Điểm cần bảo vệ</a:t>
            </a:r>
          </a:p>
        </p:txBody>
      </p:sp>
      <p:sp>
        <p:nvSpPr>
          <p:cNvPr id="22" name="Text 22"/>
          <p:cNvSpPr/>
          <p:nvPr/>
        </p:nvSpPr>
        <p:spPr>
          <a:xfrm>
            <a:off x="6550000" y="2515000"/>
            <a:ext cx="5060000" cy="20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Không vá F01 thành benchmark chính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Không chốt task/rubric nếu học liệu chưa có mã và chưa truy xuất được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Không để engineer tự quyết phần tiền kiến thức/sư phạm</a:t>
            </a:r>
          </a:p>
        </p:txBody>
      </p:sp>
      <p:sp>
        <p:nvSpPr>
          <p:cNvPr id="23" name="Text 23"/>
          <p:cNvSpPr/>
          <p:nvPr/>
        </p:nvSpPr>
        <p:spPr>
          <a:xfrm>
            <a:off x="520000" y="6558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850">
                <a:solidFill>
                  <a:srgbClr val="7F7F7F"/>
                </a:solidFill>
                <a:latin typeface="Aptos"/>
                <a:cs typeface="Aptos"/>
              </a:rPr>
              <a:t>Kế hoạch benchmark gia sư LLM Tin học 9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4" name="Rect 4"/>
          <p:cNvSpPr/>
          <p:nvPr/>
        </p:nvSpPr>
        <p:spPr>
          <a:xfrm>
            <a:off x="0" y="485000"/>
            <a:ext cx="12192000" cy="55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5" name="Text 5"/>
          <p:cNvSpPr/>
          <p:nvPr/>
        </p:nvSpPr>
        <p:spPr>
          <a:xfrm>
            <a:off x="520000" y="100000"/>
            <a:ext cx="11152000" cy="285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2500" b="1">
                <a:solidFill>
                  <a:srgbClr val="FFFFFF"/>
                </a:solidFill>
                <a:latin typeface="Aptos"/>
                <a:cs typeface="Aptos"/>
              </a:rPr>
              <a:t>Tư duy tổ chức kế hoạch</a:t>
            </a:r>
          </a:p>
        </p:txBody>
      </p:sp>
      <p:sp>
        <p:nvSpPr>
          <p:cNvPr id="6" name="Text 6"/>
          <p:cNvSpPr/>
          <p:nvPr/>
        </p:nvSpPr>
        <p:spPr>
          <a:xfrm>
            <a:off x="520000" y="392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00">
                <a:solidFill>
                  <a:srgbClr val="D9EAF7"/>
                </a:solidFill>
                <a:latin typeface="Aptos"/>
                <a:cs typeface="Aptos"/>
              </a:rPr>
              <a:t>Dependency: bằng chứng → học liệu → task/rubric → mẫu</a:t>
            </a:r>
          </a:p>
        </p:txBody>
      </p:sp>
      <p:sp>
        <p:nvSpPr>
          <p:cNvPr id="7" name="Rect 7"/>
          <p:cNvSpPr/>
          <p:nvPr/>
        </p:nvSpPr>
        <p:spPr>
          <a:xfrm>
            <a:off x="650000" y="1350000"/>
            <a:ext cx="2450000" cy="14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8" name="Rect 8"/>
          <p:cNvSpPr/>
          <p:nvPr/>
        </p:nvSpPr>
        <p:spPr>
          <a:xfrm>
            <a:off x="740000" y="1490000"/>
            <a:ext cx="450000" cy="450000"/>
          </a:xfrm>
          <a:prstGeom prst="round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9" name="Text 9"/>
          <p:cNvSpPr/>
          <p:nvPr/>
        </p:nvSpPr>
        <p:spPr>
          <a:xfrm>
            <a:off x="740000" y="1550000"/>
            <a:ext cx="4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1800" b="1">
                <a:solidFill>
                  <a:srgbClr val="FFFFFF"/>
                </a:solidFill>
                <a:latin typeface="Aptos"/>
                <a:cs typeface="Aptos"/>
              </a:rPr>
              <a:t>1</a:t>
            </a:r>
          </a:p>
        </p:txBody>
      </p:sp>
      <p:sp>
        <p:nvSpPr>
          <p:cNvPr id="10" name="Text 10"/>
          <p:cNvSpPr/>
          <p:nvPr/>
        </p:nvSpPr>
        <p:spPr>
          <a:xfrm>
            <a:off x="1300000" y="1450000"/>
            <a:ext cx="16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Literature review</a:t>
            </a:r>
          </a:p>
        </p:txBody>
      </p:sp>
      <p:sp>
        <p:nvSpPr>
          <p:cNvPr id="11" name="Text 11"/>
          <p:cNvSpPr/>
          <p:nvPr/>
        </p:nvSpPr>
        <p:spPr>
          <a:xfrm>
            <a:off x="1300000" y="1760000"/>
            <a:ext cx="16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00">
                <a:solidFill>
                  <a:srgbClr val="404040"/>
                </a:solidFill>
                <a:latin typeface="Aptos"/>
                <a:cs typeface="Aptos"/>
              </a:rPr>
              <a:t>Định nghĩa framework: năng lực gia sư, tiêu chí đánh giá, giới hạn suy luận</a:t>
            </a:r>
          </a:p>
        </p:txBody>
      </p:sp>
      <p:sp>
        <p:nvSpPr>
          <p:cNvPr id="12" name="Text 12"/>
          <p:cNvSpPr/>
          <p:nvPr/>
        </p:nvSpPr>
        <p:spPr>
          <a:xfrm>
            <a:off x="3130000" y="178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2500" b="1">
                <a:solidFill>
                  <a:srgbClr val="00B0F0"/>
                </a:solidFill>
                <a:latin typeface="Aptos"/>
                <a:cs typeface="Aptos"/>
              </a:rPr>
              <a:t>→</a:t>
            </a:r>
          </a:p>
        </p:txBody>
      </p:sp>
      <p:sp>
        <p:nvSpPr>
          <p:cNvPr id="13" name="Rect 13"/>
          <p:cNvSpPr/>
          <p:nvPr/>
        </p:nvSpPr>
        <p:spPr>
          <a:xfrm>
            <a:off x="3500000" y="1350000"/>
            <a:ext cx="2450000" cy="14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4" name="Rect 14"/>
          <p:cNvSpPr/>
          <p:nvPr/>
        </p:nvSpPr>
        <p:spPr>
          <a:xfrm>
            <a:off x="3590000" y="1490000"/>
            <a:ext cx="450000" cy="450000"/>
          </a:xfrm>
          <a:prstGeom prst="round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15" name="Text 15"/>
          <p:cNvSpPr/>
          <p:nvPr/>
        </p:nvSpPr>
        <p:spPr>
          <a:xfrm>
            <a:off x="3590000" y="1550000"/>
            <a:ext cx="4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1800" b="1">
                <a:solidFill>
                  <a:srgbClr val="FFFFFF"/>
                </a:solidFill>
                <a:latin typeface="Aptos"/>
                <a:cs typeface="Aptos"/>
              </a:rPr>
              <a:t>2</a:t>
            </a:r>
          </a:p>
        </p:txBody>
      </p:sp>
      <p:sp>
        <p:nvSpPr>
          <p:cNvPr id="16" name="Text 16"/>
          <p:cNvSpPr/>
          <p:nvPr/>
        </p:nvSpPr>
        <p:spPr>
          <a:xfrm>
            <a:off x="4150000" y="1450000"/>
            <a:ext cx="16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DB học liệu</a:t>
            </a:r>
          </a:p>
        </p:txBody>
      </p:sp>
      <p:sp>
        <p:nvSpPr>
          <p:cNvPr id="17" name="Text 17"/>
          <p:cNvSpPr/>
          <p:nvPr/>
        </p:nvSpPr>
        <p:spPr>
          <a:xfrm>
            <a:off x="4150000" y="1760000"/>
            <a:ext cx="16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00">
                <a:solidFill>
                  <a:srgbClr val="404040"/>
                </a:solidFill>
                <a:latin typeface="Aptos"/>
                <a:cs typeface="Aptos"/>
              </a:rPr>
              <a:t>Tạo nền truy vết: học liệu nhỏ, mã ổn định, tra cứu được</a:t>
            </a:r>
          </a:p>
        </p:txBody>
      </p:sp>
      <p:sp>
        <p:nvSpPr>
          <p:cNvPr id="18" name="Text 18"/>
          <p:cNvSpPr/>
          <p:nvPr/>
        </p:nvSpPr>
        <p:spPr>
          <a:xfrm>
            <a:off x="5980000" y="178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2500" b="1">
                <a:solidFill>
                  <a:srgbClr val="00B0F0"/>
                </a:solidFill>
                <a:latin typeface="Aptos"/>
                <a:cs typeface="Aptos"/>
              </a:rPr>
              <a:t>→</a:t>
            </a:r>
          </a:p>
        </p:txBody>
      </p:sp>
      <p:sp>
        <p:nvSpPr>
          <p:cNvPr id="19" name="Rect 19"/>
          <p:cNvSpPr/>
          <p:nvPr/>
        </p:nvSpPr>
        <p:spPr>
          <a:xfrm>
            <a:off x="6350000" y="1350000"/>
            <a:ext cx="2450000" cy="14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20" name="Rect 20"/>
          <p:cNvSpPr/>
          <p:nvPr/>
        </p:nvSpPr>
        <p:spPr>
          <a:xfrm>
            <a:off x="6440000" y="1490000"/>
            <a:ext cx="450000" cy="450000"/>
          </a:xfrm>
          <a:prstGeom prst="round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21" name="Text 21"/>
          <p:cNvSpPr/>
          <p:nvPr/>
        </p:nvSpPr>
        <p:spPr>
          <a:xfrm>
            <a:off x="6440000" y="1550000"/>
            <a:ext cx="4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1800" b="1">
                <a:solidFill>
                  <a:srgbClr val="FFFFFF"/>
                </a:solidFill>
                <a:latin typeface="Aptos"/>
                <a:cs typeface="Aptos"/>
              </a:rPr>
              <a:t>3</a:t>
            </a:r>
          </a:p>
        </p:txBody>
      </p:sp>
      <p:sp>
        <p:nvSpPr>
          <p:cNvPr id="22" name="Text 22"/>
          <p:cNvSpPr/>
          <p:nvPr/>
        </p:nvSpPr>
        <p:spPr>
          <a:xfrm>
            <a:off x="7000000" y="1450000"/>
            <a:ext cx="16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Task/rubric</a:t>
            </a:r>
          </a:p>
        </p:txBody>
      </p:sp>
      <p:sp>
        <p:nvSpPr>
          <p:cNvPr id="23" name="Text 23"/>
          <p:cNvSpPr/>
          <p:nvPr/>
        </p:nvSpPr>
        <p:spPr>
          <a:xfrm>
            <a:off x="7000000" y="1760000"/>
            <a:ext cx="16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00">
                <a:solidFill>
                  <a:srgbClr val="404040"/>
                </a:solidFill>
                <a:latin typeface="Aptos"/>
                <a:cs typeface="Aptos"/>
              </a:rPr>
              <a:t>Suy từ framework + DB + HNMU review, không chọn cảm tính</a:t>
            </a:r>
          </a:p>
        </p:txBody>
      </p:sp>
      <p:sp>
        <p:nvSpPr>
          <p:cNvPr id="24" name="Text 24"/>
          <p:cNvSpPr/>
          <p:nvPr/>
        </p:nvSpPr>
        <p:spPr>
          <a:xfrm>
            <a:off x="8830000" y="178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2500" b="1">
                <a:solidFill>
                  <a:srgbClr val="00B0F0"/>
                </a:solidFill>
                <a:latin typeface="Aptos"/>
                <a:cs typeface="Aptos"/>
              </a:rPr>
              <a:t>→</a:t>
            </a:r>
          </a:p>
        </p:txBody>
      </p:sp>
      <p:sp>
        <p:nvSpPr>
          <p:cNvPr id="25" name="Rect 25"/>
          <p:cNvSpPr/>
          <p:nvPr/>
        </p:nvSpPr>
        <p:spPr>
          <a:xfrm>
            <a:off x="9200000" y="1350000"/>
            <a:ext cx="2450000" cy="14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26" name="Rect 26"/>
          <p:cNvSpPr/>
          <p:nvPr/>
        </p:nvSpPr>
        <p:spPr>
          <a:xfrm>
            <a:off x="9290000" y="1490000"/>
            <a:ext cx="450000" cy="450000"/>
          </a:xfrm>
          <a:prstGeom prst="round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27" name="Text 27"/>
          <p:cNvSpPr/>
          <p:nvPr/>
        </p:nvSpPr>
        <p:spPr>
          <a:xfrm>
            <a:off x="9290000" y="1550000"/>
            <a:ext cx="4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1800" b="1">
                <a:solidFill>
                  <a:srgbClr val="FFFFFF"/>
                </a:solidFill>
                <a:latin typeface="Aptos"/>
                <a:cs typeface="Aptos"/>
              </a:rPr>
              <a:t>4</a:t>
            </a:r>
          </a:p>
        </p:txBody>
      </p:sp>
      <p:sp>
        <p:nvSpPr>
          <p:cNvPr id="28" name="Text 28"/>
          <p:cNvSpPr/>
          <p:nvPr/>
        </p:nvSpPr>
        <p:spPr>
          <a:xfrm>
            <a:off x="9850000" y="1450000"/>
            <a:ext cx="16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Metadata/mẫu</a:t>
            </a:r>
          </a:p>
        </p:txBody>
      </p:sp>
      <p:sp>
        <p:nvSpPr>
          <p:cNvPr id="29" name="Text 29"/>
          <p:cNvSpPr/>
          <p:nvPr/>
        </p:nvSpPr>
        <p:spPr>
          <a:xfrm>
            <a:off x="9850000" y="1760000"/>
            <a:ext cx="16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00">
                <a:solidFill>
                  <a:srgbClr val="404040"/>
                </a:solidFill>
                <a:latin typeface="Aptos"/>
                <a:cs typeface="Aptos"/>
              </a:rPr>
              <a:t>Tạo theo task/rubric đã qua gate và bối cảnh HNMU</a:t>
            </a:r>
          </a:p>
        </p:txBody>
      </p:sp>
      <p:sp>
        <p:nvSpPr>
          <p:cNvPr id="30" name="Rect 30"/>
          <p:cNvSpPr/>
          <p:nvPr/>
        </p:nvSpPr>
        <p:spPr>
          <a:xfrm>
            <a:off x="520000" y="3800000"/>
            <a:ext cx="10800000" cy="14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31" name="Rect 31"/>
          <p:cNvSpPr/>
          <p:nvPr/>
        </p:nvSpPr>
        <p:spPr>
          <a:xfrm>
            <a:off x="520000" y="3800000"/>
            <a:ext cx="85000" cy="1450000"/>
          </a:xfrm>
          <a:prstGeom prst="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</p:sp>
      <p:sp>
        <p:nvSpPr>
          <p:cNvPr id="32" name="Text 32"/>
          <p:cNvSpPr/>
          <p:nvPr/>
        </p:nvSpPr>
        <p:spPr>
          <a:xfrm>
            <a:off x="650000" y="3885000"/>
            <a:ext cx="106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Thông điệp với giáo sư</a:t>
            </a:r>
          </a:p>
        </p:txBody>
      </p:sp>
      <p:sp>
        <p:nvSpPr>
          <p:cNvPr id="33" name="Text 33"/>
          <p:cNvSpPr/>
          <p:nvPr/>
        </p:nvSpPr>
        <p:spPr>
          <a:xfrm>
            <a:off x="670000" y="4115000"/>
            <a:ext cx="10560000" cy="10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Hai phase đầu không phải “chuẩn bị phụ”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Phase 1 quyết định benchmark đo cái gì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Phase 2 quyết định benchmark có căn cứ học liệu nào và truy vết ra sao</a:t>
            </a:r>
          </a:p>
        </p:txBody>
      </p:sp>
      <p:sp>
        <p:nvSpPr>
          <p:cNvPr id="34" name="Text 34"/>
          <p:cNvSpPr/>
          <p:nvPr/>
        </p:nvSpPr>
        <p:spPr>
          <a:xfrm>
            <a:off x="520000" y="6558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850">
                <a:solidFill>
                  <a:srgbClr val="7F7F7F"/>
                </a:solidFill>
                <a:latin typeface="Aptos"/>
                <a:cs typeface="Aptos"/>
              </a:rPr>
              <a:t>Kế hoạch benchmark gia sư LLM Tin học 9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4" name="Rect 4"/>
          <p:cNvSpPr/>
          <p:nvPr/>
        </p:nvSpPr>
        <p:spPr>
          <a:xfrm>
            <a:off x="0" y="485000"/>
            <a:ext cx="12192000" cy="55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5" name="Text 5"/>
          <p:cNvSpPr/>
          <p:nvPr/>
        </p:nvSpPr>
        <p:spPr>
          <a:xfrm>
            <a:off x="520000" y="100000"/>
            <a:ext cx="11152000" cy="285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2450" b="1">
                <a:solidFill>
                  <a:srgbClr val="FFFFFF"/>
                </a:solidFill>
                <a:latin typeface="Aptos"/>
                <a:cs typeface="Aptos"/>
              </a:rPr>
              <a:t>Phase 1 — Literature review để ra framework</a:t>
            </a:r>
          </a:p>
        </p:txBody>
      </p:sp>
      <p:sp>
        <p:nvSpPr>
          <p:cNvPr id="6" name="Text 6"/>
          <p:cNvSpPr/>
          <p:nvPr/>
        </p:nvSpPr>
        <p:spPr>
          <a:xfrm>
            <a:off x="520000" y="392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00">
                <a:solidFill>
                  <a:srgbClr val="D9EAF7"/>
                </a:solidFill>
                <a:latin typeface="Aptos"/>
                <a:cs typeface="Aptos"/>
              </a:rPr>
              <a:t>Làm kỹ để framework có nền lý thuyết, không chỉ là danh sách task/rubric tự nghĩ</a:t>
            </a:r>
          </a:p>
        </p:txBody>
      </p:sp>
      <p:sp>
        <p:nvSpPr>
          <p:cNvPr id="7" name="Rect 7"/>
          <p:cNvSpPr/>
          <p:nvPr/>
        </p:nvSpPr>
        <p:spPr>
          <a:xfrm>
            <a:off x="520000" y="920000"/>
            <a:ext cx="5350000" cy="21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8" name="Rect 8"/>
          <p:cNvSpPr/>
          <p:nvPr/>
        </p:nvSpPr>
        <p:spPr>
          <a:xfrm>
            <a:off x="520000" y="920000"/>
            <a:ext cx="85000" cy="2150000"/>
          </a:xfrm>
          <a:prstGeom prst="rect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</p:sp>
      <p:sp>
        <p:nvSpPr>
          <p:cNvPr id="9" name="Text 9"/>
          <p:cNvSpPr/>
          <p:nvPr/>
        </p:nvSpPr>
        <p:spPr>
          <a:xfrm>
            <a:off x="650000" y="1000000"/>
            <a:ext cx="517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20" b="1">
                <a:solidFill>
                  <a:srgbClr val="0B2341"/>
                </a:solidFill>
                <a:latin typeface="Aptos"/>
                <a:cs typeface="Aptos"/>
              </a:rPr>
              <a:t>Vì sao cần làm kỹ?</a:t>
            </a:r>
          </a:p>
        </p:txBody>
      </p:sp>
      <p:sp>
        <p:nvSpPr>
          <p:cNvPr id="10" name="Text 10"/>
          <p:cNvSpPr/>
          <p:nvPr/>
        </p:nvSpPr>
        <p:spPr>
          <a:xfrm>
            <a:off x="670000" y="1205000"/>
            <a:ext cx="5110000" cy="18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Tránh chốt task/rubric theo cảm tính hoặc theo F01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Xác định “gia sư tốt” là những năng lực nào có bằng chứng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Tách claim có bằng chứng, suy luận thiết kế và câu hỏi cần HNMU xác nhận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Giảm rủi ro giáo sư/HNMU hỏi “vì sao lại chấm tiêu chí này?”</a:t>
            </a:r>
          </a:p>
        </p:txBody>
      </p:sp>
      <p:sp>
        <p:nvSpPr>
          <p:cNvPr id="11" name="Rect 11"/>
          <p:cNvSpPr/>
          <p:nvPr/>
        </p:nvSpPr>
        <p:spPr>
          <a:xfrm>
            <a:off x="6400000" y="920000"/>
            <a:ext cx="5250000" cy="21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2" name="Rect 12"/>
          <p:cNvSpPr/>
          <p:nvPr/>
        </p:nvSpPr>
        <p:spPr>
          <a:xfrm>
            <a:off x="6400000" y="920000"/>
            <a:ext cx="85000" cy="21500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3" name="Text 13"/>
          <p:cNvSpPr/>
          <p:nvPr/>
        </p:nvSpPr>
        <p:spPr>
          <a:xfrm>
            <a:off x="6530000" y="1000000"/>
            <a:ext cx="507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20" b="1">
                <a:solidFill>
                  <a:srgbClr val="0B2341"/>
                </a:solidFill>
                <a:latin typeface="Aptos"/>
                <a:cs typeface="Aptos"/>
              </a:rPr>
              <a:t>Hướng làm ban đầu</a:t>
            </a:r>
          </a:p>
        </p:txBody>
      </p:sp>
      <p:sp>
        <p:nvSpPr>
          <p:cNvPr id="14" name="Text 14"/>
          <p:cNvSpPr/>
          <p:nvPr/>
        </p:nvSpPr>
        <p:spPr>
          <a:xfrm>
            <a:off x="6550000" y="1205000"/>
            <a:ext cx="5010000" cy="18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Viết search protocol và câu hỏi rà soát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Tạo bảng chấm giá trị bài báo theo nhiều chiều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Lập seed paper độc lập với F01; dùng F01 chỉ để đối chiếu sau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Đọc sâu 15–25 nguồn lõi và trích vào ma trận bằng chứng</a:t>
            </a:r>
          </a:p>
        </p:txBody>
      </p:sp>
      <p:sp>
        <p:nvSpPr>
          <p:cNvPr id="15" name="Rect 15"/>
          <p:cNvSpPr/>
          <p:nvPr/>
        </p:nvSpPr>
        <p:spPr>
          <a:xfrm>
            <a:off x="520000" y="3450000"/>
            <a:ext cx="11150000" cy="16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6" name="Rect 16"/>
          <p:cNvSpPr/>
          <p:nvPr/>
        </p:nvSpPr>
        <p:spPr>
          <a:xfrm>
            <a:off x="520000" y="3450000"/>
            <a:ext cx="85000" cy="1650000"/>
          </a:xfrm>
          <a:prstGeom prst="rect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</p:sp>
      <p:sp>
        <p:nvSpPr>
          <p:cNvPr id="17" name="Text 17"/>
          <p:cNvSpPr/>
          <p:nvPr/>
        </p:nvSpPr>
        <p:spPr>
          <a:xfrm>
            <a:off x="650000" y="3520000"/>
            <a:ext cx="1097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20" b="1">
                <a:solidFill>
                  <a:srgbClr val="0B2341"/>
                </a:solidFill>
                <a:latin typeface="Aptos"/>
                <a:cs typeface="Aptos"/>
              </a:rPr>
              <a:t>Output cụ thể và mục đích sử dụng</a:t>
            </a:r>
          </a:p>
        </p:txBody>
      </p:sp>
      <p:sp>
        <p:nvSpPr>
          <p:cNvPr id="18" name="Text 18"/>
          <p:cNvSpPr/>
          <p:nvPr/>
        </p:nvSpPr>
        <p:spPr>
          <a:xfrm>
            <a:off x="670000" y="3720000"/>
            <a:ext cx="10910000" cy="13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969">
                <a:solidFill>
                  <a:srgbClr val="404040"/>
                </a:solidFill>
                <a:latin typeface="Aptos"/>
                <a:cs typeface="Aptos"/>
              </a:rPr>
              <a:t>• Quy ước mã nghiên cứu: định danh từng bài báo để mọi claim trong framework truy ngược được về nguồn, tránh trùng/nhầm citation.</a:t>
            </a:r>
          </a:p>
          <a:p>
            <a:pPr algn="l"/>
            <a:r>
              <a:rPr lang="vi-VN" sz="969">
                <a:solidFill>
                  <a:srgbClr val="404040"/>
                </a:solidFill>
                <a:latin typeface="Aptos"/>
                <a:cs typeface="Aptos"/>
              </a:rPr>
              <a:t>• Protocol + bảng chấm bài báo: khóa cách tìm, chọn và đánh giá nguồn để giáo sư/HNMU có thể kiểm tra lại quy trình review.</a:t>
            </a:r>
          </a:p>
          <a:p>
            <a:pPr algn="l"/>
            <a:r>
              <a:rPr lang="vi-VN" sz="969">
                <a:solidFill>
                  <a:srgbClr val="404040"/>
                </a:solidFill>
                <a:latin typeface="Aptos"/>
                <a:cs typeface="Aptos"/>
              </a:rPr>
              <a:t>• Seed paper registry: danh sách nguồn khởi đầu độc lập với F01, dùng để mở rộng bằng citation chaining và kiểm soát phạm vi.</a:t>
            </a:r>
          </a:p>
          <a:p>
            <a:pPr algn="l"/>
            <a:r>
              <a:rPr lang="vi-VN" sz="969">
                <a:solidFill>
                  <a:srgbClr val="404040"/>
                </a:solidFill>
                <a:latin typeface="Aptos"/>
                <a:cs typeface="Aptos"/>
              </a:rPr>
              <a:t>• Evidence matrix: bảng rút findings, giới hạn và độ liên quan; là cầu nối nghiên cứu → năng lực gia sư → yêu cầu benchmark.</a:t>
            </a:r>
          </a:p>
          <a:p>
            <a:pPr algn="l"/>
            <a:r>
              <a:rPr lang="vi-VN" sz="969">
                <a:solidFill>
                  <a:srgbClr val="404040"/>
                </a:solidFill>
                <a:latin typeface="Aptos"/>
                <a:cs typeface="Aptos"/>
              </a:rPr>
              <a:t>• Capability model + theoretical foundation: chuyển bằng chứng thành 5–8 năng lực/giả thuyết thiết kế, làm đầu vào cho ma trận task/rubric sau này.</a:t>
            </a:r>
          </a:p>
        </p:txBody>
      </p:sp>
      <p:sp>
        <p:nvSpPr>
          <p:cNvPr id="19" name="Text 19"/>
          <p:cNvSpPr/>
          <p:nvPr/>
        </p:nvSpPr>
        <p:spPr>
          <a:xfrm>
            <a:off x="520000" y="6558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850">
                <a:solidFill>
                  <a:srgbClr val="7F7F7F"/>
                </a:solidFill>
                <a:latin typeface="Aptos"/>
                <a:cs typeface="Aptos"/>
              </a:rPr>
              <a:t>Kế hoạch benchmark gia sư LLM Tin học 9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4" name="Rect 4"/>
          <p:cNvSpPr/>
          <p:nvPr/>
        </p:nvSpPr>
        <p:spPr>
          <a:xfrm>
            <a:off x="0" y="485000"/>
            <a:ext cx="12192000" cy="55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5" name="Text 5"/>
          <p:cNvSpPr/>
          <p:nvPr/>
        </p:nvSpPr>
        <p:spPr>
          <a:xfrm>
            <a:off x="520000" y="100000"/>
            <a:ext cx="11152000" cy="285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2500" b="1">
                <a:solidFill>
                  <a:srgbClr val="FFFFFF"/>
                </a:solidFill>
                <a:latin typeface="Aptos"/>
                <a:cs typeface="Aptos"/>
              </a:rPr>
              <a:t>Phase 1 — Output dùng để ra framework như thế nào?</a:t>
            </a:r>
          </a:p>
        </p:txBody>
      </p:sp>
      <p:sp>
        <p:nvSpPr>
          <p:cNvPr id="6" name="Text 6"/>
          <p:cNvSpPr/>
          <p:nvPr/>
        </p:nvSpPr>
        <p:spPr>
          <a:xfrm>
            <a:off x="520000" y="392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00">
                <a:solidFill>
                  <a:srgbClr val="D9EAF7"/>
                </a:solidFill>
                <a:latin typeface="Aptos"/>
                <a:cs typeface="Aptos"/>
              </a:rPr>
              <a:t>Đầu ra không chỉ là bibliography; nó phải biến thành quyết định thiết kế có truy vết</a:t>
            </a:r>
          </a:p>
        </p:txBody>
      </p:sp>
      <p:sp>
        <p:nvSpPr>
          <p:cNvPr id="7" name="Rect 7"/>
          <p:cNvSpPr/>
          <p:nvPr/>
        </p:nvSpPr>
        <p:spPr>
          <a:xfrm>
            <a:off x="520000" y="920000"/>
            <a:ext cx="5300000" cy="21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8" name="Rect 8"/>
          <p:cNvSpPr/>
          <p:nvPr/>
        </p:nvSpPr>
        <p:spPr>
          <a:xfrm>
            <a:off x="520000" y="920000"/>
            <a:ext cx="85000" cy="2100000"/>
          </a:xfrm>
          <a:prstGeom prst="rect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</p:sp>
      <p:sp>
        <p:nvSpPr>
          <p:cNvPr id="9" name="Text 9"/>
          <p:cNvSpPr/>
          <p:nvPr/>
        </p:nvSpPr>
        <p:spPr>
          <a:xfrm>
            <a:off x="650000" y="1005000"/>
            <a:ext cx="51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Từ nghiên cứu sang framework</a:t>
            </a:r>
          </a:p>
        </p:txBody>
      </p:sp>
      <p:sp>
        <p:nvSpPr>
          <p:cNvPr id="10" name="Text 10"/>
          <p:cNvSpPr/>
          <p:nvPr/>
        </p:nvSpPr>
        <p:spPr>
          <a:xfrm>
            <a:off x="670000" y="1235000"/>
            <a:ext cx="5060000" cy="17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Mỗi năng lực gia sư ứng viên gắn với nguồn nghiên cứu hoặc ghi là khoảng trống bằng chứng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Mỗi tiêu chí đánh giá sau này phải trả lời được: “đang đo năng lực nào?”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Không suy rộng learning outcome thật từ một lượt phản hồi nếu nghiên cứu không cho phép</a:t>
            </a:r>
          </a:p>
        </p:txBody>
      </p:sp>
      <p:sp>
        <p:nvSpPr>
          <p:cNvPr id="11" name="Rect 11"/>
          <p:cNvSpPr/>
          <p:nvPr/>
        </p:nvSpPr>
        <p:spPr>
          <a:xfrm>
            <a:off x="6400000" y="920000"/>
            <a:ext cx="5250000" cy="21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2" name="Rect 12"/>
          <p:cNvSpPr/>
          <p:nvPr/>
        </p:nvSpPr>
        <p:spPr>
          <a:xfrm>
            <a:off x="6400000" y="920000"/>
            <a:ext cx="85000" cy="21000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3" name="Text 13"/>
          <p:cNvSpPr/>
          <p:nvPr/>
        </p:nvSpPr>
        <p:spPr>
          <a:xfrm>
            <a:off x="6530000" y="1005000"/>
            <a:ext cx="507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Framework v0 cần chứa</a:t>
            </a:r>
          </a:p>
        </p:txBody>
      </p:sp>
      <p:sp>
        <p:nvSpPr>
          <p:cNvPr id="14" name="Text 14"/>
          <p:cNvSpPr/>
          <p:nvPr/>
        </p:nvSpPr>
        <p:spPr>
          <a:xfrm>
            <a:off x="6550000" y="1235000"/>
            <a:ext cx="5010000" cy="17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5–8 năng lực gia sư ứng viên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Phân biệt năng lực chung và năng lực riêng cho Tin học 9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Giới hạn/uncertainty để HNMU hoặc giáo sư phản biện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Cầu nối ban đầu sang ma trận bao phủ task</a:t>
            </a:r>
          </a:p>
        </p:txBody>
      </p:sp>
      <p:sp>
        <p:nvSpPr>
          <p:cNvPr id="15" name="Rect 15"/>
          <p:cNvSpPr/>
          <p:nvPr/>
        </p:nvSpPr>
        <p:spPr>
          <a:xfrm>
            <a:off x="520000" y="3450000"/>
            <a:ext cx="10800000" cy="16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6" name="Rect 16"/>
          <p:cNvSpPr/>
          <p:nvPr/>
        </p:nvSpPr>
        <p:spPr>
          <a:xfrm>
            <a:off x="520000" y="3450000"/>
            <a:ext cx="85000" cy="1600000"/>
          </a:xfrm>
          <a:prstGeom prst="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</p:sp>
      <p:sp>
        <p:nvSpPr>
          <p:cNvPr id="17" name="Text 17"/>
          <p:cNvSpPr/>
          <p:nvPr/>
        </p:nvSpPr>
        <p:spPr>
          <a:xfrm>
            <a:off x="650000" y="3535000"/>
            <a:ext cx="106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Mốc kiểm tra 15/07</a:t>
            </a:r>
          </a:p>
        </p:txBody>
      </p:sp>
      <p:sp>
        <p:nvSpPr>
          <p:cNvPr id="18" name="Text 18"/>
          <p:cNvSpPr/>
          <p:nvPr/>
        </p:nvSpPr>
        <p:spPr>
          <a:xfrm>
            <a:off x="670000" y="3765000"/>
            <a:ext cx="10560000" cy="12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Nếu đạt: có nền để thiết kế DB và chuẩn bị task sau này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Nếu chưa đạt: ưu tiên làm chắc bằng chứng lõi, không mở rộng task/rubric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Sản phẩm vẫn là framework v0, chưa gọi là benchmark chính thức</a:t>
            </a:r>
          </a:p>
        </p:txBody>
      </p:sp>
      <p:sp>
        <p:nvSpPr>
          <p:cNvPr id="19" name="Text 19"/>
          <p:cNvSpPr/>
          <p:nvPr/>
        </p:nvSpPr>
        <p:spPr>
          <a:xfrm>
            <a:off x="520000" y="6558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850">
                <a:solidFill>
                  <a:srgbClr val="7F7F7F"/>
                </a:solidFill>
                <a:latin typeface="Aptos"/>
                <a:cs typeface="Aptos"/>
              </a:rPr>
              <a:t>Kế hoạch benchmark gia sư LLM Tin học 9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4" name="Rect 4"/>
          <p:cNvSpPr/>
          <p:nvPr/>
        </p:nvSpPr>
        <p:spPr>
          <a:xfrm>
            <a:off x="0" y="485000"/>
            <a:ext cx="12192000" cy="55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5" name="Text 5"/>
          <p:cNvSpPr/>
          <p:nvPr/>
        </p:nvSpPr>
        <p:spPr>
          <a:xfrm>
            <a:off x="520000" y="100000"/>
            <a:ext cx="11152000" cy="285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2450" b="1">
                <a:solidFill>
                  <a:srgbClr val="FFFFFF"/>
                </a:solidFill>
                <a:latin typeface="Aptos"/>
                <a:cs typeface="Aptos"/>
              </a:rPr>
              <a:t>Phase 2 — Xây dựng DB học liệu v0</a:t>
            </a:r>
          </a:p>
        </p:txBody>
      </p:sp>
      <p:sp>
        <p:nvSpPr>
          <p:cNvPr id="6" name="Text 6"/>
          <p:cNvSpPr/>
          <p:nvPr/>
        </p:nvSpPr>
        <p:spPr>
          <a:xfrm>
            <a:off x="520000" y="392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00">
                <a:solidFill>
                  <a:srgbClr val="D9EAF7"/>
                </a:solidFill>
                <a:latin typeface="Aptos"/>
                <a:cs typeface="Aptos"/>
              </a:rPr>
              <a:t>Làm kỹ vì benchmark bắt buộc phải bám học liệu/chương trình, không chỉ rubric trừu tượng</a:t>
            </a:r>
          </a:p>
        </p:txBody>
      </p:sp>
      <p:sp>
        <p:nvSpPr>
          <p:cNvPr id="7" name="Rect 7"/>
          <p:cNvSpPr/>
          <p:nvPr/>
        </p:nvSpPr>
        <p:spPr>
          <a:xfrm>
            <a:off x="520000" y="920000"/>
            <a:ext cx="5350000" cy="21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8" name="Rect 8"/>
          <p:cNvSpPr/>
          <p:nvPr/>
        </p:nvSpPr>
        <p:spPr>
          <a:xfrm>
            <a:off x="520000" y="920000"/>
            <a:ext cx="85000" cy="2150000"/>
          </a:xfrm>
          <a:prstGeom prst="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</p:sp>
      <p:sp>
        <p:nvSpPr>
          <p:cNvPr id="9" name="Text 9"/>
          <p:cNvSpPr/>
          <p:nvPr/>
        </p:nvSpPr>
        <p:spPr>
          <a:xfrm>
            <a:off x="650000" y="1000000"/>
            <a:ext cx="517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20" b="1">
                <a:solidFill>
                  <a:srgbClr val="0B2341"/>
                </a:solidFill>
                <a:latin typeface="Aptos"/>
                <a:cs typeface="Aptos"/>
              </a:rPr>
              <a:t>Vì sao cần làm kỹ?</a:t>
            </a:r>
          </a:p>
        </p:txBody>
      </p:sp>
      <p:sp>
        <p:nvSpPr>
          <p:cNvPr id="10" name="Text 10"/>
          <p:cNvSpPr/>
          <p:nvPr/>
        </p:nvSpPr>
        <p:spPr>
          <a:xfrm>
            <a:off x="670000" y="1205000"/>
            <a:ext cx="5110000" cy="18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Mỗi mẫu benchmark cần truy được về đoạn học liệu/chương trình cụ thể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Giáo viên cần tra cứu mã học liệu nhanh khi tạo/thẩm định mẫu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Kho học liệu sẽ thay đổi; nếu không version/mã hóa sớm sẽ mất truy vết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Tiền kiến thức/chủ đề là quyết định sư phạm, không thể để engineer tự chốt</a:t>
            </a:r>
          </a:p>
        </p:txBody>
      </p:sp>
      <p:sp>
        <p:nvSpPr>
          <p:cNvPr id="11" name="Rect 11"/>
          <p:cNvSpPr/>
          <p:nvPr/>
        </p:nvSpPr>
        <p:spPr>
          <a:xfrm>
            <a:off x="6400000" y="920000"/>
            <a:ext cx="5250000" cy="21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2" name="Rect 12"/>
          <p:cNvSpPr/>
          <p:nvPr/>
        </p:nvSpPr>
        <p:spPr>
          <a:xfrm>
            <a:off x="6400000" y="920000"/>
            <a:ext cx="85000" cy="21500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3" name="Text 13"/>
          <p:cNvSpPr/>
          <p:nvPr/>
        </p:nvSpPr>
        <p:spPr>
          <a:xfrm>
            <a:off x="6530000" y="1000000"/>
            <a:ext cx="507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20" b="1">
                <a:solidFill>
                  <a:srgbClr val="0B2341"/>
                </a:solidFill>
                <a:latin typeface="Aptos"/>
                <a:cs typeface="Aptos"/>
              </a:rPr>
              <a:t>Hướng làm ban đầu</a:t>
            </a:r>
          </a:p>
        </p:txBody>
      </p:sp>
      <p:sp>
        <p:nvSpPr>
          <p:cNvPr id="14" name="Text 14"/>
          <p:cNvSpPr/>
          <p:nvPr/>
        </p:nvSpPr>
        <p:spPr>
          <a:xfrm>
            <a:off x="6550000" y="1205000"/>
            <a:ext cx="5010000" cy="18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Lưu nguồn HNMU, OCR và bóc tách thành đầu mục/đoạn nhỏ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Gán mã ổn định cho học liệu/chương trình/fragment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Nhập vào SQLite và tạo lookup HTML/tra cứu nhẹ</a:t>
            </a:r>
          </a:p>
          <a:p>
            <a:pPr algn="l"/>
            <a:r>
              <a:rPr lang="vi-VN" sz="1090">
                <a:solidFill>
                  <a:srgbClr val="404040"/>
                </a:solidFill>
                <a:latin typeface="Aptos"/>
                <a:cs typeface="Aptos"/>
              </a:rPr>
              <a:t>• Tách trường kỹ thuật và trường cần HNMU review</a:t>
            </a:r>
          </a:p>
        </p:txBody>
      </p:sp>
      <p:sp>
        <p:nvSpPr>
          <p:cNvPr id="15" name="Rect 15"/>
          <p:cNvSpPr/>
          <p:nvPr/>
        </p:nvSpPr>
        <p:spPr>
          <a:xfrm>
            <a:off x="520000" y="3450000"/>
            <a:ext cx="11150000" cy="16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6" name="Rect 16"/>
          <p:cNvSpPr/>
          <p:nvPr/>
        </p:nvSpPr>
        <p:spPr>
          <a:xfrm>
            <a:off x="520000" y="3450000"/>
            <a:ext cx="85000" cy="1650000"/>
          </a:xfrm>
          <a:prstGeom prst="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</p:sp>
      <p:sp>
        <p:nvSpPr>
          <p:cNvPr id="17" name="Text 17"/>
          <p:cNvSpPr/>
          <p:nvPr/>
        </p:nvSpPr>
        <p:spPr>
          <a:xfrm>
            <a:off x="650000" y="3520000"/>
            <a:ext cx="1097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20" b="1">
                <a:solidFill>
                  <a:srgbClr val="0B2341"/>
                </a:solidFill>
                <a:latin typeface="Aptos"/>
                <a:cs typeface="Aptos"/>
              </a:rPr>
              <a:t>Output cụ thể và mục đích sử dụng</a:t>
            </a:r>
          </a:p>
        </p:txBody>
      </p:sp>
      <p:sp>
        <p:nvSpPr>
          <p:cNvPr id="18" name="Text 18"/>
          <p:cNvSpPr/>
          <p:nvPr/>
        </p:nvSpPr>
        <p:spPr>
          <a:xfrm>
            <a:off x="670000" y="3720000"/>
            <a:ext cx="10910000" cy="13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969">
                <a:solidFill>
                  <a:srgbClr val="404040"/>
                </a:solidFill>
                <a:latin typeface="Aptos"/>
                <a:cs typeface="Aptos"/>
              </a:rPr>
              <a:t>• TOC/fragment registry: chia học liệu thành đoạn nhỏ có mã để giáo viên/UET dẫn nguồn khi tạo hoặc thẩm định mẫu.</a:t>
            </a:r>
          </a:p>
          <a:p>
            <a:pPr algn="l"/>
            <a:r>
              <a:rPr lang="vi-VN" sz="969">
                <a:solidFill>
                  <a:srgbClr val="404040"/>
                </a:solidFill>
                <a:latin typeface="Aptos"/>
                <a:cs typeface="Aptos"/>
              </a:rPr>
              <a:t>• SQLite + import script: kho dữ liệu v0 để tra cứu, tái nhập và cập nhật khi OCR/registry được sửa; là nền nâng cấp DB sau này.</a:t>
            </a:r>
          </a:p>
          <a:p>
            <a:pPr algn="l"/>
            <a:r>
              <a:rPr lang="vi-VN" sz="969">
                <a:solidFill>
                  <a:srgbClr val="404040"/>
                </a:solidFill>
                <a:latin typeface="Aptos"/>
                <a:cs typeface="Aptos"/>
              </a:rPr>
              <a:t>• Lookup HTML/giao diện tra cứu: giúp giáo viên tìm theo mã, bài/mục, từ khóa, chủ đề mà không cần SQL hoặc terminal.</a:t>
            </a:r>
          </a:p>
          <a:p>
            <a:pPr algn="l"/>
            <a:r>
              <a:rPr lang="vi-VN" sz="969">
                <a:solidFill>
                  <a:srgbClr val="404040"/>
                </a:solidFill>
                <a:latin typeface="Aptos"/>
                <a:cs typeface="Aptos"/>
              </a:rPr>
              <a:t>• OCR/lookup QA notes: ghi phần đọc tốt, phần cần sửa tay, phần chưa đủ tin cậy để dùng làm căn cứ benchmark.</a:t>
            </a:r>
          </a:p>
          <a:p>
            <a:pPr algn="l"/>
            <a:r>
              <a:rPr lang="vi-VN" sz="969">
                <a:solidFill>
                  <a:srgbClr val="404040"/>
                </a:solidFill>
                <a:latin typeface="Aptos"/>
                <a:cs typeface="Aptos"/>
              </a:rPr>
              <a:t>• Mapping status của HNMU: cho biết đoạn nào đã được review sư phạm, đoạn nào pending; quyết định phần nào được phép dùng cho task/rubric.</a:t>
            </a:r>
          </a:p>
        </p:txBody>
      </p:sp>
      <p:sp>
        <p:nvSpPr>
          <p:cNvPr id="19" name="Text 19"/>
          <p:cNvSpPr/>
          <p:nvPr/>
        </p:nvSpPr>
        <p:spPr>
          <a:xfrm>
            <a:off x="520000" y="6558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850">
                <a:solidFill>
                  <a:srgbClr val="7F7F7F"/>
                </a:solidFill>
                <a:latin typeface="Aptos"/>
                <a:cs typeface="Aptos"/>
              </a:rPr>
              <a:t>Kế hoạch benchmark gia sư LLM Tin học 9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4" name="Rect 4"/>
          <p:cNvSpPr/>
          <p:nvPr/>
        </p:nvSpPr>
        <p:spPr>
          <a:xfrm>
            <a:off x="0" y="485000"/>
            <a:ext cx="12192000" cy="55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5" name="Text 5"/>
          <p:cNvSpPr/>
          <p:nvPr/>
        </p:nvSpPr>
        <p:spPr>
          <a:xfrm>
            <a:off x="520000" y="100000"/>
            <a:ext cx="11152000" cy="285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2500" b="1">
                <a:solidFill>
                  <a:srgbClr val="FFFFFF"/>
                </a:solidFill>
                <a:latin typeface="Aptos"/>
                <a:cs typeface="Aptos"/>
              </a:rPr>
              <a:t>Phase 2 — DB v0 cần đạt mức nào?</a:t>
            </a:r>
          </a:p>
        </p:txBody>
      </p:sp>
      <p:sp>
        <p:nvSpPr>
          <p:cNvPr id="6" name="Text 6"/>
          <p:cNvSpPr/>
          <p:nvPr/>
        </p:nvSpPr>
        <p:spPr>
          <a:xfrm>
            <a:off x="520000" y="392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00">
                <a:solidFill>
                  <a:srgbClr val="D9EAF7"/>
                </a:solidFill>
                <a:latin typeface="Aptos"/>
                <a:cs typeface="Aptos"/>
              </a:rPr>
              <a:t>Mục tiêu là “đủ dùng cho thiết kế benchmark”, chưa phải production DB đầy đủ</a:t>
            </a:r>
          </a:p>
        </p:txBody>
      </p:sp>
      <p:sp>
        <p:nvSpPr>
          <p:cNvPr id="7" name="Rect 7"/>
          <p:cNvSpPr/>
          <p:nvPr/>
        </p:nvSpPr>
        <p:spPr>
          <a:xfrm>
            <a:off x="520000" y="900000"/>
            <a:ext cx="5300000" cy="23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8" name="Rect 8"/>
          <p:cNvSpPr/>
          <p:nvPr/>
        </p:nvSpPr>
        <p:spPr>
          <a:xfrm>
            <a:off x="520000" y="900000"/>
            <a:ext cx="85000" cy="2300000"/>
          </a:xfrm>
          <a:prstGeom prst="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</p:sp>
      <p:sp>
        <p:nvSpPr>
          <p:cNvPr id="9" name="Text 9"/>
          <p:cNvSpPr/>
          <p:nvPr/>
        </p:nvSpPr>
        <p:spPr>
          <a:xfrm>
            <a:off x="650000" y="985000"/>
            <a:ext cx="51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Chức năng tối thiểu trước 23/07</a:t>
            </a:r>
          </a:p>
        </p:txBody>
      </p:sp>
      <p:sp>
        <p:nvSpPr>
          <p:cNvPr id="10" name="Text 10"/>
          <p:cNvSpPr/>
          <p:nvPr/>
        </p:nvSpPr>
        <p:spPr>
          <a:xfrm>
            <a:off x="670000" y="1215000"/>
            <a:ext cx="5060000" cy="19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Tra cứu theo mã học liệu/đoạn học liệu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Tra cứu theo bài/mục/từ khóa/chủ đề sơ bộ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Hiển thị nguồn, vị trí, nội dung OCR/tóm tắt và ghi chú chất lượng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Giáo viên mở được bằng trình duyệt, không cần SQL/terminal</a:t>
            </a:r>
          </a:p>
        </p:txBody>
      </p:sp>
      <p:sp>
        <p:nvSpPr>
          <p:cNvPr id="11" name="Rect 11"/>
          <p:cNvSpPr/>
          <p:nvPr/>
        </p:nvSpPr>
        <p:spPr>
          <a:xfrm>
            <a:off x="6400000" y="900000"/>
            <a:ext cx="5250000" cy="23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2" name="Rect 12"/>
          <p:cNvSpPr/>
          <p:nvPr/>
        </p:nvSpPr>
        <p:spPr>
          <a:xfrm>
            <a:off x="6400000" y="900000"/>
            <a:ext cx="85000" cy="230000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</a:ln>
        </p:spPr>
      </p:sp>
      <p:sp>
        <p:nvSpPr>
          <p:cNvPr id="13" name="Text 13"/>
          <p:cNvSpPr/>
          <p:nvPr/>
        </p:nvSpPr>
        <p:spPr>
          <a:xfrm>
            <a:off x="6530000" y="985000"/>
            <a:ext cx="507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Phần cần HNMU xác nhận tới 31/07</a:t>
            </a:r>
          </a:p>
        </p:txBody>
      </p:sp>
      <p:sp>
        <p:nvSpPr>
          <p:cNvPr id="14" name="Text 14"/>
          <p:cNvSpPr/>
          <p:nvPr/>
        </p:nvSpPr>
        <p:spPr>
          <a:xfrm>
            <a:off x="6550000" y="1215000"/>
            <a:ext cx="5010000" cy="19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Chủ đề/mạch kiến thức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Tiền kiến thức lớp 6–8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Độ phù hợp với Tin học 9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Ghi chú cách dùng học liệu khi viết mẫu benchmark</a:t>
            </a:r>
          </a:p>
        </p:txBody>
      </p:sp>
      <p:sp>
        <p:nvSpPr>
          <p:cNvPr id="15" name="Rect 15"/>
          <p:cNvSpPr/>
          <p:nvPr/>
        </p:nvSpPr>
        <p:spPr>
          <a:xfrm>
            <a:off x="520000" y="3700000"/>
            <a:ext cx="10800000" cy="14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6" name="Rect 16"/>
          <p:cNvSpPr/>
          <p:nvPr/>
        </p:nvSpPr>
        <p:spPr>
          <a:xfrm>
            <a:off x="520000" y="3700000"/>
            <a:ext cx="85000" cy="14500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7" name="Text 17"/>
          <p:cNvSpPr/>
          <p:nvPr/>
        </p:nvSpPr>
        <p:spPr>
          <a:xfrm>
            <a:off x="650000" y="3785000"/>
            <a:ext cx="106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Mốc kiểm tra 07/08</a:t>
            </a:r>
          </a:p>
        </p:txBody>
      </p:sp>
      <p:sp>
        <p:nvSpPr>
          <p:cNvPr id="18" name="Text 18"/>
          <p:cNvSpPr/>
          <p:nvPr/>
        </p:nvSpPr>
        <p:spPr>
          <a:xfrm>
            <a:off x="670000" y="4015000"/>
            <a:ext cx="10560000" cy="10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DB lookup + registry + mapping có trạng thái rõ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Phần chưa được HNMU rà phải ghi pending_hnmu_review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Sau mốc này mới bắt đầu task/rubric/metadata chính thức</a:t>
            </a:r>
          </a:p>
        </p:txBody>
      </p:sp>
      <p:sp>
        <p:nvSpPr>
          <p:cNvPr id="19" name="Text 19"/>
          <p:cNvSpPr/>
          <p:nvPr/>
        </p:nvSpPr>
        <p:spPr>
          <a:xfrm>
            <a:off x="520000" y="6558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850">
                <a:solidFill>
                  <a:srgbClr val="7F7F7F"/>
                </a:solidFill>
                <a:latin typeface="Aptos"/>
                <a:cs typeface="Aptos"/>
              </a:rPr>
              <a:t>Kế hoạch benchmark gia sư LLM Tin học 9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4" name="Rect 4"/>
          <p:cNvSpPr/>
          <p:nvPr/>
        </p:nvSpPr>
        <p:spPr>
          <a:xfrm>
            <a:off x="0" y="485000"/>
            <a:ext cx="12192000" cy="55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5" name="Text 5"/>
          <p:cNvSpPr/>
          <p:nvPr/>
        </p:nvSpPr>
        <p:spPr>
          <a:xfrm>
            <a:off x="520000" y="100000"/>
            <a:ext cx="11152000" cy="285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2500" b="1">
                <a:solidFill>
                  <a:srgbClr val="FFFFFF"/>
                </a:solidFill>
                <a:latin typeface="Aptos"/>
                <a:cs typeface="Aptos"/>
              </a:rPr>
              <a:t>Timeline tổng thể sau khi làm rõ hai phase đầu</a:t>
            </a:r>
          </a:p>
        </p:txBody>
      </p:sp>
      <p:sp>
        <p:nvSpPr>
          <p:cNvPr id="6" name="Text 6"/>
          <p:cNvSpPr/>
          <p:nvPr/>
        </p:nvSpPr>
        <p:spPr>
          <a:xfrm>
            <a:off x="520000" y="392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00">
                <a:solidFill>
                  <a:srgbClr val="D9EAF7"/>
                </a:solidFill>
                <a:latin typeface="Aptos"/>
                <a:cs typeface="Aptos"/>
              </a:rPr>
              <a:t>Hai phase đầu là nền, không phải phần phụ</a:t>
            </a:r>
          </a:p>
        </p:txBody>
      </p:sp>
      <p:sp>
        <p:nvSpPr>
          <p:cNvPr id="7" name="Rect 7"/>
          <p:cNvSpPr/>
          <p:nvPr/>
        </p:nvSpPr>
        <p:spPr>
          <a:xfrm>
            <a:off x="920000" y="1450000"/>
            <a:ext cx="10200000" cy="35000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</a:ln>
        </p:spPr>
      </p:sp>
      <p:sp>
        <p:nvSpPr>
          <p:cNvPr id="8" name="Rect 8"/>
          <p:cNvSpPr/>
          <p:nvPr/>
        </p:nvSpPr>
        <p:spPr>
          <a:xfrm>
            <a:off x="906000" y="1360000"/>
            <a:ext cx="28000" cy="190000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</a:ln>
        </p:spPr>
      </p:sp>
      <p:sp>
        <p:nvSpPr>
          <p:cNvPr id="9" name="Text 9"/>
          <p:cNvSpPr/>
          <p:nvPr/>
        </p:nvSpPr>
        <p:spPr>
          <a:xfrm>
            <a:off x="700000" y="1580000"/>
            <a:ext cx="45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850">
                <a:solidFill>
                  <a:srgbClr val="404040"/>
                </a:solidFill>
                <a:latin typeface="Aptos"/>
                <a:cs typeface="Aptos"/>
              </a:rPr>
              <a:t>01/07</a:t>
            </a:r>
          </a:p>
        </p:txBody>
      </p:sp>
      <p:sp>
        <p:nvSpPr>
          <p:cNvPr id="10" name="Rect 10"/>
          <p:cNvSpPr/>
          <p:nvPr/>
        </p:nvSpPr>
        <p:spPr>
          <a:xfrm>
            <a:off x="2917267" y="1360000"/>
            <a:ext cx="28000" cy="190000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</a:ln>
        </p:spPr>
      </p:sp>
      <p:sp>
        <p:nvSpPr>
          <p:cNvPr id="11" name="Text 11"/>
          <p:cNvSpPr/>
          <p:nvPr/>
        </p:nvSpPr>
        <p:spPr>
          <a:xfrm>
            <a:off x="2711267" y="1580000"/>
            <a:ext cx="45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850">
                <a:solidFill>
                  <a:srgbClr val="404040"/>
                </a:solidFill>
                <a:latin typeface="Aptos"/>
                <a:cs typeface="Aptos"/>
              </a:rPr>
              <a:t>15/07</a:t>
            </a:r>
          </a:p>
        </p:txBody>
      </p:sp>
      <p:sp>
        <p:nvSpPr>
          <p:cNvPr id="12" name="Rect 12"/>
          <p:cNvSpPr/>
          <p:nvPr/>
        </p:nvSpPr>
        <p:spPr>
          <a:xfrm>
            <a:off x="4066563" y="1360000"/>
            <a:ext cx="28000" cy="190000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</a:ln>
        </p:spPr>
      </p:sp>
      <p:sp>
        <p:nvSpPr>
          <p:cNvPr id="13" name="Text 13"/>
          <p:cNvSpPr/>
          <p:nvPr/>
        </p:nvSpPr>
        <p:spPr>
          <a:xfrm>
            <a:off x="3860563" y="1580000"/>
            <a:ext cx="45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850">
                <a:solidFill>
                  <a:srgbClr val="404040"/>
                </a:solidFill>
                <a:latin typeface="Aptos"/>
                <a:cs typeface="Aptos"/>
              </a:rPr>
              <a:t>23/07</a:t>
            </a:r>
          </a:p>
        </p:txBody>
      </p:sp>
      <p:sp>
        <p:nvSpPr>
          <p:cNvPr id="14" name="Rect 14"/>
          <p:cNvSpPr/>
          <p:nvPr/>
        </p:nvSpPr>
        <p:spPr>
          <a:xfrm>
            <a:off x="6221492" y="1360000"/>
            <a:ext cx="28000" cy="190000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</a:ln>
        </p:spPr>
      </p:sp>
      <p:sp>
        <p:nvSpPr>
          <p:cNvPr id="15" name="Text 15"/>
          <p:cNvSpPr/>
          <p:nvPr/>
        </p:nvSpPr>
        <p:spPr>
          <a:xfrm>
            <a:off x="6015492" y="1580000"/>
            <a:ext cx="45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850">
                <a:solidFill>
                  <a:srgbClr val="404040"/>
                </a:solidFill>
                <a:latin typeface="Aptos"/>
                <a:cs typeface="Aptos"/>
              </a:rPr>
              <a:t>07/08</a:t>
            </a:r>
          </a:p>
        </p:txBody>
      </p:sp>
      <p:sp>
        <p:nvSpPr>
          <p:cNvPr id="16" name="Rect 16"/>
          <p:cNvSpPr/>
          <p:nvPr/>
        </p:nvSpPr>
        <p:spPr>
          <a:xfrm>
            <a:off x="7658112" y="1360000"/>
            <a:ext cx="28000" cy="190000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</a:ln>
        </p:spPr>
      </p:sp>
      <p:sp>
        <p:nvSpPr>
          <p:cNvPr id="17" name="Text 17"/>
          <p:cNvSpPr/>
          <p:nvPr/>
        </p:nvSpPr>
        <p:spPr>
          <a:xfrm>
            <a:off x="7452112" y="1580000"/>
            <a:ext cx="45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850">
                <a:solidFill>
                  <a:srgbClr val="404040"/>
                </a:solidFill>
                <a:latin typeface="Aptos"/>
                <a:cs typeface="Aptos"/>
              </a:rPr>
              <a:t>17/08</a:t>
            </a:r>
          </a:p>
        </p:txBody>
      </p:sp>
      <p:sp>
        <p:nvSpPr>
          <p:cNvPr id="18" name="Rect 18"/>
          <p:cNvSpPr/>
          <p:nvPr/>
        </p:nvSpPr>
        <p:spPr>
          <a:xfrm>
            <a:off x="8951070" y="1360000"/>
            <a:ext cx="28000" cy="190000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</a:ln>
        </p:spPr>
      </p:sp>
      <p:sp>
        <p:nvSpPr>
          <p:cNvPr id="19" name="Text 19"/>
          <p:cNvSpPr/>
          <p:nvPr/>
        </p:nvSpPr>
        <p:spPr>
          <a:xfrm>
            <a:off x="8745070" y="1580000"/>
            <a:ext cx="45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850">
                <a:solidFill>
                  <a:srgbClr val="404040"/>
                </a:solidFill>
                <a:latin typeface="Aptos"/>
                <a:cs typeface="Aptos"/>
              </a:rPr>
              <a:t>26/08</a:t>
            </a:r>
          </a:p>
        </p:txBody>
      </p:sp>
      <p:sp>
        <p:nvSpPr>
          <p:cNvPr id="20" name="Rect 20"/>
          <p:cNvSpPr/>
          <p:nvPr/>
        </p:nvSpPr>
        <p:spPr>
          <a:xfrm>
            <a:off x="11106000" y="1360000"/>
            <a:ext cx="28000" cy="190000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</a:ln>
        </p:spPr>
      </p:sp>
      <p:sp>
        <p:nvSpPr>
          <p:cNvPr id="21" name="Text 21"/>
          <p:cNvSpPr/>
          <p:nvPr/>
        </p:nvSpPr>
        <p:spPr>
          <a:xfrm>
            <a:off x="10900000" y="1580000"/>
            <a:ext cx="45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850">
                <a:solidFill>
                  <a:srgbClr val="404040"/>
                </a:solidFill>
                <a:latin typeface="Aptos"/>
                <a:cs typeface="Aptos"/>
              </a:rPr>
              <a:t>10/09</a:t>
            </a:r>
          </a:p>
        </p:txBody>
      </p:sp>
      <p:sp>
        <p:nvSpPr>
          <p:cNvPr id="22" name="Rect 22"/>
          <p:cNvSpPr/>
          <p:nvPr/>
        </p:nvSpPr>
        <p:spPr>
          <a:xfrm>
            <a:off x="920000" y="2200000"/>
            <a:ext cx="2011267" cy="2700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</p:sp>
      <p:sp>
        <p:nvSpPr>
          <p:cNvPr id="23" name="Text 23"/>
          <p:cNvSpPr/>
          <p:nvPr/>
        </p:nvSpPr>
        <p:spPr>
          <a:xfrm>
            <a:off x="520000" y="2180000"/>
            <a:ext cx="345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200" b="1">
                <a:solidFill>
                  <a:srgbClr val="0B2341"/>
                </a:solidFill>
                <a:latin typeface="Aptos"/>
                <a:cs typeface="Aptos"/>
              </a:rPr>
              <a:t>Phase 1: Literature review → framework</a:t>
            </a:r>
          </a:p>
        </p:txBody>
      </p:sp>
      <p:sp>
        <p:nvSpPr>
          <p:cNvPr id="24" name="Text 24"/>
          <p:cNvSpPr/>
          <p:nvPr/>
        </p:nvSpPr>
        <p:spPr>
          <a:xfrm>
            <a:off x="920000" y="2500000"/>
            <a:ext cx="2011267" cy="1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850">
                <a:solidFill>
                  <a:srgbClr val="404040"/>
                </a:solidFill>
                <a:latin typeface="Aptos"/>
                <a:cs typeface="Aptos"/>
              </a:rPr>
              <a:t>01/07–15/07</a:t>
            </a:r>
          </a:p>
        </p:txBody>
      </p:sp>
      <p:sp>
        <p:nvSpPr>
          <p:cNvPr id="25" name="Rect 25"/>
          <p:cNvSpPr/>
          <p:nvPr/>
        </p:nvSpPr>
        <p:spPr>
          <a:xfrm>
            <a:off x="3074929" y="3050000"/>
            <a:ext cx="3160563" cy="27000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</p:sp>
      <p:sp>
        <p:nvSpPr>
          <p:cNvPr id="26" name="Text 26"/>
          <p:cNvSpPr/>
          <p:nvPr/>
        </p:nvSpPr>
        <p:spPr>
          <a:xfrm>
            <a:off x="520000" y="3030000"/>
            <a:ext cx="345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200" b="1">
                <a:solidFill>
                  <a:srgbClr val="0B2341"/>
                </a:solidFill>
                <a:latin typeface="Aptos"/>
                <a:cs typeface="Aptos"/>
              </a:rPr>
              <a:t>Phase 2: DB học liệu v0 + HNMU review</a:t>
            </a:r>
          </a:p>
        </p:txBody>
      </p:sp>
      <p:sp>
        <p:nvSpPr>
          <p:cNvPr id="27" name="Text 27"/>
          <p:cNvSpPr/>
          <p:nvPr/>
        </p:nvSpPr>
        <p:spPr>
          <a:xfrm>
            <a:off x="3074929" y="3350000"/>
            <a:ext cx="3160563" cy="1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850">
                <a:solidFill>
                  <a:srgbClr val="404040"/>
                </a:solidFill>
                <a:latin typeface="Aptos"/>
                <a:cs typeface="Aptos"/>
              </a:rPr>
              <a:t>16/07–07/08</a:t>
            </a:r>
          </a:p>
        </p:txBody>
      </p:sp>
      <p:sp>
        <p:nvSpPr>
          <p:cNvPr id="28" name="Rect 28"/>
          <p:cNvSpPr/>
          <p:nvPr/>
        </p:nvSpPr>
        <p:spPr>
          <a:xfrm>
            <a:off x="6379154" y="3900000"/>
            <a:ext cx="4740846" cy="270000"/>
          </a:xfrm>
          <a:prstGeom prst="roundRect">
            <a:avLst/>
          </a:prstGeom>
          <a:solidFill>
            <a:srgbClr val="4472C4"/>
          </a:solidFill>
          <a:ln w="9525">
            <a:solidFill>
              <a:srgbClr val="4472C4"/>
            </a:solidFill>
          </a:ln>
        </p:spPr>
      </p:sp>
      <p:sp>
        <p:nvSpPr>
          <p:cNvPr id="29" name="Text 29"/>
          <p:cNvSpPr/>
          <p:nvPr/>
        </p:nvSpPr>
        <p:spPr>
          <a:xfrm>
            <a:off x="520000" y="3880000"/>
            <a:ext cx="345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200" b="1">
                <a:solidFill>
                  <a:srgbClr val="0B2341"/>
                </a:solidFill>
                <a:latin typeface="Aptos"/>
                <a:cs typeface="Aptos"/>
              </a:rPr>
              <a:t>Phase 3: Task/rubric/metadata/mẫu</a:t>
            </a:r>
          </a:p>
        </p:txBody>
      </p:sp>
      <p:sp>
        <p:nvSpPr>
          <p:cNvPr id="30" name="Text 30"/>
          <p:cNvSpPr/>
          <p:nvPr/>
        </p:nvSpPr>
        <p:spPr>
          <a:xfrm>
            <a:off x="6379154" y="4200000"/>
            <a:ext cx="4740846" cy="1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850">
                <a:solidFill>
                  <a:srgbClr val="404040"/>
                </a:solidFill>
                <a:latin typeface="Aptos"/>
                <a:cs typeface="Aptos"/>
              </a:rPr>
              <a:t>08/08–10/09</a:t>
            </a:r>
          </a:p>
        </p:txBody>
      </p:sp>
      <p:sp>
        <p:nvSpPr>
          <p:cNvPr id="31" name="Rect 31"/>
          <p:cNvSpPr/>
          <p:nvPr/>
        </p:nvSpPr>
        <p:spPr>
          <a:xfrm>
            <a:off x="520000" y="4900000"/>
            <a:ext cx="10800000" cy="8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32" name="Rect 32"/>
          <p:cNvSpPr/>
          <p:nvPr/>
        </p:nvSpPr>
        <p:spPr>
          <a:xfrm>
            <a:off x="520000" y="4900000"/>
            <a:ext cx="85000" cy="8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</p:sp>
      <p:sp>
        <p:nvSpPr>
          <p:cNvPr id="33" name="Text 33"/>
          <p:cNvSpPr/>
          <p:nvPr/>
        </p:nvSpPr>
        <p:spPr>
          <a:xfrm>
            <a:off x="650000" y="4985000"/>
            <a:ext cx="106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Điểm cần giáo sư thấy rõ</a:t>
            </a:r>
          </a:p>
        </p:txBody>
      </p:sp>
      <p:sp>
        <p:nvSpPr>
          <p:cNvPr id="34" name="Text 34"/>
          <p:cNvSpPr/>
          <p:nvPr/>
        </p:nvSpPr>
        <p:spPr>
          <a:xfrm>
            <a:off x="670000" y="5215000"/>
            <a:ext cx="1056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15/07: framework v0 từ literature review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07/08: DB học liệu v0 đủ ổn để làm nền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Từ 08/08 mới bắt đầu task/rubric/metadata chính thức</a:t>
            </a:r>
          </a:p>
        </p:txBody>
      </p:sp>
      <p:sp>
        <p:nvSpPr>
          <p:cNvPr id="35" name="Text 35"/>
          <p:cNvSpPr/>
          <p:nvPr/>
        </p:nvSpPr>
        <p:spPr>
          <a:xfrm>
            <a:off x="520000" y="6558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850">
                <a:solidFill>
                  <a:srgbClr val="7F7F7F"/>
                </a:solidFill>
                <a:latin typeface="Aptos"/>
                <a:cs typeface="Aptos"/>
              </a:rPr>
              <a:t>Kế hoạch benchmark gia sư LLM Tin học 9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4" name="Rect 4"/>
          <p:cNvSpPr/>
          <p:nvPr/>
        </p:nvSpPr>
        <p:spPr>
          <a:xfrm>
            <a:off x="0" y="485000"/>
            <a:ext cx="12192000" cy="55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5" name="Text 5"/>
          <p:cNvSpPr/>
          <p:nvPr/>
        </p:nvSpPr>
        <p:spPr>
          <a:xfrm>
            <a:off x="520000" y="100000"/>
            <a:ext cx="11152000" cy="285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2500" b="1">
                <a:solidFill>
                  <a:srgbClr val="FFFFFF"/>
                </a:solidFill>
                <a:latin typeface="Aptos"/>
                <a:cs typeface="Aptos"/>
              </a:rPr>
              <a:t>Các gate xác nhận với HNMU</a:t>
            </a:r>
          </a:p>
        </p:txBody>
      </p:sp>
      <p:sp>
        <p:nvSpPr>
          <p:cNvPr id="6" name="Text 6"/>
          <p:cNvSpPr/>
          <p:nvPr/>
        </p:nvSpPr>
        <p:spPr>
          <a:xfrm>
            <a:off x="520000" y="392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00">
                <a:solidFill>
                  <a:srgbClr val="D9EAF7"/>
                </a:solidFill>
                <a:latin typeface="Aptos"/>
                <a:cs typeface="Aptos"/>
              </a:rPr>
              <a:t>Gate giúp tách việc kỹ thuật của UET khỏi phán quyết sư phạm của HNMU</a:t>
            </a:r>
          </a:p>
        </p:txBody>
      </p:sp>
      <p:sp>
        <p:nvSpPr>
          <p:cNvPr id="7" name="Rect 7"/>
          <p:cNvSpPr/>
          <p:nvPr/>
        </p:nvSpPr>
        <p:spPr>
          <a:xfrm>
            <a:off x="520000" y="1050000"/>
            <a:ext cx="11200000" cy="64000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F4B183"/>
            </a:solidFill>
          </a:ln>
        </p:spPr>
      </p:sp>
      <p:sp>
        <p:nvSpPr>
          <p:cNvPr id="8" name="Rect 8"/>
          <p:cNvSpPr/>
          <p:nvPr/>
        </p:nvSpPr>
        <p:spPr>
          <a:xfrm>
            <a:off x="520000" y="1050000"/>
            <a:ext cx="1350000" cy="64000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</a:ln>
        </p:spPr>
      </p:sp>
      <p:sp>
        <p:nvSpPr>
          <p:cNvPr id="9" name="Text 9"/>
          <p:cNvSpPr/>
          <p:nvPr/>
        </p:nvSpPr>
        <p:spPr>
          <a:xfrm>
            <a:off x="580000" y="1245000"/>
            <a:ext cx="123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1200" b="1">
                <a:solidFill>
                  <a:srgbClr val="111111"/>
                </a:solidFill>
                <a:latin typeface="Aptos"/>
                <a:cs typeface="Aptos"/>
              </a:rPr>
              <a:t>23/07–31/07</a:t>
            </a:r>
          </a:p>
        </p:txBody>
      </p:sp>
      <p:sp>
        <p:nvSpPr>
          <p:cNvPr id="10" name="Text 10"/>
          <p:cNvSpPr/>
          <p:nvPr/>
        </p:nvSpPr>
        <p:spPr>
          <a:xfrm>
            <a:off x="2040000" y="1155000"/>
            <a:ext cx="220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Mapping học liệu</a:t>
            </a:r>
          </a:p>
        </p:txBody>
      </p:sp>
      <p:sp>
        <p:nvSpPr>
          <p:cNvPr id="11" name="Text 11"/>
          <p:cNvSpPr/>
          <p:nvPr/>
        </p:nvSpPr>
        <p:spPr>
          <a:xfrm>
            <a:off x="2040000" y="1380000"/>
            <a:ext cx="8550000" cy="1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40">
                <a:solidFill>
                  <a:srgbClr val="404040"/>
                </a:solidFill>
                <a:latin typeface="Aptos"/>
                <a:cs typeface="Aptos"/>
              </a:rPr>
              <a:t>HNMU rà chủ đề, tiền kiến thức lớp 6–8, độ phù hợp chương trình</a:t>
            </a:r>
          </a:p>
        </p:txBody>
      </p:sp>
      <p:sp>
        <p:nvSpPr>
          <p:cNvPr id="12" name="Rect 12"/>
          <p:cNvSpPr/>
          <p:nvPr/>
        </p:nvSpPr>
        <p:spPr>
          <a:xfrm>
            <a:off x="520000" y="1970000"/>
            <a:ext cx="11200000" cy="64000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F4B183"/>
            </a:solidFill>
          </a:ln>
        </p:spPr>
      </p:sp>
      <p:sp>
        <p:nvSpPr>
          <p:cNvPr id="13" name="Rect 13"/>
          <p:cNvSpPr/>
          <p:nvPr/>
        </p:nvSpPr>
        <p:spPr>
          <a:xfrm>
            <a:off x="520000" y="1970000"/>
            <a:ext cx="1350000" cy="64000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</a:ln>
        </p:spPr>
      </p:sp>
      <p:sp>
        <p:nvSpPr>
          <p:cNvPr id="14" name="Text 14"/>
          <p:cNvSpPr/>
          <p:nvPr/>
        </p:nvSpPr>
        <p:spPr>
          <a:xfrm>
            <a:off x="580000" y="2165000"/>
            <a:ext cx="123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1200" b="1">
                <a:solidFill>
                  <a:srgbClr val="111111"/>
                </a:solidFill>
                <a:latin typeface="Aptos"/>
                <a:cs typeface="Aptos"/>
              </a:rPr>
              <a:t>15/08–17/08</a:t>
            </a:r>
          </a:p>
        </p:txBody>
      </p:sp>
      <p:sp>
        <p:nvSpPr>
          <p:cNvPr id="15" name="Text 15"/>
          <p:cNvSpPr/>
          <p:nvPr/>
        </p:nvSpPr>
        <p:spPr>
          <a:xfrm>
            <a:off x="2040000" y="2075000"/>
            <a:ext cx="220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Task ứng viên</a:t>
            </a:r>
          </a:p>
        </p:txBody>
      </p:sp>
      <p:sp>
        <p:nvSpPr>
          <p:cNvPr id="16" name="Text 16"/>
          <p:cNvSpPr/>
          <p:nvPr/>
        </p:nvSpPr>
        <p:spPr>
          <a:xfrm>
            <a:off x="2040000" y="2300000"/>
            <a:ext cx="8550000" cy="1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40">
                <a:solidFill>
                  <a:srgbClr val="404040"/>
                </a:solidFill>
                <a:latin typeface="Aptos"/>
                <a:cs typeface="Aptos"/>
              </a:rPr>
              <a:t>HNMU xác nhận giữ/gộp/tách task trước khi xây rubric</a:t>
            </a:r>
          </a:p>
        </p:txBody>
      </p:sp>
      <p:sp>
        <p:nvSpPr>
          <p:cNvPr id="17" name="Rect 17"/>
          <p:cNvSpPr/>
          <p:nvPr/>
        </p:nvSpPr>
        <p:spPr>
          <a:xfrm>
            <a:off x="520000" y="2890000"/>
            <a:ext cx="11200000" cy="64000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F4B183"/>
            </a:solidFill>
          </a:ln>
        </p:spPr>
      </p:sp>
      <p:sp>
        <p:nvSpPr>
          <p:cNvPr id="18" name="Rect 18"/>
          <p:cNvSpPr/>
          <p:nvPr/>
        </p:nvSpPr>
        <p:spPr>
          <a:xfrm>
            <a:off x="520000" y="2890000"/>
            <a:ext cx="1350000" cy="64000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</a:ln>
        </p:spPr>
      </p:sp>
      <p:sp>
        <p:nvSpPr>
          <p:cNvPr id="19" name="Text 19"/>
          <p:cNvSpPr/>
          <p:nvPr/>
        </p:nvSpPr>
        <p:spPr>
          <a:xfrm>
            <a:off x="580000" y="3085000"/>
            <a:ext cx="123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1200" b="1">
                <a:solidFill>
                  <a:srgbClr val="111111"/>
                </a:solidFill>
                <a:latin typeface="Aptos"/>
                <a:cs typeface="Aptos"/>
              </a:rPr>
              <a:t>24/08–26/08</a:t>
            </a:r>
          </a:p>
        </p:txBody>
      </p:sp>
      <p:sp>
        <p:nvSpPr>
          <p:cNvPr id="20" name="Text 20"/>
          <p:cNvSpPr/>
          <p:nvPr/>
        </p:nvSpPr>
        <p:spPr>
          <a:xfrm>
            <a:off x="2040000" y="2995000"/>
            <a:ext cx="220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Rubric + mã lỗi</a:t>
            </a:r>
          </a:p>
        </p:txBody>
      </p:sp>
      <p:sp>
        <p:nvSpPr>
          <p:cNvPr id="21" name="Text 21"/>
          <p:cNvSpPr/>
          <p:nvPr/>
        </p:nvSpPr>
        <p:spPr>
          <a:xfrm>
            <a:off x="2040000" y="3220000"/>
            <a:ext cx="8550000" cy="1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40">
                <a:solidFill>
                  <a:srgbClr val="404040"/>
                </a:solidFill>
                <a:latin typeface="Aptos"/>
                <a:cs typeface="Aptos"/>
              </a:rPr>
              <a:t>HNMU xác nhận rubric, mã lỗi nghiêm trọng và quan hệ mã lỗi–rubric</a:t>
            </a:r>
          </a:p>
        </p:txBody>
      </p:sp>
      <p:sp>
        <p:nvSpPr>
          <p:cNvPr id="22" name="Rect 22"/>
          <p:cNvSpPr/>
          <p:nvPr/>
        </p:nvSpPr>
        <p:spPr>
          <a:xfrm>
            <a:off x="520000" y="3810000"/>
            <a:ext cx="11200000" cy="64000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F4B183"/>
            </a:solidFill>
          </a:ln>
        </p:spPr>
      </p:sp>
      <p:sp>
        <p:nvSpPr>
          <p:cNvPr id="23" name="Rect 23"/>
          <p:cNvSpPr/>
          <p:nvPr/>
        </p:nvSpPr>
        <p:spPr>
          <a:xfrm>
            <a:off x="520000" y="3810000"/>
            <a:ext cx="1350000" cy="64000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</a:ln>
        </p:spPr>
      </p:sp>
      <p:sp>
        <p:nvSpPr>
          <p:cNvPr id="24" name="Text 24"/>
          <p:cNvSpPr/>
          <p:nvPr/>
        </p:nvSpPr>
        <p:spPr>
          <a:xfrm>
            <a:off x="580000" y="4005000"/>
            <a:ext cx="123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ctr"/>
            <a:r>
              <a:rPr lang="vi-VN" sz="1200" b="1">
                <a:solidFill>
                  <a:srgbClr val="111111"/>
                </a:solidFill>
                <a:latin typeface="Aptos"/>
                <a:cs typeface="Aptos"/>
              </a:rPr>
              <a:t>08/09–10/09</a:t>
            </a:r>
          </a:p>
        </p:txBody>
      </p:sp>
      <p:sp>
        <p:nvSpPr>
          <p:cNvPr id="25" name="Text 25"/>
          <p:cNvSpPr/>
          <p:nvPr/>
        </p:nvSpPr>
        <p:spPr>
          <a:xfrm>
            <a:off x="2040000" y="3915000"/>
            <a:ext cx="220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Metadata + mẫu</a:t>
            </a:r>
          </a:p>
        </p:txBody>
      </p:sp>
      <p:sp>
        <p:nvSpPr>
          <p:cNvPr id="26" name="Text 26"/>
          <p:cNvSpPr/>
          <p:nvPr/>
        </p:nvSpPr>
        <p:spPr>
          <a:xfrm>
            <a:off x="2040000" y="4140000"/>
            <a:ext cx="8550000" cy="15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40">
                <a:solidFill>
                  <a:srgbClr val="404040"/>
                </a:solidFill>
                <a:latin typeface="Aptos"/>
                <a:cs typeface="Aptos"/>
              </a:rPr>
              <a:t>HNMU thẩm định sâu gói benchmark v0</a:t>
            </a:r>
          </a:p>
        </p:txBody>
      </p:sp>
      <p:sp>
        <p:nvSpPr>
          <p:cNvPr id="27" name="Text 27"/>
          <p:cNvSpPr/>
          <p:nvPr/>
        </p:nvSpPr>
        <p:spPr>
          <a:xfrm>
            <a:off x="520000" y="5150000"/>
            <a:ext cx="10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350" b="1">
                <a:solidFill>
                  <a:srgbClr val="C00000"/>
                </a:solidFill>
                <a:latin typeface="Aptos"/>
                <a:cs typeface="Aptos"/>
              </a:rPr>
              <a:t>Nếu HNMU phản hồi chậm: sản phẩm chỉ đánh dấu pending_hnmu_review, không gọi là bản chính thức.</a:t>
            </a:r>
          </a:p>
        </p:txBody>
      </p:sp>
      <p:sp>
        <p:nvSpPr>
          <p:cNvPr id="28" name="Text 28"/>
          <p:cNvSpPr/>
          <p:nvPr/>
        </p:nvSpPr>
        <p:spPr>
          <a:xfrm>
            <a:off x="520000" y="6558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850">
                <a:solidFill>
                  <a:srgbClr val="7F7F7F"/>
                </a:solidFill>
                <a:latin typeface="Aptos"/>
                <a:cs typeface="Aptos"/>
              </a:rPr>
              <a:t>Kế hoạch benchmark gia sư LLM Tin học 9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4" name="Rect 4"/>
          <p:cNvSpPr/>
          <p:nvPr/>
        </p:nvSpPr>
        <p:spPr>
          <a:xfrm>
            <a:off x="0" y="485000"/>
            <a:ext cx="12192000" cy="55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5" name="Text 5"/>
          <p:cNvSpPr/>
          <p:nvPr/>
        </p:nvSpPr>
        <p:spPr>
          <a:xfrm>
            <a:off x="520000" y="100000"/>
            <a:ext cx="11152000" cy="285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2500" b="1">
                <a:solidFill>
                  <a:srgbClr val="FFFFFF"/>
                </a:solidFill>
                <a:latin typeface="Aptos"/>
                <a:cs typeface="Aptos"/>
              </a:rPr>
              <a:t>Giai đoạn sau DB — task/rubric/metadata/mẫu ví dụ</a:t>
            </a:r>
          </a:p>
        </p:txBody>
      </p:sp>
      <p:sp>
        <p:nvSpPr>
          <p:cNvPr id="6" name="Text 6"/>
          <p:cNvSpPr/>
          <p:nvPr/>
        </p:nvSpPr>
        <p:spPr>
          <a:xfrm>
            <a:off x="520000" y="392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00">
                <a:solidFill>
                  <a:srgbClr val="D9EAF7"/>
                </a:solidFill>
                <a:latin typeface="Aptos"/>
                <a:cs typeface="Aptos"/>
              </a:rPr>
              <a:t>Bắt đầu chính thức sau khi DB học liệu v0 đủ ổn</a:t>
            </a:r>
          </a:p>
        </p:txBody>
      </p:sp>
      <p:sp>
        <p:nvSpPr>
          <p:cNvPr id="7" name="Rect 7"/>
          <p:cNvSpPr/>
          <p:nvPr/>
        </p:nvSpPr>
        <p:spPr>
          <a:xfrm>
            <a:off x="520000" y="900000"/>
            <a:ext cx="3500000" cy="28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8" name="Rect 8"/>
          <p:cNvSpPr/>
          <p:nvPr/>
        </p:nvSpPr>
        <p:spPr>
          <a:xfrm>
            <a:off x="520000" y="900000"/>
            <a:ext cx="85000" cy="2800000"/>
          </a:xfrm>
          <a:prstGeom prst="rect">
            <a:avLst/>
          </a:prstGeom>
          <a:solidFill>
            <a:srgbClr val="A9D18E"/>
          </a:solidFill>
          <a:ln w="9525">
            <a:solidFill>
              <a:srgbClr val="A9D18E"/>
            </a:solidFill>
          </a:ln>
        </p:spPr>
      </p:sp>
      <p:sp>
        <p:nvSpPr>
          <p:cNvPr id="9" name="Text 9"/>
          <p:cNvSpPr/>
          <p:nvPr/>
        </p:nvSpPr>
        <p:spPr>
          <a:xfrm>
            <a:off x="650000" y="985000"/>
            <a:ext cx="33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Task</a:t>
            </a:r>
          </a:p>
        </p:txBody>
      </p:sp>
      <p:sp>
        <p:nvSpPr>
          <p:cNvPr id="10" name="Text 10"/>
          <p:cNvSpPr/>
          <p:nvPr/>
        </p:nvSpPr>
        <p:spPr>
          <a:xfrm>
            <a:off x="670000" y="1215000"/>
            <a:ext cx="3260000" cy="24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08/08–12/08: ma trận năng lực × vùng kiến thức × kiểu tương tác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10/08–15/08: task ứng viên và bảng bao phủ tình huống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15/08–17/08: gửi HNMU xác nhận</a:t>
            </a:r>
          </a:p>
        </p:txBody>
      </p:sp>
      <p:sp>
        <p:nvSpPr>
          <p:cNvPr id="11" name="Rect 11"/>
          <p:cNvSpPr/>
          <p:nvPr/>
        </p:nvSpPr>
        <p:spPr>
          <a:xfrm>
            <a:off x="4350000" y="900000"/>
            <a:ext cx="3500000" cy="28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2" name="Rect 12"/>
          <p:cNvSpPr/>
          <p:nvPr/>
        </p:nvSpPr>
        <p:spPr>
          <a:xfrm>
            <a:off x="4350000" y="900000"/>
            <a:ext cx="85000" cy="2800000"/>
          </a:xfrm>
          <a:prstGeom prst="rect">
            <a:avLst/>
          </a:prstGeom>
          <a:solidFill>
            <a:srgbClr val="4472C4"/>
          </a:solidFill>
          <a:ln w="9525">
            <a:solidFill>
              <a:srgbClr val="4472C4"/>
            </a:solidFill>
          </a:ln>
        </p:spPr>
      </p:sp>
      <p:sp>
        <p:nvSpPr>
          <p:cNvPr id="13" name="Text 13"/>
          <p:cNvSpPr/>
          <p:nvPr/>
        </p:nvSpPr>
        <p:spPr>
          <a:xfrm>
            <a:off x="4480000" y="985000"/>
            <a:ext cx="33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Rubric + mã lỗi</a:t>
            </a:r>
          </a:p>
        </p:txBody>
      </p:sp>
      <p:sp>
        <p:nvSpPr>
          <p:cNvPr id="14" name="Text 14"/>
          <p:cNvSpPr/>
          <p:nvPr/>
        </p:nvSpPr>
        <p:spPr>
          <a:xfrm>
            <a:off x="4500000" y="1215000"/>
            <a:ext cx="3260000" cy="24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18/08–23/08: rubric, mã lỗi nghiêm trọng, quan hệ mã lỗi–rubric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24/08–26/08: gửi HNMU xác nhận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Gate này bắt buộc trước metadata/mẫu chính thức</a:t>
            </a:r>
          </a:p>
        </p:txBody>
      </p:sp>
      <p:sp>
        <p:nvSpPr>
          <p:cNvPr id="15" name="Rect 15"/>
          <p:cNvSpPr/>
          <p:nvPr/>
        </p:nvSpPr>
        <p:spPr>
          <a:xfrm>
            <a:off x="8170000" y="900000"/>
            <a:ext cx="3500000" cy="28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6" name="Rect 16"/>
          <p:cNvSpPr/>
          <p:nvPr/>
        </p:nvSpPr>
        <p:spPr>
          <a:xfrm>
            <a:off x="8170000" y="900000"/>
            <a:ext cx="85000" cy="2800000"/>
          </a:xfrm>
          <a:prstGeom prst="rect">
            <a:avLst/>
          </a:prstGeom>
          <a:solidFill>
            <a:srgbClr val="C55A11"/>
          </a:solidFill>
          <a:ln w="9525">
            <a:solidFill>
              <a:srgbClr val="C55A11"/>
            </a:solidFill>
          </a:ln>
        </p:spPr>
      </p:sp>
      <p:sp>
        <p:nvSpPr>
          <p:cNvPr id="17" name="Text 17"/>
          <p:cNvSpPr/>
          <p:nvPr/>
        </p:nvSpPr>
        <p:spPr>
          <a:xfrm>
            <a:off x="8300000" y="985000"/>
            <a:ext cx="33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Metadata + mẫu</a:t>
            </a:r>
          </a:p>
        </p:txBody>
      </p:sp>
      <p:sp>
        <p:nvSpPr>
          <p:cNvPr id="18" name="Text 18"/>
          <p:cNvSpPr/>
          <p:nvPr/>
        </p:nvSpPr>
        <p:spPr>
          <a:xfrm>
            <a:off x="8320000" y="1215000"/>
            <a:ext cx="3260000" cy="24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27/08–31/08: metadata tối thiểu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27/08–07/09: mẫu ví dụ bao phủ tình huống chính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04/09–07/09: QA coverage, mã học liệu, rubric, metadata</a:t>
            </a:r>
          </a:p>
        </p:txBody>
      </p:sp>
      <p:sp>
        <p:nvSpPr>
          <p:cNvPr id="19" name="Text 19"/>
          <p:cNvSpPr/>
          <p:nvPr/>
        </p:nvSpPr>
        <p:spPr>
          <a:xfrm>
            <a:off x="520000" y="435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430" b="1">
                <a:solidFill>
                  <a:srgbClr val="0B2341"/>
                </a:solidFill>
                <a:latin typeface="Aptos"/>
                <a:cs typeface="Aptos"/>
              </a:rPr>
              <a:t>Nguồn tạo mẫu: DB học liệu v0 + task/rubric/mã lỗi đã qua gate + ví dụ hội thoại 1-1 và bối cảnh sư phạm do HNMU cung cấp.</a:t>
            </a:r>
          </a:p>
        </p:txBody>
      </p:sp>
      <p:sp>
        <p:nvSpPr>
          <p:cNvPr id="20" name="Text 20"/>
          <p:cNvSpPr/>
          <p:nvPr/>
        </p:nvSpPr>
        <p:spPr>
          <a:xfrm>
            <a:off x="520000" y="6558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850">
                <a:solidFill>
                  <a:srgbClr val="7F7F7F"/>
                </a:solidFill>
                <a:latin typeface="Aptos"/>
                <a:cs typeface="Aptos"/>
              </a:rPr>
              <a:t>Kế hoạch benchmark gia sư LLM Tin học 9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4" name="Rect 4"/>
          <p:cNvSpPr/>
          <p:nvPr/>
        </p:nvSpPr>
        <p:spPr>
          <a:xfrm>
            <a:off x="0" y="485000"/>
            <a:ext cx="12192000" cy="55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5" name="Text 5"/>
          <p:cNvSpPr/>
          <p:nvPr/>
        </p:nvSpPr>
        <p:spPr>
          <a:xfrm>
            <a:off x="520000" y="100000"/>
            <a:ext cx="11152000" cy="285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2500" b="1">
                <a:solidFill>
                  <a:srgbClr val="FFFFFF"/>
                </a:solidFill>
                <a:latin typeface="Aptos"/>
                <a:cs typeface="Aptos"/>
              </a:rPr>
              <a:t>Nguồn lực và rủi ro chính</a:t>
            </a:r>
          </a:p>
        </p:txBody>
      </p:sp>
      <p:sp>
        <p:nvSpPr>
          <p:cNvPr id="6" name="Text 6"/>
          <p:cNvSpPr/>
          <p:nvPr/>
        </p:nvSpPr>
        <p:spPr>
          <a:xfrm>
            <a:off x="520000" y="392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00">
                <a:solidFill>
                  <a:srgbClr val="D9EAF7"/>
                </a:solidFill>
                <a:latin typeface="Aptos"/>
                <a:cs typeface="Aptos"/>
              </a:rPr>
              <a:t>Kế hoạch đã điều chỉnh theo effort của Quân/Nguyên và dependency HNMU</a:t>
            </a:r>
          </a:p>
        </p:txBody>
      </p:sp>
      <p:sp>
        <p:nvSpPr>
          <p:cNvPr id="7" name="Rect 7"/>
          <p:cNvSpPr/>
          <p:nvPr/>
        </p:nvSpPr>
        <p:spPr>
          <a:xfrm>
            <a:off x="520000" y="900000"/>
            <a:ext cx="5300000" cy="27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8" name="Rect 8"/>
          <p:cNvSpPr/>
          <p:nvPr/>
        </p:nvSpPr>
        <p:spPr>
          <a:xfrm>
            <a:off x="520000" y="900000"/>
            <a:ext cx="85000" cy="27000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Text 9"/>
          <p:cNvSpPr/>
          <p:nvPr/>
        </p:nvSpPr>
        <p:spPr>
          <a:xfrm>
            <a:off x="650000" y="985000"/>
            <a:ext cx="51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Nguồn lực</a:t>
            </a:r>
          </a:p>
        </p:txBody>
      </p:sp>
      <p:sp>
        <p:nvSpPr>
          <p:cNvPr id="10" name="Text 10"/>
          <p:cNvSpPr/>
          <p:nvPr/>
        </p:nvSpPr>
        <p:spPr>
          <a:xfrm>
            <a:off x="670000" y="1215000"/>
            <a:ext cx="5060000" cy="23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Quân: tới đầu tháng 8 khoảng 2h/ngày trong tuần, 6h/ngày cuối tuần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Quân sau đầu tháng 8: trung bình 6h/ngày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Nguyên: tới 15/07 khoảng 2h/ngày; sau 15/07 khoảng 6h/ngày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HNMU: cần tham gia tại các gate sư phạm</a:t>
            </a:r>
          </a:p>
        </p:txBody>
      </p:sp>
      <p:sp>
        <p:nvSpPr>
          <p:cNvPr id="11" name="Rect 11"/>
          <p:cNvSpPr/>
          <p:nvPr/>
        </p:nvSpPr>
        <p:spPr>
          <a:xfrm>
            <a:off x="6400000" y="900000"/>
            <a:ext cx="5250000" cy="270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2" name="Rect 12"/>
          <p:cNvSpPr/>
          <p:nvPr/>
        </p:nvSpPr>
        <p:spPr>
          <a:xfrm>
            <a:off x="6400000" y="900000"/>
            <a:ext cx="85000" cy="27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</p:spPr>
      </p:sp>
      <p:sp>
        <p:nvSpPr>
          <p:cNvPr id="13" name="Text 13"/>
          <p:cNvSpPr/>
          <p:nvPr/>
        </p:nvSpPr>
        <p:spPr>
          <a:xfrm>
            <a:off x="6530000" y="985000"/>
            <a:ext cx="507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Rủi ro và cách giảm</a:t>
            </a:r>
          </a:p>
        </p:txBody>
      </p:sp>
      <p:sp>
        <p:nvSpPr>
          <p:cNvPr id="14" name="Text 14"/>
          <p:cNvSpPr/>
          <p:nvPr/>
        </p:nvSpPr>
        <p:spPr>
          <a:xfrm>
            <a:off x="6550000" y="1215000"/>
            <a:ext cx="5010000" cy="23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Literature review lan quá rộng → khóa scope và ưu tiên nguồn lõi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OCR/học liệu ảnh chậm → thử sớm, QA rõ phần dùng được/chưa dùng được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HNMU review chậm → đánh dấu pending, không gọi chính thức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Task/rubric bị suy cảm tính → bắt buộc đi qua framework + DB học liệu</a:t>
            </a:r>
          </a:p>
        </p:txBody>
      </p:sp>
      <p:sp>
        <p:nvSpPr>
          <p:cNvPr id="15" name="Text 15"/>
          <p:cNvSpPr/>
          <p:nvPr/>
        </p:nvSpPr>
        <p:spPr>
          <a:xfrm>
            <a:off x="520000" y="425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Điểm kiểm soát quan trọng nhất: không để tiến độ “đẹp” hơn độ chắc của căn cứ nghiên cứu và căn cứ sư phạm.</a:t>
            </a:r>
          </a:p>
        </p:txBody>
      </p:sp>
      <p:sp>
        <p:nvSpPr>
          <p:cNvPr id="16" name="Text 16"/>
          <p:cNvSpPr/>
          <p:nvPr/>
        </p:nvSpPr>
        <p:spPr>
          <a:xfrm>
            <a:off x="520000" y="6558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850">
                <a:solidFill>
                  <a:srgbClr val="7F7F7F"/>
                </a:solidFill>
                <a:latin typeface="Aptos"/>
                <a:cs typeface="Aptos"/>
              </a:rPr>
              <a:t>Kế hoạch benchmark gia sư LLM Tin học 9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B2341"/>
          </a:solidFill>
          <a:ln w="9525">
            <a:solidFill>
              <a:srgbClr val="0B2341"/>
            </a:solidFill>
          </a:ln>
        </p:spPr>
      </p:sp>
      <p:sp>
        <p:nvSpPr>
          <p:cNvPr id="4" name="Rect 4"/>
          <p:cNvSpPr/>
          <p:nvPr/>
        </p:nvSpPr>
        <p:spPr>
          <a:xfrm>
            <a:off x="0" y="485000"/>
            <a:ext cx="12192000" cy="550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</a:ln>
        </p:spPr>
      </p:sp>
      <p:sp>
        <p:nvSpPr>
          <p:cNvPr id="5" name="Text 5"/>
          <p:cNvSpPr/>
          <p:nvPr/>
        </p:nvSpPr>
        <p:spPr>
          <a:xfrm>
            <a:off x="520000" y="100000"/>
            <a:ext cx="11152000" cy="285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2500" b="1">
                <a:solidFill>
                  <a:srgbClr val="FFFFFF"/>
                </a:solidFill>
                <a:latin typeface="Aptos"/>
                <a:cs typeface="Aptos"/>
              </a:rPr>
              <a:t>Những điểm cần xin ý kiến giáo sư</a:t>
            </a:r>
          </a:p>
        </p:txBody>
      </p:sp>
      <p:sp>
        <p:nvSpPr>
          <p:cNvPr id="6" name="Text 6"/>
          <p:cNvSpPr/>
          <p:nvPr/>
        </p:nvSpPr>
        <p:spPr>
          <a:xfrm>
            <a:off x="520000" y="392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000">
                <a:solidFill>
                  <a:srgbClr val="D9EAF7"/>
                </a:solidFill>
                <a:latin typeface="Aptos"/>
                <a:cs typeface="Aptos"/>
              </a:rPr>
              <a:t>Mục tiêu buổi họp: chốt hướng và giảm rủi ro trước khi vào tháng 7</a:t>
            </a:r>
          </a:p>
        </p:txBody>
      </p:sp>
      <p:sp>
        <p:nvSpPr>
          <p:cNvPr id="7" name="Rect 7"/>
          <p:cNvSpPr/>
          <p:nvPr/>
        </p:nvSpPr>
        <p:spPr>
          <a:xfrm>
            <a:off x="520000" y="900000"/>
            <a:ext cx="5300000" cy="18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8" name="Rect 8"/>
          <p:cNvSpPr/>
          <p:nvPr/>
        </p:nvSpPr>
        <p:spPr>
          <a:xfrm>
            <a:off x="520000" y="900000"/>
            <a:ext cx="85000" cy="1850000"/>
          </a:xfrm>
          <a:prstGeom prst="rect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</p:sp>
      <p:sp>
        <p:nvSpPr>
          <p:cNvPr id="9" name="Text 9"/>
          <p:cNvSpPr/>
          <p:nvPr/>
        </p:nvSpPr>
        <p:spPr>
          <a:xfrm>
            <a:off x="650000" y="985000"/>
            <a:ext cx="51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1. Phase 1 — literature review</a:t>
            </a:r>
          </a:p>
        </p:txBody>
      </p:sp>
      <p:sp>
        <p:nvSpPr>
          <p:cNvPr id="10" name="Text 10"/>
          <p:cNvSpPr/>
          <p:nvPr/>
        </p:nvSpPr>
        <p:spPr>
          <a:xfrm>
            <a:off x="670000" y="1215000"/>
            <a:ext cx="5060000" cy="14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Đồng ý gọi đây là framework v0 có kiểm soát?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Mức 15–25 nguồn lõi có phù hợp với deadline 15/07?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Có nguồn/ngách nào giáo sư muốn bắt buộc đưa vào?</a:t>
            </a:r>
          </a:p>
        </p:txBody>
      </p:sp>
      <p:sp>
        <p:nvSpPr>
          <p:cNvPr id="11" name="Rect 11"/>
          <p:cNvSpPr/>
          <p:nvPr/>
        </p:nvSpPr>
        <p:spPr>
          <a:xfrm>
            <a:off x="6400000" y="900000"/>
            <a:ext cx="5250000" cy="18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2" name="Rect 12"/>
          <p:cNvSpPr/>
          <p:nvPr/>
        </p:nvSpPr>
        <p:spPr>
          <a:xfrm>
            <a:off x="6400000" y="900000"/>
            <a:ext cx="85000" cy="1850000"/>
          </a:xfrm>
          <a:prstGeom prst="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</p:sp>
      <p:sp>
        <p:nvSpPr>
          <p:cNvPr id="13" name="Text 13"/>
          <p:cNvSpPr/>
          <p:nvPr/>
        </p:nvSpPr>
        <p:spPr>
          <a:xfrm>
            <a:off x="6530000" y="985000"/>
            <a:ext cx="507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2. Phase 2 — DB học liệu</a:t>
            </a:r>
          </a:p>
        </p:txBody>
      </p:sp>
      <p:sp>
        <p:nvSpPr>
          <p:cNvPr id="14" name="Text 14"/>
          <p:cNvSpPr/>
          <p:nvPr/>
        </p:nvSpPr>
        <p:spPr>
          <a:xfrm>
            <a:off x="6550000" y="1215000"/>
            <a:ext cx="5010000" cy="14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Đồng ý coi DB học liệu là dependency trước task/rubric?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Mốc 23/07 technical lookup và 07/08 DB v0 có hợp lý?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HNMU nên review mapping sư phạm ở mức nào trước khi UET dùng?</a:t>
            </a:r>
          </a:p>
        </p:txBody>
      </p:sp>
      <p:sp>
        <p:nvSpPr>
          <p:cNvPr id="15" name="Rect 15"/>
          <p:cNvSpPr/>
          <p:nvPr/>
        </p:nvSpPr>
        <p:spPr>
          <a:xfrm>
            <a:off x="520000" y="3200000"/>
            <a:ext cx="5300000" cy="18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16" name="Rect 16"/>
          <p:cNvSpPr/>
          <p:nvPr/>
        </p:nvSpPr>
        <p:spPr>
          <a:xfrm>
            <a:off x="520000" y="3200000"/>
            <a:ext cx="85000" cy="185000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</a:ln>
        </p:spPr>
      </p:sp>
      <p:sp>
        <p:nvSpPr>
          <p:cNvPr id="17" name="Text 17"/>
          <p:cNvSpPr/>
          <p:nvPr/>
        </p:nvSpPr>
        <p:spPr>
          <a:xfrm>
            <a:off x="650000" y="3285000"/>
            <a:ext cx="512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3. Gate HNMU</a:t>
            </a:r>
          </a:p>
        </p:txBody>
      </p:sp>
      <p:sp>
        <p:nvSpPr>
          <p:cNvPr id="18" name="Text 18"/>
          <p:cNvSpPr/>
          <p:nvPr/>
        </p:nvSpPr>
        <p:spPr>
          <a:xfrm>
            <a:off x="670000" y="3515000"/>
            <a:ext cx="5060000" cy="14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Chốt quy trình xác nhận task ứng viên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Chốt quy trình xác nhận rubric/mã lỗi trước metadata/mẫu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Xác nhận HNMU sẽ cung cấp ví dụ hội thoại/bối cảnh sư phạm</a:t>
            </a:r>
          </a:p>
        </p:txBody>
      </p:sp>
      <p:sp>
        <p:nvSpPr>
          <p:cNvPr id="19" name="Rect 19"/>
          <p:cNvSpPr/>
          <p:nvPr/>
        </p:nvSpPr>
        <p:spPr>
          <a:xfrm>
            <a:off x="6400000" y="3200000"/>
            <a:ext cx="5250000" cy="1850000"/>
          </a:xfrm>
          <a:prstGeom prst="roundRect">
            <a:avLst/>
          </a:prstGeom>
          <a:solidFill>
            <a:srgbClr val="F8FBFD"/>
          </a:solidFill>
          <a:ln w="9525">
            <a:solidFill>
              <a:srgbClr val="D9E2F3"/>
            </a:solidFill>
          </a:ln>
        </p:spPr>
      </p:sp>
      <p:sp>
        <p:nvSpPr>
          <p:cNvPr id="20" name="Rect 20"/>
          <p:cNvSpPr/>
          <p:nvPr/>
        </p:nvSpPr>
        <p:spPr>
          <a:xfrm>
            <a:off x="6400000" y="3200000"/>
            <a:ext cx="85000" cy="18500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21" name="Text 21"/>
          <p:cNvSpPr/>
          <p:nvPr/>
        </p:nvSpPr>
        <p:spPr>
          <a:xfrm>
            <a:off x="6530000" y="3285000"/>
            <a:ext cx="507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550" b="1">
                <a:solidFill>
                  <a:srgbClr val="0B2341"/>
                </a:solidFill>
                <a:latin typeface="Aptos"/>
                <a:cs typeface="Aptos"/>
              </a:rPr>
              <a:t>4. Kỳ vọng bản v0</a:t>
            </a:r>
          </a:p>
        </p:txBody>
      </p:sp>
      <p:sp>
        <p:nvSpPr>
          <p:cNvPr id="22" name="Text 22"/>
          <p:cNvSpPr/>
          <p:nvPr/>
        </p:nvSpPr>
        <p:spPr>
          <a:xfrm>
            <a:off x="6550000" y="3515000"/>
            <a:ext cx="5010000" cy="149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Đến 10/09: gói thẩm định benchmark v0, chưa gọi là dataset chính thức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Mẫu ví dụ bao phủ tình huống chính; gap còn lại được ghi rõ</a:t>
            </a:r>
          </a:p>
          <a:p>
            <a:pPr algn="l"/>
            <a:r>
              <a:rPr lang="vi-VN" sz="1120">
                <a:solidFill>
                  <a:srgbClr val="404040"/>
                </a:solidFill>
                <a:latin typeface="Aptos"/>
                <a:cs typeface="Aptos"/>
              </a:rPr>
              <a:t>• F01 chỉ là tài liệu lịch sử/đối chiếu</a:t>
            </a:r>
          </a:p>
        </p:txBody>
      </p:sp>
      <p:sp>
        <p:nvSpPr>
          <p:cNvPr id="23" name="Text 23"/>
          <p:cNvSpPr/>
          <p:nvPr/>
        </p:nvSpPr>
        <p:spPr>
          <a:xfrm>
            <a:off x="520000" y="6558000"/>
            <a:ext cx="11152000" cy="140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50000" bIns="50000"/>
          <a:lstStyle/>
          <a:p>
            <a:pPr algn="l"/>
            <a:r>
              <a:rPr lang="vi-VN" sz="850">
                <a:solidFill>
                  <a:srgbClr val="7F7F7F"/>
                </a:solidFill>
                <a:latin typeface="Aptos"/>
                <a:cs typeface="Aptos"/>
              </a:rPr>
              <a:t>Kế hoạch benchmark gia sư LLM Tin học 9  •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24</ns0:TotalTime>
  <ns0:Words>0</ns0:Words>
  <ns0:Application>Microsoft Office PowerPoint</ns0:Application>
  <ns0:PresentationFormat>Widescreen</ns0:PresentationFormat>
  <ns0:Paragraphs>0</ns0:Paragraphs>
  <ns0:Slides>11</ns0:Slides>
  <ns0:Notes>0</ns0:Notes>
  <ns0:HiddenSlides>11</ns0:HiddenSlides>
  <ns0:MMClips>0</ns0:MMClips>
  <ns0:ScaleCrop>false</ns0:ScaleCrop>
  <ns0:HeadingPairs>
    <ns1:vector size="6" baseType="variant">
      <ns1:variant>
        <ns1:lpstr>Fonts Used</ns1:lpstr>
      </ns1:variant>
      <ns1:variant>
        <ns1:i4>3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2</ns1:i4>
      </ns1:variant>
    </ns1:vector>
  </ns0:HeadingPairs>
  <ns0:TitlesOfParts>
    <ns1:vector size="6" baseType="lpstr">
      <ns1:lpstr>Arial</ns1:lpstr>
      <ns1:lpstr>Calibri</ns1:lpstr>
      <ns1:lpstr>Calibri Light</ns1:lpstr>
      <ns1:lpstr>Office Theme</ns1:lpstr>
      <ns1:lpstr>PowerPoint Presentation</ns1:lpstr>
      <ns1:lpstr>PowerPoint Presentation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 hoạch benchmark gia sư LLM Tin học 9 — v3</dc:title>
  <dc:creator>Codex</dc:creator>
  <cp:lastModifiedBy>Codex</cp:lastModifiedBy>
  <dcterms:created xsi:type="dcterms:W3CDTF">2026-06-30T14:22:19Z</dcterms:created>
  <dcterms:modified xsi:type="dcterms:W3CDTF">2026-06-30T14:22:19Z</dcterms:modified>
</cp:coreProperties>
</file>