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type="screen16x9"/>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solidFill>
            <a:srgbClr val="123A5D"/>
          </a:solidFill>
          <a:ln>
            <a:noFill/>
          </a:ln>
          <a:prstGeom prst="rect">
            <a:avLst/>
          </a:prstGeom>
        </p:spPr>
        <p:txBody>
          <a:bodyPr/>
          <a:lstStyle/>
          <a:p/>
        </p:txBody>
      </p:sp>
      <p:sp>
        <p:nvSpPr>
          <p:cNvPr id="3" name="Shape 3"/>
          <p:cNvSpPr/>
          <p:nvPr/>
        </p:nvSpPr>
        <p:spPr>
          <a:xfrm>
            <a:off x="502920" y="502920"/>
            <a:ext cx="11155680" cy="5806440"/>
          </a:xfrm>
          <a:solidFill>
            <a:srgbClr val="FFFFFF"/>
          </a:solidFill>
          <a:ln w="9525">
            <a:solidFill>
              <a:srgbClr val="FFFFFF"/>
            </a:solidFill>
          </a:ln>
          <a:prstGeom prst="roundRect">
            <a:avLst/>
          </a:prstGeom>
        </p:spPr>
        <p:txBody>
          <a:bodyPr/>
          <a:lstStyle/>
          <a:p/>
        </p:txBody>
      </p:sp>
      <p:sp>
        <p:nvSpPr>
          <p:cNvPr id="4" name="TextBox 4"/>
          <p:cNvSpPr txBox="1"/>
          <p:nvPr/>
        </p:nvSpPr>
        <p:spPr>
          <a:xfrm>
            <a:off x="914400" y="1051560"/>
            <a:ext cx="10287000" cy="1417320"/>
          </a:xfrm>
          <a:noFill/>
          <a:ln>
            <a:noFill/>
          </a:ln>
          <a:prstGeom prst="rect">
            <a:avLst/>
          </a:prstGeom>
        </p:spPr>
        <p:txBody>
          <a:bodyPr wrap="square" lIns="18288" tIns="18288" rIns="18288" bIns="18288" anchor="t"/>
          <a:lstStyle/>
          <a:p>
            <a:pPr algn="l">
              <a:buNone/>
              <a:lnSpc>
                <a:spcPct val="115000"/>
              </a:lnSpc>
            </a:pPr>
            <a:r>
              <a:rPr lang="vi-VN" sz="3400" b="1">
                <a:solidFill>
                  <a:srgbClr val="123A5D"/>
                </a:solidFill>
                <a:latin typeface="Arial"/>
                <a:cs typeface="Arial"/>
              </a:rPr>
              <a:t>Cập nhật thiết kế bộ đánh giá gia sư AI môn Tin học 9</a:t>
            </a:r>
          </a:p>
          <a:p>
            <a:pPr algn="l">
              <a:buNone/>
              <a:lnSpc>
                <a:spcPct val="115000"/>
              </a:lnSpc>
            </a:pPr>
            <a:r>
              <a:rPr lang="vi-VN" sz="2000">
                <a:solidFill>
                  <a:srgbClr val="5F6B7A"/>
                </a:solidFill>
                <a:latin typeface="Arial"/>
                <a:cs typeface="Arial"/>
              </a:rPr>
              <a:t>Tổng hợp tiến độ hiện tại và các bước sắp tới</a:t>
            </a:r>
          </a:p>
        </p:txBody>
      </p:sp>
      <p:sp>
        <p:nvSpPr>
          <p:cNvPr id="5" name="TextBox 5"/>
          <p:cNvSpPr txBox="1"/>
          <p:nvPr/>
        </p:nvSpPr>
        <p:spPr>
          <a:xfrm>
            <a:off x="914400" y="3108960"/>
            <a:ext cx="9875520" cy="1097280"/>
          </a:xfrm>
          <a:solidFill>
            <a:srgbClr val="EAF4FF"/>
          </a:solidFill>
          <a:ln w="9525">
            <a:solidFill>
              <a:srgbClr val="CFE8FF"/>
            </a:solidFill>
          </a:ln>
          <a:prstGeom prst="roundRect">
            <a:avLst/>
          </a:prstGeom>
        </p:spPr>
        <p:txBody>
          <a:bodyPr wrap="square" lIns="164592" tIns="164592" rIns="164592" bIns="164592" anchor="mid"/>
          <a:lstStyle/>
          <a:p>
            <a:pPr algn="l">
              <a:buNone/>
              <a:lnSpc>
                <a:spcPct val="115000"/>
              </a:lnSpc>
            </a:pPr>
            <a:r>
              <a:rPr lang="vi-VN" sz="2000" b="1">
                <a:solidFill>
                  <a:srgbClr val="17202A"/>
                </a:solidFill>
                <a:latin typeface="Arial"/>
                <a:cs typeface="Arial"/>
              </a:rPr>
              <a:t>Cuộc họp với giáo sư và thầy cô HNMU</a:t>
            </a:r>
          </a:p>
          <a:p>
            <a:pPr algn="l">
              <a:buNone/>
              <a:lnSpc>
                <a:spcPct val="115000"/>
              </a:lnSpc>
            </a:pPr>
            <a:r>
              <a:rPr lang="vi-VN" sz="1800">
                <a:solidFill>
                  <a:srgbClr val="5F6B7A"/>
                </a:solidFill>
                <a:latin typeface="Arial"/>
                <a:cs typeface="Arial"/>
              </a:rPr>
              <a:t>Ngày 06/07/2026</a:t>
            </a:r>
          </a:p>
        </p:txBody>
      </p:sp>
      <p:sp>
        <p:nvSpPr>
          <p:cNvPr id="6" name="TextBox 6"/>
          <p:cNvSpPr txBox="1"/>
          <p:nvPr/>
        </p:nvSpPr>
        <p:spPr>
          <a:xfrm>
            <a:off x="914400" y="5212080"/>
            <a:ext cx="9875520" cy="411480"/>
          </a:xfrm>
          <a:noFill/>
          <a:ln>
            <a:noFill/>
          </a:ln>
          <a:prstGeom prst="rect">
            <a:avLst/>
          </a:prstGeom>
        </p:spPr>
        <p:txBody>
          <a:bodyPr wrap="square" lIns="18288" tIns="18288" rIns="18288" bIns="18288" anchor="t"/>
          <a:lstStyle/>
          <a:p>
            <a:pPr algn="l">
              <a:buNone/>
              <a:lnSpc>
                <a:spcPct val="115000"/>
              </a:lnSpc>
            </a:pPr>
            <a:r>
              <a:rPr lang="vi-VN" sz="1600" b="1">
                <a:solidFill>
                  <a:srgbClr val="123A5D"/>
                </a:solidFill>
                <a:latin typeface="Arial"/>
                <a:cs typeface="Arial"/>
              </a:rPr>
              <a:t>Trọng tâm: từ nền nghiên cứu và học liệu → khung nhiệm vụ, tiêu chí chấm, ma trận bao phủ → ví dụ cho giáo viên tạo dữ liệu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
          <p:cNvSpPr/>
          <p:nvPr/>
        </p:nvSpPr>
        <p:spPr>
          <a:xfrm>
            <a:off x="0" y="0"/>
            <a:ext cx="12192000" cy="6858000"/>
          </a:xfrm>
          <a:solidFill>
            <a:srgbClr val="F7FAFC"/>
          </a:solidFill>
          <a:ln>
            <a:noFill/>
          </a:ln>
          <a:prstGeom prst="rect">
            <a:avLst/>
          </a:prstGeom>
        </p:spPr>
        <p:txBody>
          <a:bodyPr/>
          <a:lstStyle/>
          <a:p/>
        </p:txBody>
      </p:sp>
      <p:sp>
        <p:nvSpPr>
          <p:cNvPr id="8" name="Shape 8"/>
          <p:cNvSpPr/>
          <p:nvPr/>
        </p:nvSpPr>
        <p:spPr>
          <a:xfrm>
            <a:off x="0" y="0"/>
            <a:ext cx="12192000" cy="502920"/>
          </a:xfrm>
          <a:solidFill>
            <a:srgbClr val="123A5D"/>
          </a:solidFill>
          <a:ln>
            <a:noFill/>
          </a:ln>
          <a:prstGeom prst="rect">
            <a:avLst/>
          </a:prstGeom>
        </p:spPr>
        <p:txBody>
          <a:bodyPr/>
          <a:lstStyle/>
          <a:p/>
        </p:txBody>
      </p:sp>
      <p:sp>
        <p:nvSpPr>
          <p:cNvPr id="9" name="TextBox 9"/>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Mục tiêu của đợt thiết kế hiện tại</a:t>
            </a:r>
          </a:p>
        </p:txBody>
      </p:sp>
      <p:sp>
        <p:nvSpPr>
          <p:cNvPr id="10" name="TextBox 10"/>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Tổng quan</a:t>
            </a:r>
          </a:p>
        </p:txBody>
      </p:sp>
      <p:sp>
        <p:nvSpPr>
          <p:cNvPr id="11" name="TextBox 11"/>
          <p:cNvSpPr txBox="1"/>
          <p:nvPr/>
        </p:nvSpPr>
        <p:spPr>
          <a:xfrm>
            <a:off x="685800" y="1325880"/>
            <a:ext cx="3429000" cy="3474720"/>
          </a:xfrm>
          <a:solidFill>
            <a:srgbClr val="FFFFFF"/>
          </a:solidFill>
          <a:ln w="9525">
            <a:solidFill>
              <a:srgbClr val="DDE7F0"/>
            </a:solidFill>
          </a:ln>
          <a:prstGeom prst="roundRect">
            <a:avLst/>
          </a:prstGeom>
        </p:spPr>
        <p:txBody>
          <a:bodyPr wrap="square" lIns="164592" tIns="164592" rIns="164592" bIns="164592" anchor="t"/>
          <a:lstStyle/>
          <a:p>
            <a:pPr algn="l">
              <a:buNone/>
              <a:lnSpc>
                <a:spcPct val="115000"/>
              </a:lnSpc>
            </a:pPr>
            <a:r>
              <a:rPr lang="vi-VN" sz="2000" b="1">
                <a:solidFill>
                  <a:srgbClr val="123A5D"/>
                </a:solidFill>
                <a:latin typeface="Arial"/>
                <a:cs typeface="Arial"/>
              </a:rPr>
              <a:t>Đánh giá “dạy tốt”, không chỉ “trả lời đúng”</a:t>
            </a:r>
          </a:p>
          <a:p>
            <a:pPr algn="l">
              <a:buNone/>
              <a:lnSpc>
                <a:spcPct val="115000"/>
              </a:lnSpc>
            </a:pPr>
            <a:r>
              <a:rPr lang="vi-VN" sz="1600">
                <a:solidFill>
                  <a:srgbClr val="17202A"/>
                </a:solidFill>
                <a:latin typeface="Arial"/>
                <a:cs typeface="Arial"/>
              </a:rPr>
              <a:t>Gia sư AI cần được xem ở cách hiểu học sinh, phản hồi, gợi ý, và giữ đúng mục tiêu học tập.</a:t>
            </a:r>
          </a:p>
        </p:txBody>
      </p:sp>
      <p:sp>
        <p:nvSpPr>
          <p:cNvPr id="12" name="TextBox 12"/>
          <p:cNvSpPr txBox="1"/>
          <p:nvPr/>
        </p:nvSpPr>
        <p:spPr>
          <a:xfrm>
            <a:off x="4480560" y="1325880"/>
            <a:ext cx="3429000" cy="3474720"/>
          </a:xfrm>
          <a:solidFill>
            <a:srgbClr val="FFFFFF"/>
          </a:solidFill>
          <a:ln w="9525">
            <a:solidFill>
              <a:srgbClr val="DDE7F0"/>
            </a:solidFill>
          </a:ln>
          <a:prstGeom prst="roundRect">
            <a:avLst/>
          </a:prstGeom>
        </p:spPr>
        <p:txBody>
          <a:bodyPr wrap="square" lIns="164592" tIns="164592" rIns="164592" bIns="164592" anchor="t"/>
          <a:lstStyle/>
          <a:p>
            <a:pPr algn="l">
              <a:buNone/>
              <a:lnSpc>
                <a:spcPct val="115000"/>
              </a:lnSpc>
            </a:pPr>
            <a:r>
              <a:rPr lang="vi-VN" sz="2000" b="1">
                <a:solidFill>
                  <a:srgbClr val="123A5D"/>
                </a:solidFill>
                <a:latin typeface="Arial"/>
                <a:cs typeface="Arial"/>
              </a:rPr>
              <a:t>Bó hẹp phạm vi để làm chắc</a:t>
            </a:r>
          </a:p>
          <a:p>
            <a:pPr algn="l">
              <a:buNone/>
              <a:lnSpc>
                <a:spcPct val="115000"/>
              </a:lnSpc>
            </a:pPr>
            <a:r>
              <a:rPr lang="vi-VN" sz="1600">
                <a:solidFill>
                  <a:srgbClr val="17202A"/>
                </a:solidFill>
                <a:latin typeface="Arial"/>
                <a:cs typeface="Arial"/>
              </a:rPr>
              <a:t>Phiên bản đầu tập trung vào môn Tin học lớp 9, lấy SGK Tin học 9 làm học liệu chủ đạo.</a:t>
            </a:r>
          </a:p>
        </p:txBody>
      </p:sp>
      <p:sp>
        <p:nvSpPr>
          <p:cNvPr id="13" name="TextBox 13"/>
          <p:cNvSpPr txBox="1"/>
          <p:nvPr/>
        </p:nvSpPr>
        <p:spPr>
          <a:xfrm>
            <a:off x="8275320" y="1325880"/>
            <a:ext cx="3429000" cy="3474720"/>
          </a:xfrm>
          <a:solidFill>
            <a:srgbClr val="FFFFFF"/>
          </a:solidFill>
          <a:ln w="9525">
            <a:solidFill>
              <a:srgbClr val="DDE7F0"/>
            </a:solidFill>
          </a:ln>
          <a:prstGeom prst="roundRect">
            <a:avLst/>
          </a:prstGeom>
        </p:spPr>
        <p:txBody>
          <a:bodyPr wrap="square" lIns="164592" tIns="164592" rIns="164592" bIns="164592" anchor="t"/>
          <a:lstStyle/>
          <a:p>
            <a:pPr algn="l">
              <a:buNone/>
              <a:lnSpc>
                <a:spcPct val="115000"/>
              </a:lnSpc>
            </a:pPr>
            <a:r>
              <a:rPr lang="vi-VN" sz="2000" b="1">
                <a:solidFill>
                  <a:srgbClr val="123A5D"/>
                </a:solidFill>
                <a:latin typeface="Arial"/>
                <a:cs typeface="Arial"/>
              </a:rPr>
              <a:t>Thiết kế để giáo viên tham gia được</a:t>
            </a:r>
          </a:p>
          <a:p>
            <a:pPr algn="l">
              <a:buNone/>
              <a:lnSpc>
                <a:spcPct val="115000"/>
              </a:lnSpc>
            </a:pPr>
            <a:r>
              <a:rPr lang="vi-VN" sz="1600">
                <a:solidFill>
                  <a:srgbClr val="17202A"/>
                </a:solidFill>
                <a:latin typeface="Arial"/>
                <a:cs typeface="Arial"/>
              </a:rPr>
              <a:t>Khung cần đủ rõ để thầy cô tạo mẫu, rà soát mẫu và góp ý mà không phải xử lý kỹ thuật.</a:t>
            </a:r>
          </a:p>
        </p:txBody>
      </p:sp>
      <p:sp>
        <p:nvSpPr>
          <p:cNvPr id="14" name="TextBox 14"/>
          <p:cNvSpPr txBox="1"/>
          <p:nvPr/>
        </p:nvSpPr>
        <p:spPr>
          <a:xfrm>
            <a:off x="731520" y="5303520"/>
            <a:ext cx="10698480" cy="594360"/>
          </a:xfrm>
          <a:solidFill>
            <a:srgbClr val="2E7D32"/>
          </a:solidFill>
          <a:ln w="9525">
            <a:solidFill>
              <a:srgbClr val="2E7D32"/>
            </a:solidFill>
          </a:ln>
          <a:prstGeom prst="roundRect">
            <a:avLst/>
          </a:prstGeom>
        </p:spPr>
        <p:txBody>
          <a:bodyPr wrap="square" lIns="109728" tIns="109728" rIns="109728" bIns="109728" anchor="mid"/>
          <a:lstStyle/>
          <a:p>
            <a:pPr algn="l">
              <a:buNone/>
              <a:lnSpc>
                <a:spcPct val="115000"/>
              </a:lnSpc>
            </a:pPr>
            <a:r>
              <a:rPr lang="vi-VN" sz="1700" b="1">
                <a:solidFill>
                  <a:srgbClr val="FFFFFF"/>
                </a:solidFill>
                <a:latin typeface="Arial"/>
                <a:cs typeface="Arial"/>
              </a:rPr>
              <a:t>Thông điệp chính: trước khi tạo nhiều dữ liệu, cần thống nhất “đang đánh giá năng lực gia sư nào” và “mẫu dữ liệu phải phủ những gì”.</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15"/>
          <p:cNvSpPr/>
          <p:nvPr/>
        </p:nvSpPr>
        <p:spPr>
          <a:xfrm>
            <a:off x="0" y="0"/>
            <a:ext cx="12192000" cy="6858000"/>
          </a:xfrm>
          <a:solidFill>
            <a:srgbClr val="F7FAFC"/>
          </a:solidFill>
          <a:ln>
            <a:noFill/>
          </a:ln>
          <a:prstGeom prst="rect">
            <a:avLst/>
          </a:prstGeom>
        </p:spPr>
        <p:txBody>
          <a:bodyPr/>
          <a:lstStyle/>
          <a:p/>
        </p:txBody>
      </p:sp>
      <p:sp>
        <p:nvSpPr>
          <p:cNvPr id="16" name="Shape 16"/>
          <p:cNvSpPr/>
          <p:nvPr/>
        </p:nvSpPr>
        <p:spPr>
          <a:xfrm>
            <a:off x="0" y="0"/>
            <a:ext cx="12192000" cy="502920"/>
          </a:xfrm>
          <a:solidFill>
            <a:srgbClr val="123A5D"/>
          </a:solidFill>
          <a:ln>
            <a:noFill/>
          </a:ln>
          <a:prstGeom prst="rect">
            <a:avLst/>
          </a:prstGeom>
        </p:spPr>
        <p:txBody>
          <a:bodyPr/>
          <a:lstStyle/>
          <a:p/>
        </p:txBody>
      </p:sp>
      <p:sp>
        <p:nvSpPr>
          <p:cNvPr id="17" name="TextBox 17"/>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Giai đoạn nền học liệu và sư phạm</a:t>
            </a:r>
          </a:p>
        </p:txBody>
      </p:sp>
      <p:sp>
        <p:nvSpPr>
          <p:cNvPr id="18" name="TextBox 18"/>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Đã làm</a:t>
            </a:r>
          </a:p>
        </p:txBody>
      </p:sp>
      <p:sp>
        <p:nvSpPr>
          <p:cNvPr id="19" name="TextBox 19"/>
          <p:cNvSpPr txBox="1"/>
          <p:nvPr/>
        </p:nvSpPr>
        <p:spPr>
          <a:xfrm>
            <a:off x="685800" y="1005840"/>
            <a:ext cx="5303520" cy="4206240"/>
          </a:xfrm>
          <a:solidFill>
            <a:srgbClr val="FFFFFF"/>
          </a:solidFill>
          <a:ln w="9525">
            <a:solidFill>
              <a:srgbClr val="DDE7F0"/>
            </a:solidFill>
          </a:ln>
          <a:prstGeom prst="roundRect">
            <a:avLst/>
          </a:prstGeom>
        </p:spPr>
        <p:txBody>
          <a:bodyPr wrap="square" lIns="164592" tIns="164592" rIns="164592" bIns="164592" anchor="t"/>
          <a:lstStyle/>
          <a:p>
            <a:pPr algn="l">
              <a:buNone/>
              <a:lnSpc>
                <a:spcPct val="115000"/>
              </a:lnSpc>
            </a:pPr>
            <a:r>
              <a:rPr lang="vi-VN" sz="2200" b="1">
                <a:solidFill>
                  <a:srgbClr val="123A5D"/>
                </a:solidFill>
                <a:latin typeface="Arial"/>
                <a:cs typeface="Arial"/>
              </a:rPr>
              <a:t>Học liệu chính</a:t>
            </a:r>
          </a:p>
          <a:p>
            <a:pPr algn="l" marL="342900" indent="-228600">
              <a:buChar char="•"/>
              <a:lnSpc>
                <a:spcPct val="115000"/>
              </a:lnSpc>
            </a:pPr>
            <a:r>
              <a:rPr lang="vi-VN" sz="1700">
                <a:solidFill>
                  <a:srgbClr val="17202A"/>
                </a:solidFill>
                <a:latin typeface="Arial"/>
                <a:cs typeface="Arial"/>
              </a:rPr>
              <a:t>SGK Tin học 9 trên hệ thống tập huấn của Nhà xuất bản Giáo dục Việt Nam.</a:t>
            </a:r>
          </a:p>
          <a:p>
            <a:pPr algn="l" marL="342900" indent="-228600">
              <a:buChar char="•"/>
              <a:lnSpc>
                <a:spcPct val="115000"/>
              </a:lnSpc>
            </a:pPr>
            <a:r>
              <a:rPr lang="vi-VN" sz="1700">
                <a:solidFill>
                  <a:srgbClr val="17202A"/>
                </a:solidFill>
                <a:latin typeface="Arial"/>
                <a:cs typeface="Arial"/>
              </a:rPr>
              <a:t>Tên chủ đề và bài học được lấy theo mục lục SGK Tin học 9.</a:t>
            </a:r>
          </a:p>
          <a:p>
            <a:pPr algn="l" marL="342900" indent="-228600">
              <a:buChar char="•"/>
              <a:lnSpc>
                <a:spcPct val="115000"/>
              </a:lnSpc>
            </a:pPr>
            <a:r>
              <a:rPr lang="vi-VN" sz="1700">
                <a:solidFill>
                  <a:srgbClr val="17202A"/>
                </a:solidFill>
                <a:latin typeface="Arial"/>
                <a:cs typeface="Arial"/>
              </a:rPr>
              <a:t>Cần thầy cô rà soát lại tên chủ đề/bài học trước khi dùng chính thức.</a:t>
            </a:r>
          </a:p>
        </p:txBody>
      </p:sp>
      <p:sp>
        <p:nvSpPr>
          <p:cNvPr id="20" name="TextBox 20"/>
          <p:cNvSpPr txBox="1"/>
          <p:nvPr/>
        </p:nvSpPr>
        <p:spPr>
          <a:xfrm>
            <a:off x="6263640" y="1005840"/>
            <a:ext cx="5120640" cy="4206240"/>
          </a:xfrm>
          <a:solidFill>
            <a:srgbClr val="FFFFFF"/>
          </a:solidFill>
          <a:ln w="9525">
            <a:solidFill>
              <a:srgbClr val="DDE7F0"/>
            </a:solidFill>
          </a:ln>
          <a:prstGeom prst="roundRect">
            <a:avLst/>
          </a:prstGeom>
        </p:spPr>
        <p:txBody>
          <a:bodyPr wrap="square" lIns="164592" tIns="164592" rIns="164592" bIns="164592" anchor="t"/>
          <a:lstStyle/>
          <a:p>
            <a:pPr algn="l">
              <a:buNone/>
              <a:lnSpc>
                <a:spcPct val="115000"/>
              </a:lnSpc>
            </a:pPr>
            <a:r>
              <a:rPr lang="vi-VN" sz="2200" b="1">
                <a:solidFill>
                  <a:srgbClr val="123A5D"/>
                </a:solidFill>
                <a:latin typeface="Arial"/>
                <a:cs typeface="Arial"/>
              </a:rPr>
              <a:t>Tài liệu HNMU đã đưa vào thiết kế</a:t>
            </a:r>
          </a:p>
          <a:p>
            <a:pPr algn="l" marL="342900" indent="-228600">
              <a:buChar char="•"/>
              <a:lnSpc>
                <a:spcPct val="115000"/>
              </a:lnSpc>
            </a:pPr>
            <a:r>
              <a:rPr lang="vi-VN" sz="1700">
                <a:solidFill>
                  <a:srgbClr val="17202A"/>
                </a:solidFill>
                <a:latin typeface="Arial"/>
                <a:cs typeface="Arial"/>
              </a:rPr>
              <a:t>Biểu hiện mức độ nhận thức Tin học.</a:t>
            </a:r>
          </a:p>
          <a:p>
            <a:pPr algn="l" marL="342900" indent="-228600">
              <a:buChar char="•"/>
              <a:lnSpc>
                <a:spcPct val="115000"/>
              </a:lnSpc>
            </a:pPr>
            <a:r>
              <a:rPr lang="vi-VN" sz="1700">
                <a:solidFill>
                  <a:srgbClr val="17202A"/>
                </a:solidFill>
                <a:latin typeface="Arial"/>
                <a:cs typeface="Arial"/>
              </a:rPr>
              <a:t>Khung Dàn giáo – Hội thoại minh họa.</a:t>
            </a:r>
          </a:p>
          <a:p>
            <a:pPr algn="l" marL="342900" indent="-228600">
              <a:buChar char="•"/>
              <a:lnSpc>
                <a:spcPct val="115000"/>
              </a:lnSpc>
            </a:pPr>
            <a:r>
              <a:rPr lang="vi-VN" sz="1700">
                <a:solidFill>
                  <a:srgbClr val="17202A"/>
                </a:solidFill>
                <a:latin typeface="Arial"/>
                <a:cs typeface="Arial"/>
              </a:rPr>
              <a:t>Tạm dùng ba mức nhận thức: Biết, Hiểu, Vận dụng.</a:t>
            </a:r>
          </a:p>
          <a:p>
            <a:pPr algn="l" marL="342900" indent="-228600">
              <a:buChar char="•"/>
              <a:lnSpc>
                <a:spcPct val="115000"/>
              </a:lnSpc>
            </a:pPr>
            <a:r>
              <a:rPr lang="vi-VN" sz="1700">
                <a:solidFill>
                  <a:srgbClr val="17202A"/>
                </a:solidFill>
                <a:latin typeface="Arial"/>
                <a:cs typeface="Arial"/>
              </a:rPr>
              <a:t>Phương pháp giàn giáo được dùng để giải thích chất lượng hỗ trợ của gia sư.</a:t>
            </a:r>
          </a:p>
        </p:txBody>
      </p:sp>
      <p:sp>
        <p:nvSpPr>
          <p:cNvPr id="21" name="TextBox 21"/>
          <p:cNvSpPr txBox="1"/>
          <p:nvPr/>
        </p:nvSpPr>
        <p:spPr>
          <a:xfrm>
            <a:off x="777240" y="5532120"/>
            <a:ext cx="10515600" cy="457200"/>
          </a:xfrm>
          <a:solidFill>
            <a:srgbClr val="EAF4FF"/>
          </a:solidFill>
          <a:ln w="9525">
            <a:solidFill>
              <a:srgbClr val="CFE8FF"/>
            </a:solidFill>
          </a:ln>
          <a:prstGeom prst="roundRect">
            <a:avLst/>
          </a:prstGeom>
        </p:spPr>
        <p:txBody>
          <a:bodyPr wrap="square" lIns="82296" tIns="82296" rIns="82296" bIns="82296" anchor="mid"/>
          <a:lstStyle/>
          <a:p>
            <a:pPr algn="l">
              <a:buNone/>
              <a:lnSpc>
                <a:spcPct val="115000"/>
              </a:lnSpc>
            </a:pPr>
            <a:r>
              <a:rPr lang="vi-VN" sz="1600" b="1">
                <a:solidFill>
                  <a:srgbClr val="123A5D"/>
                </a:solidFill>
                <a:latin typeface="Arial"/>
                <a:cs typeface="Arial"/>
              </a:rPr>
              <a:t>Kết quả: đã có nền học liệu đủ để bắt đầu thiết kế khung đánh giá, nhưng vẫn cần xác nhận chuyên môn từ HNMU.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22"/>
          <p:cNvSpPr/>
          <p:nvPr/>
        </p:nvSpPr>
        <p:spPr>
          <a:xfrm>
            <a:off x="0" y="0"/>
            <a:ext cx="12192000" cy="6858000"/>
          </a:xfrm>
          <a:solidFill>
            <a:srgbClr val="F7FAFC"/>
          </a:solidFill>
          <a:ln>
            <a:noFill/>
          </a:ln>
          <a:prstGeom prst="rect">
            <a:avLst/>
          </a:prstGeom>
        </p:spPr>
        <p:txBody>
          <a:bodyPr/>
          <a:lstStyle/>
          <a:p/>
        </p:txBody>
      </p:sp>
      <p:sp>
        <p:nvSpPr>
          <p:cNvPr id="23" name="Shape 23"/>
          <p:cNvSpPr/>
          <p:nvPr/>
        </p:nvSpPr>
        <p:spPr>
          <a:xfrm>
            <a:off x="0" y="0"/>
            <a:ext cx="12192000" cy="502920"/>
          </a:xfrm>
          <a:solidFill>
            <a:srgbClr val="123A5D"/>
          </a:solidFill>
          <a:ln>
            <a:noFill/>
          </a:ln>
          <a:prstGeom prst="rect">
            <a:avLst/>
          </a:prstGeom>
        </p:spPr>
        <p:txBody>
          <a:bodyPr/>
          <a:lstStyle/>
          <a:p/>
        </p:txBody>
      </p:sp>
      <p:sp>
        <p:nvSpPr>
          <p:cNvPr id="24" name="TextBox 24"/>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Giai đoạn tổng hợp nghiên cứu nền tảng</a:t>
            </a:r>
          </a:p>
        </p:txBody>
      </p:sp>
      <p:sp>
        <p:nvSpPr>
          <p:cNvPr id="25" name="TextBox 25"/>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Đã làm</a:t>
            </a:r>
          </a:p>
        </p:txBody>
      </p:sp>
      <p:sp>
        <p:nvSpPr>
          <p:cNvPr id="26" name="TextBox 26"/>
          <p:cNvSpPr txBox="1"/>
          <p:nvPr/>
        </p:nvSpPr>
        <p:spPr>
          <a:xfrm>
            <a:off x="777240" y="960120"/>
            <a:ext cx="10607040" cy="1005840"/>
          </a:xfrm>
          <a:solidFill>
            <a:srgbClr val="FFFFFF"/>
          </a:solidFill>
          <a:ln w="9525">
            <a:solidFill>
              <a:srgbClr val="DDE7F0"/>
            </a:solidFill>
          </a:ln>
          <a:prstGeom prst="roundRect">
            <a:avLst/>
          </a:prstGeom>
        </p:spPr>
        <p:txBody>
          <a:bodyPr wrap="square" lIns="128016" tIns="128016" rIns="128016" bIns="128016" anchor="mid"/>
          <a:lstStyle/>
          <a:p>
            <a:pPr algn="l">
              <a:buNone/>
              <a:lnSpc>
                <a:spcPct val="115000"/>
              </a:lnSpc>
            </a:pPr>
            <a:r>
              <a:rPr lang="vi-VN" sz="2000" b="1">
                <a:solidFill>
                  <a:srgbClr val="123A5D"/>
                </a:solidFill>
                <a:latin typeface="Arial"/>
                <a:cs typeface="Arial"/>
              </a:rPr>
              <a:t>MathTutorBench</a:t>
            </a:r>
          </a:p>
          <a:p>
            <a:pPr algn="l">
              <a:buNone/>
              <a:lnSpc>
                <a:spcPct val="115000"/>
              </a:lnSpc>
            </a:pPr>
            <a:r>
              <a:rPr lang="vi-VN" sz="1550">
                <a:solidFill>
                  <a:srgbClr val="17202A"/>
                </a:solidFill>
                <a:latin typeface="Arial"/>
                <a:cs typeface="Arial"/>
              </a:rPr>
              <a:t>Tách năng lực giải đúng khỏi năng lực dạy tốt; nhấn mạnh hiểu trạng thái học sinh, vị trí lỗi, sửa lỗi và giàn giáo.</a:t>
            </a:r>
          </a:p>
        </p:txBody>
      </p:sp>
      <p:sp>
        <p:nvSpPr>
          <p:cNvPr id="27" name="TextBox 27"/>
          <p:cNvSpPr txBox="1"/>
          <p:nvPr/>
        </p:nvSpPr>
        <p:spPr>
          <a:xfrm>
            <a:off x="777240" y="2286000"/>
            <a:ext cx="10607040" cy="1005840"/>
          </a:xfrm>
          <a:solidFill>
            <a:srgbClr val="FFFFFF"/>
          </a:solidFill>
          <a:ln w="9525">
            <a:solidFill>
              <a:srgbClr val="DDE7F0"/>
            </a:solidFill>
          </a:ln>
          <a:prstGeom prst="roundRect">
            <a:avLst/>
          </a:prstGeom>
        </p:spPr>
        <p:txBody>
          <a:bodyPr wrap="square" lIns="128016" tIns="128016" rIns="128016" bIns="128016" anchor="mid"/>
          <a:lstStyle/>
          <a:p>
            <a:pPr algn="l">
              <a:buNone/>
              <a:lnSpc>
                <a:spcPct val="115000"/>
              </a:lnSpc>
            </a:pPr>
            <a:r>
              <a:rPr lang="vi-VN" sz="2000" b="1">
                <a:solidFill>
                  <a:srgbClr val="123A5D"/>
                </a:solidFill>
                <a:latin typeface="Arial"/>
                <a:cs typeface="Arial"/>
              </a:rPr>
              <a:t>KMP-Bench</a:t>
            </a:r>
          </a:p>
          <a:p>
            <a:pPr algn="l">
              <a:buNone/>
              <a:lnSpc>
                <a:spcPct val="115000"/>
              </a:lnSpc>
            </a:pPr>
            <a:r>
              <a:rPr lang="vi-VN" sz="1550">
                <a:solidFill>
                  <a:srgbClr val="17202A"/>
                </a:solidFill>
                <a:latin typeface="Arial"/>
                <a:cs typeface="Arial"/>
              </a:rPr>
              <a:t>Nhấn mạnh quy trình từ lời giải sang phản hồi gia sư; coi xác minh của con người là bước quan trọng.</a:t>
            </a:r>
          </a:p>
        </p:txBody>
      </p:sp>
      <p:sp>
        <p:nvSpPr>
          <p:cNvPr id="28" name="TextBox 28"/>
          <p:cNvSpPr txBox="1"/>
          <p:nvPr/>
        </p:nvSpPr>
        <p:spPr>
          <a:xfrm>
            <a:off x="777240" y="3611880"/>
            <a:ext cx="10607040" cy="1005840"/>
          </a:xfrm>
          <a:solidFill>
            <a:srgbClr val="FFFFFF"/>
          </a:solidFill>
          <a:ln w="9525">
            <a:solidFill>
              <a:srgbClr val="DDE7F0"/>
            </a:solidFill>
          </a:ln>
          <a:prstGeom prst="roundRect">
            <a:avLst/>
          </a:prstGeom>
        </p:spPr>
        <p:txBody>
          <a:bodyPr wrap="square" lIns="128016" tIns="128016" rIns="128016" bIns="128016" anchor="mid"/>
          <a:lstStyle/>
          <a:p>
            <a:pPr algn="l">
              <a:buNone/>
              <a:lnSpc>
                <a:spcPct val="115000"/>
              </a:lnSpc>
            </a:pPr>
            <a:r>
              <a:rPr lang="vi-VN" sz="2000" b="1">
                <a:solidFill>
                  <a:srgbClr val="123A5D"/>
                </a:solidFill>
                <a:latin typeface="Arial"/>
                <a:cs typeface="Arial"/>
              </a:rPr>
              <a:t>TutorBench</a:t>
            </a:r>
          </a:p>
          <a:p>
            <a:pPr algn="l">
              <a:buNone/>
              <a:lnSpc>
                <a:spcPct val="115000"/>
              </a:lnSpc>
            </a:pPr>
            <a:r>
              <a:rPr lang="vi-VN" sz="1550">
                <a:solidFill>
                  <a:srgbClr val="17202A"/>
                </a:solidFill>
                <a:latin typeface="Arial"/>
                <a:cs typeface="Arial"/>
              </a:rPr>
              <a:t>Gợi ý ba hành vi gia sư lớn: giải thích thích ứng, phản hồi/đánh giá, hỗ trợ học tập chủ động.</a:t>
            </a:r>
          </a:p>
        </p:txBody>
      </p:sp>
      <p:sp>
        <p:nvSpPr>
          <p:cNvPr id="29" name="TextBox 29"/>
          <p:cNvSpPr txBox="1"/>
          <p:nvPr/>
        </p:nvSpPr>
        <p:spPr>
          <a:xfrm>
            <a:off x="777240" y="5166360"/>
            <a:ext cx="10607040" cy="731520"/>
          </a:xfrm>
          <a:solidFill>
            <a:srgbClr val="123A5D"/>
          </a:solidFill>
          <a:ln w="9525">
            <a:solidFill>
              <a:srgbClr val="123A5D"/>
            </a:solidFill>
          </a:ln>
          <a:prstGeom prst="roundRect">
            <a:avLst/>
          </a:prstGeom>
        </p:spPr>
        <p:txBody>
          <a:bodyPr wrap="square" lIns="109728" tIns="109728" rIns="109728" bIns="109728" anchor="mid"/>
          <a:lstStyle/>
          <a:p>
            <a:pPr algn="l">
              <a:buNone/>
              <a:lnSpc>
                <a:spcPct val="115000"/>
              </a:lnSpc>
            </a:pPr>
            <a:r>
              <a:rPr lang="vi-VN" sz="1600" b="1">
                <a:solidFill>
                  <a:srgbClr val="FFFFFF"/>
                </a:solidFill>
                <a:latin typeface="Arial"/>
                <a:cs typeface="Arial"/>
              </a:rPr>
              <a:t>Kết luận thiết kế: mức nhận thức nói “học sinh đang xử lý nội dung sâu đến đâu”; còn nhiệm vụ gia sư nói “gia sư phải làm gì trong lượt hội thoại”. Hai phần này cần tách riêng.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p:nvPr/>
        </p:nvSpPr>
        <p:spPr>
          <a:xfrm>
            <a:off x="0" y="0"/>
            <a:ext cx="12192000" cy="6858000"/>
          </a:xfrm>
          <a:solidFill>
            <a:srgbClr val="F7FAFC"/>
          </a:solidFill>
          <a:ln>
            <a:noFill/>
          </a:ln>
          <a:prstGeom prst="rect">
            <a:avLst/>
          </a:prstGeom>
        </p:spPr>
        <p:txBody>
          <a:bodyPr/>
          <a:lstStyle/>
          <a:p/>
        </p:txBody>
      </p:sp>
      <p:sp>
        <p:nvSpPr>
          <p:cNvPr id="31" name="Shape 31"/>
          <p:cNvSpPr/>
          <p:nvPr/>
        </p:nvSpPr>
        <p:spPr>
          <a:xfrm>
            <a:off x="0" y="0"/>
            <a:ext cx="12192000" cy="502920"/>
          </a:xfrm>
          <a:solidFill>
            <a:srgbClr val="123A5D"/>
          </a:solidFill>
          <a:ln>
            <a:noFill/>
          </a:ln>
          <a:prstGeom prst="rect">
            <a:avLst/>
          </a:prstGeom>
        </p:spPr>
        <p:txBody>
          <a:bodyPr/>
          <a:lstStyle/>
          <a:p/>
        </p:txBody>
      </p:sp>
      <p:sp>
        <p:nvSpPr>
          <p:cNvPr id="32" name="TextBox 32"/>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Giai đoạn xây dựng khung nhiệm vụ gia sư</a:t>
            </a:r>
          </a:p>
        </p:txBody>
      </p:sp>
      <p:sp>
        <p:nvSpPr>
          <p:cNvPr id="33" name="TextBox 33"/>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Đã làm</a:t>
            </a:r>
          </a:p>
        </p:txBody>
      </p:sp>
      <p:sp>
        <p:nvSpPr>
          <p:cNvPr id="34" name="TextBox 34"/>
          <p:cNvSpPr txBox="1"/>
          <p:nvPr/>
        </p:nvSpPr>
        <p:spPr>
          <a:xfrm>
            <a:off x="685800" y="1051560"/>
            <a:ext cx="5074920" cy="160020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Giải thích thích ứng</a:t>
            </a:r>
          </a:p>
          <a:p>
            <a:pPr algn="l">
              <a:buNone/>
              <a:lnSpc>
                <a:spcPct val="115000"/>
              </a:lnSpc>
            </a:pPr>
            <a:r>
              <a:rPr lang="vi-VN" sz="1530">
                <a:solidFill>
                  <a:srgbClr val="17202A"/>
                </a:solidFill>
                <a:latin typeface="Arial"/>
                <a:cs typeface="Arial"/>
              </a:rPr>
              <a:t>Khi học sinh hỏi “là gì”, “vì sao”, “em chưa hiểu”… gia sư cần giải thích vừa sức.</a:t>
            </a:r>
          </a:p>
        </p:txBody>
      </p:sp>
      <p:sp>
        <p:nvSpPr>
          <p:cNvPr id="35" name="TextBox 35"/>
          <p:cNvSpPr txBox="1"/>
          <p:nvPr/>
        </p:nvSpPr>
        <p:spPr>
          <a:xfrm>
            <a:off x="6217920" y="1051560"/>
            <a:ext cx="5074920" cy="160020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Phản hồi bài làm hoặc lập luận</a:t>
            </a:r>
          </a:p>
          <a:p>
            <a:pPr algn="l">
              <a:buNone/>
              <a:lnSpc>
                <a:spcPct val="115000"/>
              </a:lnSpc>
            </a:pPr>
            <a:r>
              <a:rPr lang="vi-VN" sz="1530">
                <a:solidFill>
                  <a:srgbClr val="17202A"/>
                </a:solidFill>
                <a:latin typeface="Arial"/>
                <a:cs typeface="Arial"/>
              </a:rPr>
              <a:t>Khi học sinh đã làm/nói gì đó, gia sư cần chỉ ra đúng, sai, thiếu và hướng sửa.</a:t>
            </a:r>
          </a:p>
        </p:txBody>
      </p:sp>
      <p:sp>
        <p:nvSpPr>
          <p:cNvPr id="36" name="TextBox 36"/>
          <p:cNvSpPr txBox="1"/>
          <p:nvPr/>
        </p:nvSpPr>
        <p:spPr>
          <a:xfrm>
            <a:off x="685800" y="3108960"/>
            <a:ext cx="5074920" cy="160020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Gợi ý từng bước để học sinh tự đi tiếp</a:t>
            </a:r>
          </a:p>
          <a:p>
            <a:pPr algn="l">
              <a:buNone/>
              <a:lnSpc>
                <a:spcPct val="115000"/>
              </a:lnSpc>
            </a:pPr>
            <a:r>
              <a:rPr lang="vi-VN" sz="1530">
                <a:solidFill>
                  <a:srgbClr val="17202A"/>
                </a:solidFill>
                <a:latin typeface="Arial"/>
                <a:cs typeface="Arial"/>
              </a:rPr>
              <a:t>Khi học sinh bị kẹt, gia sư cần hỗ trợ vừa đủ, tránh làm thay quá sớm.</a:t>
            </a:r>
          </a:p>
        </p:txBody>
      </p:sp>
      <p:sp>
        <p:nvSpPr>
          <p:cNvPr id="37" name="TextBox 37"/>
          <p:cNvSpPr txBox="1"/>
          <p:nvPr/>
        </p:nvSpPr>
        <p:spPr>
          <a:xfrm>
            <a:off x="6217920" y="3108960"/>
            <a:ext cx="5074920" cy="160020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Chẩn đoán lỗi, hiểu lầm hoặc thiếu nền tảng</a:t>
            </a:r>
          </a:p>
          <a:p>
            <a:pPr algn="l">
              <a:buNone/>
              <a:lnSpc>
                <a:spcPct val="115000"/>
              </a:lnSpc>
            </a:pPr>
            <a:r>
              <a:rPr lang="vi-VN" sz="1530">
                <a:solidFill>
                  <a:srgbClr val="17202A"/>
                </a:solidFill>
                <a:latin typeface="Arial"/>
                <a:cs typeface="Arial"/>
              </a:rPr>
              <a:t>Khi học sinh sai có hệ thống hoặc hỏi lệch vì thiếu nền, gia sư cần xác định bản chất vấn đề.</a:t>
            </a:r>
          </a:p>
        </p:txBody>
      </p:sp>
      <p:sp>
        <p:nvSpPr>
          <p:cNvPr id="38" name="TextBox 38"/>
          <p:cNvSpPr txBox="1"/>
          <p:nvPr/>
        </p:nvSpPr>
        <p:spPr>
          <a:xfrm>
            <a:off x="777240" y="5532120"/>
            <a:ext cx="10515600" cy="457200"/>
          </a:xfrm>
          <a:solidFill>
            <a:srgbClr val="FFF3E0"/>
          </a:solidFill>
          <a:ln w="9525">
            <a:solidFill>
              <a:srgbClr val="FFE0B2"/>
            </a:solidFill>
          </a:ln>
          <a:prstGeom prst="roundRect">
            <a:avLst/>
          </a:prstGeom>
        </p:spPr>
        <p:txBody>
          <a:bodyPr wrap="square" lIns="82296" tIns="82296" rIns="82296" bIns="82296" anchor="mid"/>
          <a:lstStyle/>
          <a:p>
            <a:pPr algn="l">
              <a:buNone/>
              <a:lnSpc>
                <a:spcPct val="115000"/>
              </a:lnSpc>
            </a:pPr>
            <a:r>
              <a:rPr lang="vi-VN" sz="1600" b="1">
                <a:solidFill>
                  <a:srgbClr val="123A5D"/>
                </a:solidFill>
                <a:latin typeface="Arial"/>
                <a:cs typeface="Arial"/>
              </a:rPr>
              <a:t>Điểm cần xin ý kiến: tên gọi và ranh giới giữa các nhiệm vụ đã đủ dễ hiểu với giáo viên chưa?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39"/>
          <p:cNvSpPr/>
          <p:nvPr/>
        </p:nvSpPr>
        <p:spPr>
          <a:xfrm>
            <a:off x="0" y="0"/>
            <a:ext cx="12192000" cy="6858000"/>
          </a:xfrm>
          <a:solidFill>
            <a:srgbClr val="F7FAFC"/>
          </a:solidFill>
          <a:ln>
            <a:noFill/>
          </a:ln>
          <a:prstGeom prst="rect">
            <a:avLst/>
          </a:prstGeom>
        </p:spPr>
        <p:txBody>
          <a:bodyPr/>
          <a:lstStyle/>
          <a:p/>
        </p:txBody>
      </p:sp>
      <p:sp>
        <p:nvSpPr>
          <p:cNvPr id="40" name="Shape 40"/>
          <p:cNvSpPr/>
          <p:nvPr/>
        </p:nvSpPr>
        <p:spPr>
          <a:xfrm>
            <a:off x="0" y="0"/>
            <a:ext cx="12192000" cy="502920"/>
          </a:xfrm>
          <a:solidFill>
            <a:srgbClr val="123A5D"/>
          </a:solidFill>
          <a:ln>
            <a:noFill/>
          </a:ln>
          <a:prstGeom prst="rect">
            <a:avLst/>
          </a:prstGeom>
        </p:spPr>
        <p:txBody>
          <a:bodyPr/>
          <a:lstStyle/>
          <a:p/>
        </p:txBody>
      </p:sp>
      <p:sp>
        <p:nvSpPr>
          <p:cNvPr id="41" name="TextBox 41"/>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Giai đoạn xây dựng tiêu chí chấm</a:t>
            </a:r>
          </a:p>
        </p:txBody>
      </p:sp>
      <p:sp>
        <p:nvSpPr>
          <p:cNvPr id="42" name="TextBox 42"/>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Đã làm</a:t>
            </a:r>
          </a:p>
        </p:txBody>
      </p:sp>
      <p:sp>
        <p:nvSpPr>
          <p:cNvPr id="43" name="TextBox 43"/>
          <p:cNvSpPr txBox="1"/>
          <p:nvPr/>
        </p:nvSpPr>
        <p:spPr>
          <a:xfrm>
            <a:off x="777240" y="914400"/>
            <a:ext cx="10607040" cy="640080"/>
          </a:xfrm>
          <a:solidFill>
            <a:srgbClr val="FFFFFF"/>
          </a:solidFill>
          <a:ln w="9525">
            <a:solidFill>
              <a:srgbClr val="DDE7F0"/>
            </a:solidFill>
          </a:ln>
          <a:prstGeom prst="roundRect">
            <a:avLst/>
          </a:prstGeom>
        </p:spPr>
        <p:txBody>
          <a:bodyPr wrap="square" lIns="73152" tIns="73152" rIns="73152" bIns="73152" anchor="mid"/>
          <a:lstStyle/>
          <a:p>
            <a:pPr algn="l">
              <a:buNone/>
              <a:lnSpc>
                <a:spcPct val="115000"/>
              </a:lnSpc>
            </a:pPr>
            <a:r>
              <a:rPr lang="vi-VN" sz="1650" b="1">
                <a:solidFill>
                  <a:srgbClr val="123A5D"/>
                </a:solidFill>
                <a:latin typeface="Arial"/>
                <a:cs typeface="Arial"/>
              </a:rPr>
              <a:t>Chính xác kiến thức và bám học liệu</a:t>
            </a:r>
          </a:p>
          <a:p>
            <a:pPr algn="l">
              <a:buNone/>
              <a:lnSpc>
                <a:spcPct val="115000"/>
              </a:lnSpc>
            </a:pPr>
            <a:r>
              <a:rPr lang="vi-VN" sz="1350">
                <a:solidFill>
                  <a:srgbClr val="5F6B7A"/>
                </a:solidFill>
                <a:latin typeface="Arial"/>
                <a:cs typeface="Arial"/>
              </a:rPr>
              <a:t>Nội dung có đúng theo SGK/học liệu Tin học 9 không?</a:t>
            </a:r>
          </a:p>
        </p:txBody>
      </p:sp>
      <p:sp>
        <p:nvSpPr>
          <p:cNvPr id="44" name="TextBox 44"/>
          <p:cNvSpPr txBox="1"/>
          <p:nvPr/>
        </p:nvSpPr>
        <p:spPr>
          <a:xfrm>
            <a:off x="777240" y="1737360"/>
            <a:ext cx="10607040" cy="640080"/>
          </a:xfrm>
          <a:solidFill>
            <a:srgbClr val="FFFFFF"/>
          </a:solidFill>
          <a:ln w="9525">
            <a:solidFill>
              <a:srgbClr val="DDE7F0"/>
            </a:solidFill>
          </a:ln>
          <a:prstGeom prst="roundRect">
            <a:avLst/>
          </a:prstGeom>
        </p:spPr>
        <p:txBody>
          <a:bodyPr wrap="square" lIns="73152" tIns="73152" rIns="73152" bIns="73152" anchor="mid"/>
          <a:lstStyle/>
          <a:p>
            <a:pPr algn="l">
              <a:buNone/>
              <a:lnSpc>
                <a:spcPct val="115000"/>
              </a:lnSpc>
            </a:pPr>
            <a:r>
              <a:rPr lang="vi-VN" sz="1650" b="1">
                <a:solidFill>
                  <a:srgbClr val="123A5D"/>
                </a:solidFill>
                <a:latin typeface="Arial"/>
                <a:cs typeface="Arial"/>
              </a:rPr>
              <a:t>Hiểu đúng yêu cầu, trạng thái và lỗi của học sinh</a:t>
            </a:r>
          </a:p>
          <a:p>
            <a:pPr algn="l">
              <a:buNone/>
              <a:lnSpc>
                <a:spcPct val="115000"/>
              </a:lnSpc>
            </a:pPr>
            <a:r>
              <a:rPr lang="vi-VN" sz="1350">
                <a:solidFill>
                  <a:srgbClr val="5F6B7A"/>
                </a:solidFill>
                <a:latin typeface="Arial"/>
                <a:cs typeface="Arial"/>
              </a:rPr>
              <a:t>Gia sư có đọc đúng học sinh đang cần gì, sai gì, kẹt ở đâu không?</a:t>
            </a:r>
          </a:p>
        </p:txBody>
      </p:sp>
      <p:sp>
        <p:nvSpPr>
          <p:cNvPr id="45" name="TextBox 45"/>
          <p:cNvSpPr txBox="1"/>
          <p:nvPr/>
        </p:nvSpPr>
        <p:spPr>
          <a:xfrm>
            <a:off x="777240" y="2560320"/>
            <a:ext cx="10607040" cy="640080"/>
          </a:xfrm>
          <a:solidFill>
            <a:srgbClr val="FFFFFF"/>
          </a:solidFill>
          <a:ln w="9525">
            <a:solidFill>
              <a:srgbClr val="DDE7F0"/>
            </a:solidFill>
          </a:ln>
          <a:prstGeom prst="roundRect">
            <a:avLst/>
          </a:prstGeom>
        </p:spPr>
        <p:txBody>
          <a:bodyPr wrap="square" lIns="73152" tIns="73152" rIns="73152" bIns="73152" anchor="mid"/>
          <a:lstStyle/>
          <a:p>
            <a:pPr algn="l">
              <a:buNone/>
              <a:lnSpc>
                <a:spcPct val="115000"/>
              </a:lnSpc>
            </a:pPr>
            <a:r>
              <a:rPr lang="vi-VN" sz="1650" b="1">
                <a:solidFill>
                  <a:srgbClr val="123A5D"/>
                </a:solidFill>
                <a:latin typeface="Arial"/>
                <a:cs typeface="Arial"/>
              </a:rPr>
              <a:t>Chất lượng hỗ trợ sư phạm/giàn giáo</a:t>
            </a:r>
          </a:p>
          <a:p>
            <a:pPr algn="l">
              <a:buNone/>
              <a:lnSpc>
                <a:spcPct val="115000"/>
              </a:lnSpc>
            </a:pPr>
            <a:r>
              <a:rPr lang="vi-VN" sz="1350">
                <a:solidFill>
                  <a:srgbClr val="5F6B7A"/>
                </a:solidFill>
                <a:latin typeface="Arial"/>
                <a:cs typeface="Arial"/>
              </a:rPr>
              <a:t>Gia sư có hỗ trợ vừa sức, đúng lúc, giúp học sinh học tiếp không?</a:t>
            </a:r>
          </a:p>
        </p:txBody>
      </p:sp>
      <p:sp>
        <p:nvSpPr>
          <p:cNvPr id="46" name="TextBox 46"/>
          <p:cNvSpPr txBox="1"/>
          <p:nvPr/>
        </p:nvSpPr>
        <p:spPr>
          <a:xfrm>
            <a:off x="777240" y="3383280"/>
            <a:ext cx="10607040" cy="640080"/>
          </a:xfrm>
          <a:solidFill>
            <a:srgbClr val="FFFFFF"/>
          </a:solidFill>
          <a:ln w="9525">
            <a:solidFill>
              <a:srgbClr val="DDE7F0"/>
            </a:solidFill>
          </a:ln>
          <a:prstGeom prst="roundRect">
            <a:avLst/>
          </a:prstGeom>
        </p:spPr>
        <p:txBody>
          <a:bodyPr wrap="square" lIns="73152" tIns="73152" rIns="73152" bIns="73152" anchor="mid"/>
          <a:lstStyle/>
          <a:p>
            <a:pPr algn="l">
              <a:buNone/>
              <a:lnSpc>
                <a:spcPct val="115000"/>
              </a:lnSpc>
            </a:pPr>
            <a:r>
              <a:rPr lang="vi-VN" sz="1650" b="1">
                <a:solidFill>
                  <a:srgbClr val="123A5D"/>
                </a:solidFill>
                <a:latin typeface="Arial"/>
                <a:cs typeface="Arial"/>
              </a:rPr>
              <a:t>Bám đúng mục tiêu, yêu cầu và phạm vi Tin học 9</a:t>
            </a:r>
          </a:p>
          <a:p>
            <a:pPr algn="l">
              <a:buNone/>
              <a:lnSpc>
                <a:spcPct val="115000"/>
              </a:lnSpc>
            </a:pPr>
            <a:r>
              <a:rPr lang="vi-VN" sz="1350">
                <a:solidFill>
                  <a:srgbClr val="5F6B7A"/>
                </a:solidFill>
                <a:latin typeface="Arial"/>
                <a:cs typeface="Arial"/>
              </a:rPr>
              <a:t>Gia sư có tránh lan man, đổi mục tiêu hoặc đi quá xa phạm vi không?</a:t>
            </a:r>
          </a:p>
        </p:txBody>
      </p:sp>
      <p:sp>
        <p:nvSpPr>
          <p:cNvPr id="47" name="TextBox 47"/>
          <p:cNvSpPr txBox="1"/>
          <p:nvPr/>
        </p:nvSpPr>
        <p:spPr>
          <a:xfrm>
            <a:off x="777240" y="4206240"/>
            <a:ext cx="10607040" cy="640080"/>
          </a:xfrm>
          <a:solidFill>
            <a:srgbClr val="FFFFFF"/>
          </a:solidFill>
          <a:ln w="9525">
            <a:solidFill>
              <a:srgbClr val="DDE7F0"/>
            </a:solidFill>
          </a:ln>
          <a:prstGeom prst="roundRect">
            <a:avLst/>
          </a:prstGeom>
        </p:spPr>
        <p:txBody>
          <a:bodyPr wrap="square" lIns="73152" tIns="73152" rIns="73152" bIns="73152" anchor="mid"/>
          <a:lstStyle/>
          <a:p>
            <a:pPr algn="l">
              <a:buNone/>
              <a:lnSpc>
                <a:spcPct val="115000"/>
              </a:lnSpc>
            </a:pPr>
            <a:r>
              <a:rPr lang="vi-VN" sz="1650" b="1">
                <a:solidFill>
                  <a:srgbClr val="123A5D"/>
                </a:solidFill>
                <a:latin typeface="Arial"/>
                <a:cs typeface="Arial"/>
              </a:rPr>
              <a:t>An toàn, đạo đức và pháp lý</a:t>
            </a:r>
          </a:p>
          <a:p>
            <a:pPr algn="l">
              <a:buNone/>
              <a:lnSpc>
                <a:spcPct val="115000"/>
              </a:lnSpc>
            </a:pPr>
            <a:r>
              <a:rPr lang="vi-VN" sz="1350">
                <a:solidFill>
                  <a:srgbClr val="5F6B7A"/>
                </a:solidFill>
                <a:latin typeface="Arial"/>
                <a:cs typeface="Arial"/>
              </a:rPr>
              <a:t>Gia sư có tránh nội dung không phù hợp, gian lận, gây hại hoặc vi phạm pháp luật không?</a:t>
            </a:r>
          </a:p>
        </p:txBody>
      </p:sp>
      <p:sp>
        <p:nvSpPr>
          <p:cNvPr id="48" name="TextBox 48"/>
          <p:cNvSpPr txBox="1"/>
          <p:nvPr/>
        </p:nvSpPr>
        <p:spPr>
          <a:xfrm>
            <a:off x="777240" y="5440680"/>
            <a:ext cx="10607040" cy="502920"/>
          </a:xfrm>
          <a:solidFill>
            <a:srgbClr val="2E7D32"/>
          </a:solidFill>
          <a:ln w="9525">
            <a:solidFill>
              <a:srgbClr val="2E7D32"/>
            </a:solidFill>
          </a:ln>
          <a:prstGeom prst="roundRect">
            <a:avLst/>
          </a:prstGeom>
        </p:spPr>
        <p:txBody>
          <a:bodyPr wrap="square" lIns="73152" tIns="73152" rIns="73152" bIns="73152" anchor="mid"/>
          <a:lstStyle/>
          <a:p>
            <a:pPr algn="l">
              <a:buNone/>
              <a:lnSpc>
                <a:spcPct val="115000"/>
              </a:lnSpc>
            </a:pPr>
            <a:r>
              <a:rPr lang="vi-VN" sz="1550" b="1">
                <a:solidFill>
                  <a:srgbClr val="FFFFFF"/>
                </a:solidFill>
                <a:latin typeface="Arial"/>
                <a:cs typeface="Arial"/>
              </a:rPr>
              <a:t>Cách chấm dự kiến: thang 1–5, từ “rất kém” đến “rất tốt”; mô tả chi tiết cần thầy cô rà soát trước khi dùng chính thức.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p:nvPr/>
        </p:nvSpPr>
        <p:spPr>
          <a:xfrm>
            <a:off x="0" y="0"/>
            <a:ext cx="12192000" cy="6858000"/>
          </a:xfrm>
          <a:solidFill>
            <a:srgbClr val="F7FAFC"/>
          </a:solidFill>
          <a:ln>
            <a:noFill/>
          </a:ln>
          <a:prstGeom prst="rect">
            <a:avLst/>
          </a:prstGeom>
        </p:spPr>
        <p:txBody>
          <a:bodyPr/>
          <a:lstStyle/>
          <a:p/>
        </p:txBody>
      </p:sp>
      <p:sp>
        <p:nvSpPr>
          <p:cNvPr id="50" name="Shape 50"/>
          <p:cNvSpPr/>
          <p:nvPr/>
        </p:nvSpPr>
        <p:spPr>
          <a:xfrm>
            <a:off x="0" y="0"/>
            <a:ext cx="12192000" cy="502920"/>
          </a:xfrm>
          <a:solidFill>
            <a:srgbClr val="123A5D"/>
          </a:solidFill>
          <a:ln>
            <a:noFill/>
          </a:ln>
          <a:prstGeom prst="rect">
            <a:avLst/>
          </a:prstGeom>
        </p:spPr>
        <p:txBody>
          <a:bodyPr/>
          <a:lstStyle/>
          <a:p/>
        </p:txBody>
      </p:sp>
      <p:sp>
        <p:nvSpPr>
          <p:cNvPr id="51" name="TextBox 51"/>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Giai đoạn lập ma trận bao phủ tổng quát</a:t>
            </a:r>
          </a:p>
        </p:txBody>
      </p:sp>
      <p:sp>
        <p:nvSpPr>
          <p:cNvPr id="52" name="TextBox 52"/>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Đã làm</a:t>
            </a:r>
          </a:p>
        </p:txBody>
      </p:sp>
      <p:sp>
        <p:nvSpPr>
          <p:cNvPr id="53" name="TextBox 53"/>
          <p:cNvSpPr txBox="1"/>
          <p:nvPr/>
        </p:nvSpPr>
        <p:spPr>
          <a:xfrm>
            <a:off x="640080" y="914400"/>
            <a:ext cx="1920240" cy="1234440"/>
          </a:xfrm>
          <a:solidFill>
            <a:srgbClr val="FFFFFF"/>
          </a:solidFill>
          <a:ln w="9525">
            <a:solidFill>
              <a:srgbClr val="DDE7F0"/>
            </a:solidFill>
          </a:ln>
          <a:prstGeom prst="roundRect">
            <a:avLst/>
          </a:prstGeom>
        </p:spPr>
        <p:txBody>
          <a:bodyPr wrap="square" lIns="73152" tIns="73152" rIns="73152" bIns="73152" anchor="mid"/>
          <a:lstStyle/>
          <a:p>
            <a:pPr algn="ctr">
              <a:buNone/>
              <a:lnSpc>
                <a:spcPct val="115000"/>
              </a:lnSpc>
            </a:pPr>
            <a:r>
              <a:rPr lang="vi-VN" sz="3200" b="1">
                <a:solidFill>
                  <a:srgbClr val="1F77B4"/>
                </a:solidFill>
                <a:latin typeface="Arial"/>
                <a:cs typeface="Arial"/>
              </a:rPr>
              <a:t>4</a:t>
            </a:r>
          </a:p>
          <a:p>
            <a:pPr algn="ctr">
              <a:buNone/>
              <a:lnSpc>
                <a:spcPct val="115000"/>
              </a:lnSpc>
            </a:pPr>
            <a:r>
              <a:rPr lang="vi-VN" sz="1250">
                <a:solidFill>
                  <a:srgbClr val="17202A"/>
                </a:solidFill>
                <a:latin typeface="Arial"/>
                <a:cs typeface="Arial"/>
              </a:rPr>
              <a:t>nhiệm vụ gia sư</a:t>
            </a:r>
          </a:p>
        </p:txBody>
      </p:sp>
      <p:sp>
        <p:nvSpPr>
          <p:cNvPr id="54" name="TextBox 54"/>
          <p:cNvSpPr txBox="1"/>
          <p:nvPr/>
        </p:nvSpPr>
        <p:spPr>
          <a:xfrm>
            <a:off x="2907791" y="914400"/>
            <a:ext cx="1920240" cy="1234440"/>
          </a:xfrm>
          <a:solidFill>
            <a:srgbClr val="FFFFFF"/>
          </a:solidFill>
          <a:ln w="9525">
            <a:solidFill>
              <a:srgbClr val="DDE7F0"/>
            </a:solidFill>
          </a:ln>
          <a:prstGeom prst="roundRect">
            <a:avLst/>
          </a:prstGeom>
        </p:spPr>
        <p:txBody>
          <a:bodyPr wrap="square" lIns="73152" tIns="73152" rIns="73152" bIns="73152" anchor="mid"/>
          <a:lstStyle/>
          <a:p>
            <a:pPr algn="ctr">
              <a:buNone/>
              <a:lnSpc>
                <a:spcPct val="115000"/>
              </a:lnSpc>
            </a:pPr>
            <a:r>
              <a:rPr lang="vi-VN" sz="3200" b="1">
                <a:solidFill>
                  <a:srgbClr val="1F77B4"/>
                </a:solidFill>
                <a:latin typeface="Arial"/>
                <a:cs typeface="Arial"/>
              </a:rPr>
              <a:t>3</a:t>
            </a:r>
          </a:p>
          <a:p>
            <a:pPr algn="ctr">
              <a:buNone/>
              <a:lnSpc>
                <a:spcPct val="115000"/>
              </a:lnSpc>
            </a:pPr>
            <a:r>
              <a:rPr lang="vi-VN" sz="1250">
                <a:solidFill>
                  <a:srgbClr val="17202A"/>
                </a:solidFill>
                <a:latin typeface="Arial"/>
                <a:cs typeface="Arial"/>
              </a:rPr>
              <a:t>mức nhận thức</a:t>
            </a:r>
          </a:p>
        </p:txBody>
      </p:sp>
      <p:sp>
        <p:nvSpPr>
          <p:cNvPr id="55" name="TextBox 55"/>
          <p:cNvSpPr txBox="1"/>
          <p:nvPr/>
        </p:nvSpPr>
        <p:spPr>
          <a:xfrm>
            <a:off x="5175504" y="914400"/>
            <a:ext cx="1920240" cy="1234440"/>
          </a:xfrm>
          <a:solidFill>
            <a:srgbClr val="FFFFFF"/>
          </a:solidFill>
          <a:ln w="9525">
            <a:solidFill>
              <a:srgbClr val="DDE7F0"/>
            </a:solidFill>
          </a:ln>
          <a:prstGeom prst="roundRect">
            <a:avLst/>
          </a:prstGeom>
        </p:spPr>
        <p:txBody>
          <a:bodyPr wrap="square" lIns="73152" tIns="73152" rIns="73152" bIns="73152" anchor="mid"/>
          <a:lstStyle/>
          <a:p>
            <a:pPr algn="ctr">
              <a:buNone/>
              <a:lnSpc>
                <a:spcPct val="115000"/>
              </a:lnSpc>
            </a:pPr>
            <a:r>
              <a:rPr lang="vi-VN" sz="3200" b="1">
                <a:solidFill>
                  <a:srgbClr val="1F77B4"/>
                </a:solidFill>
                <a:latin typeface="Arial"/>
                <a:cs typeface="Arial"/>
              </a:rPr>
              <a:t>8</a:t>
            </a:r>
          </a:p>
          <a:p>
            <a:pPr algn="ctr">
              <a:buNone/>
              <a:lnSpc>
                <a:spcPct val="115000"/>
              </a:lnSpc>
            </a:pPr>
            <a:r>
              <a:rPr lang="vi-VN" sz="1250">
                <a:solidFill>
                  <a:srgbClr val="17202A"/>
                </a:solidFill>
                <a:latin typeface="Arial"/>
                <a:cs typeface="Arial"/>
              </a:rPr>
              <a:t>cụm chủ đề SGK Tin học 9</a:t>
            </a:r>
          </a:p>
        </p:txBody>
      </p:sp>
      <p:sp>
        <p:nvSpPr>
          <p:cNvPr id="56" name="TextBox 56"/>
          <p:cNvSpPr txBox="1"/>
          <p:nvPr/>
        </p:nvSpPr>
        <p:spPr>
          <a:xfrm>
            <a:off x="7443215" y="914400"/>
            <a:ext cx="1920240" cy="1234440"/>
          </a:xfrm>
          <a:solidFill>
            <a:srgbClr val="FFFFFF"/>
          </a:solidFill>
          <a:ln w="9525">
            <a:solidFill>
              <a:srgbClr val="DDE7F0"/>
            </a:solidFill>
          </a:ln>
          <a:prstGeom prst="roundRect">
            <a:avLst/>
          </a:prstGeom>
        </p:spPr>
        <p:txBody>
          <a:bodyPr wrap="square" lIns="73152" tIns="73152" rIns="73152" bIns="73152" anchor="mid"/>
          <a:lstStyle/>
          <a:p>
            <a:pPr algn="ctr">
              <a:buNone/>
              <a:lnSpc>
                <a:spcPct val="115000"/>
              </a:lnSpc>
            </a:pPr>
            <a:r>
              <a:rPr lang="vi-VN" sz="3200" b="1">
                <a:solidFill>
                  <a:srgbClr val="1F77B4"/>
                </a:solidFill>
                <a:latin typeface="Arial"/>
                <a:cs typeface="Arial"/>
              </a:rPr>
              <a:t>9</a:t>
            </a:r>
          </a:p>
          <a:p>
            <a:pPr algn="ctr">
              <a:buNone/>
              <a:lnSpc>
                <a:spcPct val="115000"/>
              </a:lnSpc>
            </a:pPr>
            <a:r>
              <a:rPr lang="vi-VN" sz="1250">
                <a:solidFill>
                  <a:srgbClr val="17202A"/>
                </a:solidFill>
                <a:latin typeface="Arial"/>
                <a:cs typeface="Arial"/>
              </a:rPr>
              <a:t>dạng bài làm của học sinh</a:t>
            </a:r>
          </a:p>
        </p:txBody>
      </p:sp>
      <p:sp>
        <p:nvSpPr>
          <p:cNvPr id="57" name="TextBox 57"/>
          <p:cNvSpPr txBox="1"/>
          <p:nvPr/>
        </p:nvSpPr>
        <p:spPr>
          <a:xfrm>
            <a:off x="9710928" y="914400"/>
            <a:ext cx="1920240" cy="1234440"/>
          </a:xfrm>
          <a:solidFill>
            <a:srgbClr val="FFFFFF"/>
          </a:solidFill>
          <a:ln w="9525">
            <a:solidFill>
              <a:srgbClr val="DDE7F0"/>
            </a:solidFill>
          </a:ln>
          <a:prstGeom prst="roundRect">
            <a:avLst/>
          </a:prstGeom>
        </p:spPr>
        <p:txBody>
          <a:bodyPr wrap="square" lIns="73152" tIns="73152" rIns="73152" bIns="73152" anchor="mid"/>
          <a:lstStyle/>
          <a:p>
            <a:pPr algn="ctr">
              <a:buNone/>
              <a:lnSpc>
                <a:spcPct val="115000"/>
              </a:lnSpc>
            </a:pPr>
            <a:r>
              <a:rPr lang="vi-VN" sz="3200" b="1">
                <a:solidFill>
                  <a:srgbClr val="1F77B4"/>
                </a:solidFill>
                <a:latin typeface="Arial"/>
                <a:cs typeface="Arial"/>
              </a:rPr>
              <a:t>96</a:t>
            </a:r>
          </a:p>
          <a:p>
            <a:pPr algn="ctr">
              <a:buNone/>
              <a:lnSpc>
                <a:spcPct val="115000"/>
              </a:lnSpc>
            </a:pPr>
            <a:r>
              <a:rPr lang="vi-VN" sz="1250">
                <a:solidFill>
                  <a:srgbClr val="17202A"/>
                </a:solidFill>
                <a:latin typeface="Arial"/>
                <a:cs typeface="Arial"/>
              </a:rPr>
              <a:t>ô bao phủ thiết kế</a:t>
            </a:r>
          </a:p>
        </p:txBody>
      </p:sp>
      <p:sp>
        <p:nvSpPr>
          <p:cNvPr id="58" name="TextBox 58"/>
          <p:cNvSpPr txBox="1"/>
          <p:nvPr/>
        </p:nvSpPr>
        <p:spPr>
          <a:xfrm>
            <a:off x="777240" y="2514600"/>
            <a:ext cx="10607040" cy="205740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2200" b="1">
                <a:solidFill>
                  <a:srgbClr val="123A5D"/>
                </a:solidFill>
                <a:latin typeface="Arial"/>
                <a:cs typeface="Arial"/>
              </a:rPr>
              <a:t>Vì sao cần ma trận?</a:t>
            </a:r>
          </a:p>
          <a:p>
            <a:pPr algn="l" marL="342900" indent="-228600">
              <a:buChar char="•"/>
              <a:lnSpc>
                <a:spcPct val="115000"/>
              </a:lnSpc>
            </a:pPr>
            <a:r>
              <a:rPr lang="vi-VN" sz="1600">
                <a:solidFill>
                  <a:srgbClr val="17202A"/>
                </a:solidFill>
                <a:latin typeface="Arial"/>
                <a:cs typeface="Arial"/>
              </a:rPr>
              <a:t>Nếu đi thẳng vào một số mẫu cố định, bộ dữ liệu rất dễ lệch về câu hỏi lý thuyết, lập trình, hoặc một chủ đề dễ viết.</a:t>
            </a:r>
          </a:p>
          <a:p>
            <a:pPr algn="l" marL="342900" indent="-228600">
              <a:buChar char="•"/>
              <a:lnSpc>
                <a:spcPct val="115000"/>
              </a:lnSpc>
            </a:pPr>
            <a:r>
              <a:rPr lang="vi-VN" sz="1600">
                <a:solidFill>
                  <a:srgbClr val="17202A"/>
                </a:solidFill>
                <a:latin typeface="Arial"/>
                <a:cs typeface="Arial"/>
              </a:rPr>
              <a:t>Ma trận giúp chọn mẫu có chủ đích: đủ nhiệm vụ gia sư, mức nhận thức, chủ đề SGK và dạng bài học sinh.</a:t>
            </a:r>
          </a:p>
          <a:p>
            <a:pPr algn="l" marL="342900" indent="-228600">
              <a:buChar char="•"/>
              <a:lnSpc>
                <a:spcPct val="115000"/>
              </a:lnSpc>
            </a:pPr>
            <a:r>
              <a:rPr lang="vi-VN" sz="1600">
                <a:solidFill>
                  <a:srgbClr val="17202A"/>
                </a:solidFill>
                <a:latin typeface="Arial"/>
                <a:cs typeface="Arial"/>
              </a:rPr>
              <a:t>96 ô là bản đồ thiết kế, không phải yêu cầu phải tạo 96 mẫu ngay.</a:t>
            </a:r>
          </a:p>
        </p:txBody>
      </p:sp>
      <p:sp>
        <p:nvSpPr>
          <p:cNvPr id="59" name="TextBox 59"/>
          <p:cNvSpPr txBox="1"/>
          <p:nvPr/>
        </p:nvSpPr>
        <p:spPr>
          <a:xfrm>
            <a:off x="777240" y="5074920"/>
            <a:ext cx="10607040" cy="731520"/>
          </a:xfrm>
          <a:solidFill>
            <a:srgbClr val="123A5D"/>
          </a:solidFill>
          <a:ln w="9525">
            <a:solidFill>
              <a:srgbClr val="123A5D"/>
            </a:solidFill>
          </a:ln>
          <a:prstGeom prst="roundRect">
            <a:avLst/>
          </a:prstGeom>
        </p:spPr>
        <p:txBody>
          <a:bodyPr wrap="square" lIns="109728" tIns="109728" rIns="109728" bIns="109728" anchor="mid"/>
          <a:lstStyle/>
          <a:p>
            <a:pPr algn="l">
              <a:buNone/>
              <a:lnSpc>
                <a:spcPct val="115000"/>
              </a:lnSpc>
            </a:pPr>
            <a:r>
              <a:rPr lang="vi-VN" sz="1600" b="1">
                <a:solidFill>
                  <a:srgbClr val="FFFFFF"/>
                </a:solidFill>
                <a:latin typeface="Arial"/>
                <a:cs typeface="Arial"/>
              </a:rPr>
              <a:t>Cách dùng sắp tới: chọn một lát cắt nhỏ nhưng đại diện để viết ví dụ phiếu tác giả và chạy thử với giáo viên.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solidFill>
            <a:srgbClr val="F7FAFC"/>
          </a:solidFill>
          <a:ln>
            <a:noFill/>
          </a:ln>
          <a:prstGeom prst="rect">
            <a:avLst/>
          </a:prstGeom>
        </p:spPr>
        <p:txBody>
          <a:bodyPr/>
          <a:lstStyle/>
          <a:p/>
        </p:txBody>
      </p:sp>
      <p:sp>
        <p:nvSpPr>
          <p:cNvPr id="3" name="Shape 3"/>
          <p:cNvSpPr/>
          <p:nvPr/>
        </p:nvSpPr>
        <p:spPr>
          <a:xfrm>
            <a:off x="0" y="0"/>
            <a:ext cx="12192000" cy="502920"/>
          </a:xfrm>
          <a:solidFill>
            <a:srgbClr val="123A5D"/>
          </a:solidFill>
          <a:ln>
            <a:noFill/>
          </a:ln>
          <a:prstGeom prst="rect">
            <a:avLst/>
          </a:prstGeom>
        </p:spPr>
        <p:txBody>
          <a:bodyPr/>
          <a:lstStyle/>
          <a:p/>
        </p:txBody>
      </p:sp>
      <p:sp>
        <p:nvSpPr>
          <p:cNvPr id="4" name="TextBox 4"/>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2000"/>
              </a:lnSpc>
            </a:pPr>
            <a:r>
              <a:rPr lang="vi-VN" sz="2000" b="1">
                <a:solidFill>
                  <a:srgbClr val="FFFFFF"/>
                </a:solidFill>
                <a:latin typeface="Arial"/>
                <a:cs typeface="Arial"/>
              </a:rPr>
              <a:t>Cơ sở hình thành 9 dạng bài làm của học sinh</a:t>
            </a:r>
          </a:p>
        </p:txBody>
      </p:sp>
      <p:sp>
        <p:nvSpPr>
          <p:cNvPr id="5" name="TextBox 5"/>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2000"/>
              </a:lnSpc>
            </a:pPr>
            <a:r>
              <a:rPr lang="vi-VN" sz="1050">
                <a:solidFill>
                  <a:srgbClr val="D6EAF8"/>
                </a:solidFill>
                <a:latin typeface="Arial"/>
                <a:cs typeface="Arial"/>
              </a:rPr>
              <a:t>Đã làm</a:t>
            </a:r>
          </a:p>
        </p:txBody>
      </p:sp>
      <p:sp>
        <p:nvSpPr>
          <p:cNvPr id="6" name="TextBox 6"/>
          <p:cNvSpPr txBox="1"/>
          <p:nvPr/>
        </p:nvSpPr>
        <p:spPr>
          <a:xfrm>
            <a:off x="640080" y="868680"/>
            <a:ext cx="4983480" cy="4343400"/>
          </a:xfrm>
          <a:solidFill>
            <a:srgbClr val="FFFFFF"/>
          </a:solidFill>
          <a:ln w="9525">
            <a:solidFill>
              <a:srgbClr val="DDE7F0"/>
            </a:solidFill>
          </a:ln>
          <a:prstGeom prst="roundRect">
            <a:avLst/>
          </a:prstGeom>
        </p:spPr>
        <p:txBody>
          <a:bodyPr wrap="square" lIns="146304" tIns="146304" rIns="146304" bIns="146304" anchor="t"/>
          <a:lstStyle/>
          <a:p>
            <a:pPr algn="l">
              <a:buNone/>
              <a:lnSpc>
                <a:spcPct val="112000"/>
              </a:lnSpc>
            </a:pPr>
            <a:r>
              <a:rPr lang="vi-VN" sz="2100" b="1">
                <a:solidFill>
                  <a:srgbClr val="123A5D"/>
                </a:solidFill>
                <a:latin typeface="Arial"/>
                <a:cs typeface="Arial"/>
              </a:rPr>
              <a:t>Ba nguồn căn cứ chính</a:t>
            </a:r>
          </a:p>
          <a:p>
            <a:pPr algn="l" marL="285750" indent="-190500">
              <a:buChar char="•"/>
              <a:lnSpc>
                <a:spcPct val="112000"/>
              </a:lnSpc>
            </a:pPr>
            <a:r>
              <a:rPr lang="vi-VN" sz="1470">
                <a:solidFill>
                  <a:srgbClr val="17202A"/>
                </a:solidFill>
                <a:latin typeface="Arial"/>
                <a:cs typeface="Arial"/>
              </a:rPr>
              <a:t>Nghiên cứu nền: MathTutorBench, KMP-Bench và TutorBench đều nhấn mạnh cần nhìn vào bài làm, lỗi, trạng thái hiểu và cách gia sư phản hồi học sinh.</a:t>
            </a:r>
          </a:p>
          <a:p>
            <a:pPr algn="l" marL="285750" indent="-190500">
              <a:buChar char="•"/>
              <a:lnSpc>
                <a:spcPct val="112000"/>
              </a:lnSpc>
            </a:pPr>
            <a:r>
              <a:rPr lang="vi-VN" sz="1470">
                <a:solidFill>
                  <a:srgbClr val="17202A"/>
                </a:solidFill>
                <a:latin typeface="Arial"/>
                <a:cs typeface="Arial"/>
              </a:rPr>
              <a:t>Tài liệu HNMU: Biểu hiện mức độ nhận thức Tin học và Khung Dàn giáo – Hội thoại minh họa giúp tách mức nhận thức, mức hỗ trợ và dạng tương tác.</a:t>
            </a:r>
          </a:p>
          <a:p>
            <a:pPr algn="l" marL="285750" indent="-190500">
              <a:buChar char="•"/>
              <a:lnSpc>
                <a:spcPct val="112000"/>
              </a:lnSpc>
            </a:pPr>
            <a:r>
              <a:rPr lang="vi-VN" sz="1470">
                <a:solidFill>
                  <a:srgbClr val="17202A"/>
                </a:solidFill>
                <a:latin typeface="Arial"/>
                <a:cs typeface="Arial"/>
              </a:rPr>
              <a:t>Học liệu chủ đạo: SGK Tin học 9 có các mảng nội dung khác nhau như khái niệm, đạo đức số, bảng tính, sản phẩm số, thuật toán và lập trình.</a:t>
            </a:r>
          </a:p>
        </p:txBody>
      </p:sp>
      <p:sp>
        <p:nvSpPr>
          <p:cNvPr id="7" name="TextBox 7"/>
          <p:cNvSpPr txBox="1"/>
          <p:nvPr/>
        </p:nvSpPr>
        <p:spPr>
          <a:xfrm>
            <a:off x="5897880" y="868680"/>
            <a:ext cx="5440680" cy="4343400"/>
          </a:xfrm>
          <a:solidFill>
            <a:srgbClr val="FFFFFF"/>
          </a:solidFill>
          <a:ln w="9525">
            <a:solidFill>
              <a:srgbClr val="DDE7F0"/>
            </a:solidFill>
          </a:ln>
          <a:prstGeom prst="roundRect">
            <a:avLst/>
          </a:prstGeom>
        </p:spPr>
        <p:txBody>
          <a:bodyPr wrap="square" lIns="146304" tIns="146304" rIns="146304" bIns="146304" anchor="t"/>
          <a:lstStyle/>
          <a:p>
            <a:pPr algn="l">
              <a:buNone/>
              <a:lnSpc>
                <a:spcPct val="112000"/>
              </a:lnSpc>
            </a:pPr>
            <a:r>
              <a:rPr lang="vi-VN" sz="2100" b="1">
                <a:solidFill>
                  <a:srgbClr val="123A5D"/>
                </a:solidFill>
                <a:latin typeface="Arial"/>
                <a:cs typeface="Arial"/>
              </a:rPr>
              <a:t>9 dạng bài làm được dùng để làm gì?</a:t>
            </a:r>
          </a:p>
          <a:p>
            <a:pPr algn="l" marL="285750" indent="-190500">
              <a:buChar char="•"/>
              <a:lnSpc>
                <a:spcPct val="112000"/>
              </a:lnSpc>
            </a:pPr>
            <a:r>
              <a:rPr lang="vi-VN" sz="1470">
                <a:solidFill>
                  <a:srgbClr val="17202A"/>
                </a:solidFill>
                <a:latin typeface="Arial"/>
                <a:cs typeface="Arial"/>
              </a:rPr>
              <a:t>Giúp giáo viên không chỉ tạo một kiểu câu hỏi quen thuộc.</a:t>
            </a:r>
          </a:p>
          <a:p>
            <a:pPr algn="l" marL="285750" indent="-190500">
              <a:buChar char="•"/>
              <a:lnSpc>
                <a:spcPct val="112000"/>
              </a:lnSpc>
            </a:pPr>
            <a:r>
              <a:rPr lang="vi-VN" sz="1470">
                <a:solidFill>
                  <a:srgbClr val="17202A"/>
                </a:solidFill>
                <a:latin typeface="Arial"/>
                <a:cs typeface="Arial"/>
              </a:rPr>
              <a:t>Giúp mỗi nhiệm vụ gia sư được thử trên nhiều vật liệu học tập khác nhau: câu hỏi, đáp án, lập luận, code, bảng tính, sản phẩm số.</a:t>
            </a:r>
          </a:p>
          <a:p>
            <a:pPr algn="l" marL="285750" indent="-190500">
              <a:buChar char="•"/>
              <a:lnSpc>
                <a:spcPct val="112000"/>
              </a:lnSpc>
            </a:pPr>
            <a:r>
              <a:rPr lang="vi-VN" sz="1470">
                <a:solidFill>
                  <a:srgbClr val="17202A"/>
                </a:solidFill>
                <a:latin typeface="Arial"/>
                <a:cs typeface="Arial"/>
              </a:rPr>
              <a:t>Giúp nhóm rà soát biết bộ mẫu đang lệch về lý thuyết, lập trình, bảng tính hay tình huống đạo đức số.</a:t>
            </a:r>
          </a:p>
        </p:txBody>
      </p:sp>
      <p:sp>
        <p:nvSpPr>
          <p:cNvPr id="8" name="TextBox 8"/>
          <p:cNvSpPr txBox="1"/>
          <p:nvPr/>
        </p:nvSpPr>
        <p:spPr>
          <a:xfrm>
            <a:off x="777240" y="5440680"/>
            <a:ext cx="10561320" cy="502920"/>
          </a:xfrm>
          <a:solidFill>
            <a:srgbClr val="2E7D32"/>
          </a:solidFill>
          <a:ln w="9525">
            <a:solidFill>
              <a:srgbClr val="2E7D32"/>
            </a:solidFill>
          </a:ln>
          <a:prstGeom prst="roundRect">
            <a:avLst/>
          </a:prstGeom>
        </p:spPr>
        <p:txBody>
          <a:bodyPr wrap="square" lIns="73152" tIns="73152" rIns="73152" bIns="73152" anchor="mid"/>
          <a:lstStyle/>
          <a:p>
            <a:pPr algn="l">
              <a:buNone/>
              <a:lnSpc>
                <a:spcPct val="112000"/>
              </a:lnSpc>
            </a:pPr>
            <a:r>
              <a:rPr lang="vi-VN" sz="1530" b="1">
                <a:solidFill>
                  <a:srgbClr val="FFFFFF"/>
                </a:solidFill>
                <a:latin typeface="Arial"/>
                <a:cs typeface="Arial"/>
              </a:rPr>
              <a:t>Nói ngắn gọn: 9 dạng không phải phân loại cuối cùng, mà là bản khởi đầu để bảo đảm mẫu thử có đủ độ đa dạng và có thể được thầy cô rà soát tiếp.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74"/>
          <p:cNvSpPr/>
          <p:nvPr/>
        </p:nvSpPr>
        <p:spPr>
          <a:xfrm>
            <a:off x="0" y="0"/>
            <a:ext cx="12192000" cy="6858000"/>
          </a:xfrm>
          <a:solidFill>
            <a:srgbClr val="F7FAFC"/>
          </a:solidFill>
          <a:ln>
            <a:noFill/>
          </a:ln>
          <a:prstGeom prst="rect">
            <a:avLst/>
          </a:prstGeom>
        </p:spPr>
        <p:txBody>
          <a:bodyPr/>
          <a:lstStyle/>
          <a:p/>
        </p:txBody>
      </p:sp>
      <p:sp>
        <p:nvSpPr>
          <p:cNvPr id="75" name="Shape 75"/>
          <p:cNvSpPr/>
          <p:nvPr/>
        </p:nvSpPr>
        <p:spPr>
          <a:xfrm>
            <a:off x="0" y="0"/>
            <a:ext cx="12192000" cy="502920"/>
          </a:xfrm>
          <a:solidFill>
            <a:srgbClr val="123A5D"/>
          </a:solidFill>
          <a:ln>
            <a:noFill/>
          </a:ln>
          <a:prstGeom prst="rect">
            <a:avLst/>
          </a:prstGeom>
        </p:spPr>
        <p:txBody>
          <a:bodyPr/>
          <a:lstStyle/>
          <a:p/>
        </p:txBody>
      </p:sp>
      <p:sp>
        <p:nvSpPr>
          <p:cNvPr id="76" name="TextBox 76"/>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Những điểm cần thầy cô và giáo sư góp ý</a:t>
            </a:r>
          </a:p>
        </p:txBody>
      </p:sp>
      <p:sp>
        <p:nvSpPr>
          <p:cNvPr id="77" name="TextBox 77"/>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Cần quyết định</a:t>
            </a:r>
          </a:p>
        </p:txBody>
      </p:sp>
      <p:sp>
        <p:nvSpPr>
          <p:cNvPr id="78" name="TextBox 78"/>
          <p:cNvSpPr txBox="1"/>
          <p:nvPr/>
        </p:nvSpPr>
        <p:spPr>
          <a:xfrm>
            <a:off x="777240" y="914400"/>
            <a:ext cx="10607040" cy="4206240"/>
          </a:xfrm>
          <a:solidFill>
            <a:srgbClr val="FFFFFF"/>
          </a:solidFill>
          <a:ln w="9525">
            <a:solidFill>
              <a:srgbClr val="DDE7F0"/>
            </a:solidFill>
          </a:ln>
          <a:prstGeom prst="roundRect">
            <a:avLst/>
          </a:prstGeom>
        </p:spPr>
        <p:txBody>
          <a:bodyPr wrap="square" lIns="164592" tIns="164592" rIns="164592" bIns="164592" anchor="t"/>
          <a:lstStyle/>
          <a:p>
            <a:pPr algn="l" marL="342900" indent="-228600">
              <a:buChar char="•"/>
              <a:lnSpc>
                <a:spcPct val="115000"/>
              </a:lnSpc>
            </a:pPr>
            <a:r>
              <a:rPr lang="vi-VN" sz="1700">
                <a:solidFill>
                  <a:srgbClr val="17202A"/>
                </a:solidFill>
                <a:latin typeface="Arial"/>
                <a:cs typeface="Arial"/>
              </a:rPr>
              <a:t>Bốn nhiệm vụ gia sư hiện tại đã bao phủ đúng các tình huống dạy học thường gặp chưa?</a:t>
            </a:r>
          </a:p>
          <a:p>
            <a:pPr algn="l" marL="342900" indent="-228600">
              <a:buChar char="•"/>
              <a:lnSpc>
                <a:spcPct val="115000"/>
              </a:lnSpc>
            </a:pPr>
            <a:r>
              <a:rPr lang="vi-VN" sz="1700">
                <a:solidFill>
                  <a:srgbClr val="17202A"/>
                </a:solidFill>
                <a:latin typeface="Arial"/>
                <a:cs typeface="Arial"/>
              </a:rPr>
              <a:t>Năm tiêu chí chấm đã đủ gọn, đủ phân biệt và đủ dễ dùng cho giáo viên chưa?</a:t>
            </a:r>
          </a:p>
          <a:p>
            <a:pPr algn="l" marL="342900" indent="-228600">
              <a:buChar char="•"/>
              <a:lnSpc>
                <a:spcPct val="115000"/>
              </a:lnSpc>
            </a:pPr>
            <a:r>
              <a:rPr lang="vi-VN" sz="1700">
                <a:solidFill>
                  <a:srgbClr val="17202A"/>
                </a:solidFill>
                <a:latin typeface="Arial"/>
                <a:cs typeface="Arial"/>
              </a:rPr>
              <a:t>Tên chủ đề/bài học lấy theo mục lục SGK Tin học 9 có cần chỉnh lại cho chuẩn sư phạm không?</a:t>
            </a:r>
          </a:p>
          <a:p>
            <a:pPr algn="l" marL="342900" indent="-228600">
              <a:buChar char="•"/>
              <a:lnSpc>
                <a:spcPct val="115000"/>
              </a:lnSpc>
            </a:pPr>
            <a:r>
              <a:rPr lang="vi-VN" sz="1700">
                <a:solidFill>
                  <a:srgbClr val="17202A"/>
                </a:solidFill>
                <a:latin typeface="Arial"/>
                <a:cs typeface="Arial"/>
              </a:rPr>
              <a:t>Trong đợt thử nghiệm đầu, nên ưu tiên dạng bài làm nào của học sinh?</a:t>
            </a:r>
          </a:p>
          <a:p>
            <a:pPr algn="l" marL="342900" indent="-228600">
              <a:buChar char="•"/>
              <a:lnSpc>
                <a:spcPct val="115000"/>
              </a:lnSpc>
            </a:pPr>
            <a:r>
              <a:rPr lang="vi-VN" sz="1700">
                <a:solidFill>
                  <a:srgbClr val="17202A"/>
                </a:solidFill>
                <a:latin typeface="Arial"/>
                <a:cs typeface="Arial"/>
              </a:rPr>
              <a:t>Với câu hỏi lệch phạm vi hoặc học sinh thiếu nền tảng, gia sư nên hướng học sinh quay lại chủ đề như thế nào?</a:t>
            </a:r>
          </a:p>
        </p:txBody>
      </p:sp>
      <p:sp>
        <p:nvSpPr>
          <p:cNvPr id="79" name="TextBox 79"/>
          <p:cNvSpPr txBox="1"/>
          <p:nvPr/>
        </p:nvSpPr>
        <p:spPr>
          <a:xfrm>
            <a:off x="777240" y="5440680"/>
            <a:ext cx="10607040" cy="502920"/>
          </a:xfrm>
          <a:solidFill>
            <a:srgbClr val="F39C12"/>
          </a:solidFill>
          <a:ln w="9525">
            <a:solidFill>
              <a:srgbClr val="F39C12"/>
            </a:solidFill>
          </a:ln>
          <a:prstGeom prst="roundRect">
            <a:avLst/>
          </a:prstGeom>
        </p:spPr>
        <p:txBody>
          <a:bodyPr wrap="square" lIns="73152" tIns="73152" rIns="73152" bIns="73152" anchor="mid"/>
          <a:lstStyle/>
          <a:p>
            <a:pPr algn="l">
              <a:buNone/>
              <a:lnSpc>
                <a:spcPct val="115000"/>
              </a:lnSpc>
            </a:pPr>
            <a:r>
              <a:rPr lang="vi-VN" sz="1550" b="1">
                <a:solidFill>
                  <a:srgbClr val="FFFFFF"/>
                </a:solidFill>
                <a:latin typeface="Arial"/>
                <a:cs typeface="Arial"/>
              </a:rPr>
              <a:t>Mục tiêu của cuộc họp: không cần chốt mọi chi tiết, nhưng cần đủ thống nhất để chuyển sang viết ví dụ và giao giáo viên tạo mẫu thử.</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hape 80"/>
          <p:cNvSpPr/>
          <p:nvPr/>
        </p:nvSpPr>
        <p:spPr>
          <a:xfrm>
            <a:off x="0" y="0"/>
            <a:ext cx="12192000" cy="6858000"/>
          </a:xfrm>
          <a:solidFill>
            <a:srgbClr val="F7FAFC"/>
          </a:solidFill>
          <a:ln>
            <a:noFill/>
          </a:ln>
          <a:prstGeom prst="rect">
            <a:avLst/>
          </a:prstGeom>
        </p:spPr>
        <p:txBody>
          <a:bodyPr/>
          <a:lstStyle/>
          <a:p/>
        </p:txBody>
      </p:sp>
      <p:sp>
        <p:nvSpPr>
          <p:cNvPr id="81" name="Shape 81"/>
          <p:cNvSpPr/>
          <p:nvPr/>
        </p:nvSpPr>
        <p:spPr>
          <a:xfrm>
            <a:off x="0" y="0"/>
            <a:ext cx="12192000" cy="502920"/>
          </a:xfrm>
          <a:solidFill>
            <a:srgbClr val="123A5D"/>
          </a:solidFill>
          <a:ln>
            <a:noFill/>
          </a:ln>
          <a:prstGeom prst="rect">
            <a:avLst/>
          </a:prstGeom>
        </p:spPr>
        <p:txBody>
          <a:bodyPr/>
          <a:lstStyle/>
          <a:p/>
        </p:txBody>
      </p:sp>
      <p:sp>
        <p:nvSpPr>
          <p:cNvPr id="82" name="TextBox 82"/>
          <p:cNvSpPr txBox="1"/>
          <p:nvPr/>
        </p:nvSpPr>
        <p:spPr>
          <a:xfrm>
            <a:off x="502920" y="73152"/>
            <a:ext cx="10332720" cy="384048"/>
          </a:xfrm>
          <a:noFill/>
          <a:ln>
            <a:noFill/>
          </a:ln>
          <a:prstGeom prst="rect">
            <a:avLst/>
          </a:prstGeom>
        </p:spPr>
        <p:txBody>
          <a:bodyPr wrap="square" lIns="9144" tIns="9144" rIns="9144" bIns="9144" anchor="mid"/>
          <a:lstStyle/>
          <a:p>
            <a:pPr algn="l">
              <a:buNone/>
              <a:lnSpc>
                <a:spcPct val="115000"/>
              </a:lnSpc>
            </a:pPr>
            <a:r>
              <a:rPr lang="vi-VN" sz="2000" b="1">
                <a:solidFill>
                  <a:srgbClr val="FFFFFF"/>
                </a:solidFill>
                <a:latin typeface="Arial"/>
                <a:cs typeface="Arial"/>
              </a:rPr>
              <a:t>Các bước sắp tới</a:t>
            </a:r>
          </a:p>
        </p:txBody>
      </p:sp>
      <p:sp>
        <p:nvSpPr>
          <p:cNvPr id="83" name="TextBox 83"/>
          <p:cNvSpPr txBox="1"/>
          <p:nvPr/>
        </p:nvSpPr>
        <p:spPr>
          <a:xfrm>
            <a:off x="10287000" y="91440"/>
            <a:ext cx="1371600" cy="320040"/>
          </a:xfrm>
          <a:noFill/>
          <a:ln>
            <a:noFill/>
          </a:ln>
          <a:prstGeom prst="rect">
            <a:avLst/>
          </a:prstGeom>
        </p:spPr>
        <p:txBody>
          <a:bodyPr wrap="square" lIns="9144" tIns="9144" rIns="9144" bIns="9144" anchor="mid"/>
          <a:lstStyle/>
          <a:p>
            <a:pPr algn="r">
              <a:buNone/>
              <a:lnSpc>
                <a:spcPct val="115000"/>
              </a:lnSpc>
            </a:pPr>
            <a:r>
              <a:rPr lang="vi-VN" sz="1050">
                <a:solidFill>
                  <a:srgbClr val="D6EAF8"/>
                </a:solidFill>
                <a:latin typeface="Arial"/>
                <a:cs typeface="Arial"/>
              </a:rPr>
              <a:t>Tiếp theo</a:t>
            </a:r>
          </a:p>
        </p:txBody>
      </p:sp>
      <p:sp>
        <p:nvSpPr>
          <p:cNvPr id="84" name="TextBox 84"/>
          <p:cNvSpPr txBox="1"/>
          <p:nvPr/>
        </p:nvSpPr>
        <p:spPr>
          <a:xfrm>
            <a:off x="777240" y="1005840"/>
            <a:ext cx="5074920" cy="150876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Chọn lát cắt ví dụ đầu tiên</a:t>
            </a:r>
          </a:p>
          <a:p>
            <a:pPr algn="l">
              <a:buNone/>
              <a:lnSpc>
                <a:spcPct val="115000"/>
              </a:lnSpc>
            </a:pPr>
            <a:r>
              <a:rPr lang="vi-VN" sz="1500">
                <a:solidFill>
                  <a:srgbClr val="17202A"/>
                </a:solidFill>
                <a:latin typeface="Arial"/>
                <a:cs typeface="Arial"/>
              </a:rPr>
              <a:t>Chọn một nhóm tình huống đại diện từ ma trận: đủ nhiệm vụ, mức nhận thức, chủ đề và dạng bài làm.</a:t>
            </a:r>
          </a:p>
        </p:txBody>
      </p:sp>
      <p:sp>
        <p:nvSpPr>
          <p:cNvPr id="85" name="TextBox 85"/>
          <p:cNvSpPr txBox="1"/>
          <p:nvPr/>
        </p:nvSpPr>
        <p:spPr>
          <a:xfrm>
            <a:off x="6309359" y="1005840"/>
            <a:ext cx="5074920" cy="150876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Viết ví dụ phiếu tác giả</a:t>
            </a:r>
          </a:p>
          <a:p>
            <a:pPr algn="l">
              <a:buNone/>
              <a:lnSpc>
                <a:spcPct val="115000"/>
              </a:lnSpc>
            </a:pPr>
            <a:r>
              <a:rPr lang="vi-VN" sz="1500">
                <a:solidFill>
                  <a:srgbClr val="17202A"/>
                </a:solidFill>
                <a:latin typeface="Arial"/>
                <a:cs typeface="Arial"/>
              </a:rPr>
              <a:t>Chuẩn bị mẫu điền hoàn chỉnh và một số ví dụ chưa tốt để giáo viên dễ hình dung.</a:t>
            </a:r>
          </a:p>
        </p:txBody>
      </p:sp>
      <p:sp>
        <p:nvSpPr>
          <p:cNvPr id="86" name="TextBox 86"/>
          <p:cNvSpPr txBox="1"/>
          <p:nvPr/>
        </p:nvSpPr>
        <p:spPr>
          <a:xfrm>
            <a:off x="777240" y="2971800"/>
            <a:ext cx="5074920" cy="150876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Gửi gói hướng dẫn cho HNMU</a:t>
            </a:r>
          </a:p>
          <a:p>
            <a:pPr algn="l">
              <a:buNone/>
              <a:lnSpc>
                <a:spcPct val="115000"/>
              </a:lnSpc>
            </a:pPr>
            <a:r>
              <a:rPr lang="vi-VN" sz="1500">
                <a:solidFill>
                  <a:srgbClr val="17202A"/>
                </a:solidFill>
                <a:latin typeface="Arial"/>
                <a:cs typeface="Arial"/>
              </a:rPr>
              <a:t>Chuyển thiết kế thành hướng dẫn thao tác bằng ngôn ngữ quen thuộc với giáo viên.</a:t>
            </a:r>
          </a:p>
        </p:txBody>
      </p:sp>
      <p:sp>
        <p:nvSpPr>
          <p:cNvPr id="87" name="TextBox 87"/>
          <p:cNvSpPr txBox="1"/>
          <p:nvPr/>
        </p:nvSpPr>
        <p:spPr>
          <a:xfrm>
            <a:off x="6309359" y="2971800"/>
            <a:ext cx="5074920" cy="1508760"/>
          </a:xfrm>
          <a:solidFill>
            <a:srgbClr val="FFFFFF"/>
          </a:solidFill>
          <a:ln w="9525">
            <a:solidFill>
              <a:srgbClr val="DDE7F0"/>
            </a:solidFill>
          </a:ln>
          <a:prstGeom prst="roundRect">
            <a:avLst/>
          </a:prstGeom>
        </p:spPr>
        <p:txBody>
          <a:bodyPr wrap="square" lIns="137160" tIns="137160" rIns="137160" bIns="137160" anchor="t"/>
          <a:lstStyle/>
          <a:p>
            <a:pPr algn="l">
              <a:buNone/>
              <a:lnSpc>
                <a:spcPct val="115000"/>
              </a:lnSpc>
            </a:pPr>
            <a:r>
              <a:rPr lang="vi-VN" sz="1900" b="1">
                <a:solidFill>
                  <a:srgbClr val="123A5D"/>
                </a:solidFill>
                <a:latin typeface="Arial"/>
                <a:cs typeface="Arial"/>
              </a:rPr>
              <a:t>Thu mẫu thử và rà soát</a:t>
            </a:r>
          </a:p>
          <a:p>
            <a:pPr algn="l">
              <a:buNone/>
              <a:lnSpc>
                <a:spcPct val="115000"/>
              </a:lnSpc>
            </a:pPr>
            <a:r>
              <a:rPr lang="vi-VN" sz="1500">
                <a:solidFill>
                  <a:srgbClr val="17202A"/>
                </a:solidFill>
                <a:latin typeface="Arial"/>
                <a:cs typeface="Arial"/>
              </a:rPr>
              <a:t>Phân tích mẫu do giáo viên tạo: lệch chỗ nào, thiếu dạng nào, tiêu chí chấm có rõ không.</a:t>
            </a:r>
          </a:p>
        </p:txBody>
      </p:sp>
      <p:sp>
        <p:nvSpPr>
          <p:cNvPr id="88" name="TextBox 88"/>
          <p:cNvSpPr txBox="1"/>
          <p:nvPr/>
        </p:nvSpPr>
        <p:spPr>
          <a:xfrm>
            <a:off x="777240" y="5349240"/>
            <a:ext cx="10607040" cy="640080"/>
          </a:xfrm>
          <a:solidFill>
            <a:srgbClr val="123A5D"/>
          </a:solidFill>
          <a:ln w="9525">
            <a:solidFill>
              <a:srgbClr val="123A5D"/>
            </a:solidFill>
          </a:ln>
          <a:prstGeom prst="roundRect">
            <a:avLst/>
          </a:prstGeom>
        </p:spPr>
        <p:txBody>
          <a:bodyPr wrap="square" lIns="91440" tIns="91440" rIns="91440" bIns="91440" anchor="mid"/>
          <a:lstStyle/>
          <a:p>
            <a:pPr algn="l">
              <a:buNone/>
              <a:lnSpc>
                <a:spcPct val="115000"/>
              </a:lnSpc>
            </a:pPr>
            <a:r>
              <a:rPr lang="vi-VN" sz="1600" b="1">
                <a:solidFill>
                  <a:srgbClr val="FFFFFF"/>
                </a:solidFill>
                <a:latin typeface="Arial"/>
                <a:cs typeface="Arial"/>
              </a:rPr>
              <a:t>Đề xuất nhịp làm việc: chốt nhanh bản đủ dùng → viết ví dụ → cho giáo viên thử → sửa theo phản hồi thực tế.</a:t>
            </a:r>
          </a:p>
        </p:txBody>
      </p:sp>
    </p:spTree>
  </p:cSld>
  <p:clrMapOvr>
    <a:masterClrMapping/>
  </p:clrMapOvr>
</p:sld>
</file>

<file path=ppt/theme/theme1.xml><?xml version="1.0" encoding="utf-8"?>
<a:theme xmlns:a="http://schemas.openxmlformats.org/drawingml/2006/main" name="Edu Benchmark Theme">
  <a:themeElements>
    <a:clrScheme name="Edu">
      <a:dk1>
        <a:srgbClr val="17202A"/>
      </a:dk1>
      <a:lt1>
        <a:srgbClr val="FFFFFF"/>
      </a:lt1>
      <a:dk2>
        <a:srgbClr val="123A5D"/>
      </a:dk2>
      <a:lt2>
        <a:srgbClr val="F7FAFC"/>
      </a:lt2>
      <a:accent1>
        <a:srgbClr val="1F77B4"/>
      </a:accent1>
      <a:accent2>
        <a:srgbClr val="2E7D32"/>
      </a:accent2>
      <a:accent3>
        <a:srgbClr val="F39C12"/>
      </a:accent3>
      <a:accent4>
        <a:srgbClr val="6C5CE7"/>
      </a:accent4>
      <a:accent5>
        <a:srgbClr val="C0392B"/>
      </a:accent5>
      <a:accent6>
        <a:srgbClr val="5F6B7A"/>
      </a:accent6>
      <a:hlink>
        <a:srgbClr val="1F77B4"/>
      </a:hlink>
      <a:folHlink>
        <a:srgbClr val="6C5CE7"/>
      </a:folHlink>
    </a:clrScheme>
    <a:fontScheme name="Arial">
      <a:majorFont>
        <a:latin typeface="Arial"/>
        <a:ea typeface="Arial"/>
        <a:cs typeface="Arial"/>
      </a:majorFont>
      <a:minorFont>
        <a:latin typeface="Arial"/>
        <a:ea typeface="Arial"/>
        <a:cs typeface="Arial"/>
      </a:minorFont>
    </a:fontScheme>
    <a:fmtScheme name="Edu">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Codex OpenXML generator</Application>
  <PresentationFormat>On-screen Show (16:9)</PresentationFormat>
  <Slides>10</Slides>
  <Notes>0</Notes>
  <HiddenSlides>0</HiddenSlides>
  <MMClips>0</MMClip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Cập nhật thiết kế bộ đánh giá gia sư AI môn Tin học 9</dc:title>
  <dc:creator>Codex</dc:creator>
  <cp:lastModifiedBy>Codex</cp:lastModifiedBy>
  <dcterms:created xsi:type="dcterms:W3CDTF">2026-07-06T16:23:19+07:00</dcterms:created>
  <dcterms:modified xsi:type="dcterms:W3CDTF">2026-07-06T16:23:19+07:00</dcterms:modified>
</cp:coreProperties>
</file>