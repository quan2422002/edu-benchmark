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502920" y="502920"/>
            <a:ext cx="11155680" cy="5806440"/>
          </a:xfrm>
          <a:solidFill>
            <a:srgbClr val="FFFFFF"/>
          </a:solidFill>
          <a:ln w="9525">
            <a:solidFill>
              <a:srgbClr val="FFFFFF"/>
            </a:solidFill>
          </a:ln>
          <a:prstGeom prst="roundRect">
            <a:avLst/>
          </a:prstGeom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14400" y="1051560"/>
            <a:ext cx="10287000" cy="1417320"/>
          </a:xfrm>
          <a:noFill/>
          <a:ln>
            <a:noFill/>
          </a:ln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>
              <a:buNone/>
              <a:lnSpc>
                <a:spcPct val="115000"/>
              </a:lnSpc>
            </a:pPr>
            <a:r>
              <a:rPr lang="vi-VN" sz="3400" b="1">
                <a:solidFill>
                  <a:srgbClr val="123A5D"/>
                </a:solidFill>
                <a:latin typeface="Arial"/>
                <a:cs typeface="Arial"/>
              </a:rPr>
              <a:t>Cập nhật thiết kế bộ đánh giá gia sư AI môn Tin học 9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2000">
                <a:solidFill>
                  <a:srgbClr val="5F6B7A"/>
                </a:solidFill>
                <a:latin typeface="Arial"/>
                <a:cs typeface="Arial"/>
              </a:rPr>
              <a:t>Tổng hợp tiến độ hiện tại và các bước sắp tới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3108960"/>
            <a:ext cx="9875520" cy="1097280"/>
          </a:xfrm>
          <a:solidFill>
            <a:srgbClr val="EAF4FF"/>
          </a:solidFill>
          <a:ln w="9525">
            <a:solidFill>
              <a:srgbClr val="CFE8FF"/>
            </a:solidFill>
          </a:ln>
          <a:prstGeom prst="roundRect">
            <a:avLst/>
          </a:prstGeom>
        </p:spPr>
        <p:txBody>
          <a:bodyPr wrap="square" lIns="164592" tIns="164592" rIns="164592" bIns="16459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7202A"/>
                </a:solidFill>
                <a:latin typeface="Arial"/>
                <a:cs typeface="Arial"/>
              </a:rPr>
              <a:t>Cuộc họp với giáo sư và thầy cô HNMU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800">
                <a:solidFill>
                  <a:srgbClr val="5F6B7A"/>
                </a:solidFill>
                <a:latin typeface="Arial"/>
                <a:cs typeface="Arial"/>
              </a:rPr>
              <a:t>Ngày 06/07/2026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5212080"/>
            <a:ext cx="9875520" cy="411480"/>
          </a:xfrm>
          <a:noFill/>
          <a:ln>
            <a:noFill/>
          </a:ln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123A5D"/>
                </a:solidFill>
                <a:latin typeface="Arial"/>
                <a:cs typeface="Arial"/>
              </a:rPr>
              <a:t>Trọng tâm: từ nền nghiên cứu và học liệu → khung nhiệm vụ, tiêu chí chấm, ma trận bao phủ → ví dụ cho giáo viên tạo dữ liệu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Mục tiêu của đợt thiết kế hiện tại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Tổng quan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1325880"/>
            <a:ext cx="3429000" cy="347472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Đánh giá “dạy tốt”, không chỉ “trả lời đúng”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Gia sư AI cần được xem ở cách hiểu học sinh, phản hồi, gợi ý, và giữ đúng mục tiêu học tập.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80560" y="1325880"/>
            <a:ext cx="3429000" cy="347472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Bó hẹp phạm vi để làm chắc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Phiên bản đầu tập trung vào môn Tin học lớp 9, lấy SGK Tin học 9 làm học liệu chủ đạo.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75320" y="1325880"/>
            <a:ext cx="3429000" cy="347472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Thiết kế để giáo viên tham gia được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Khung cần đủ rõ để thầy cô tạo mẫu, rà soát mẫu và góp ý mà không phải xử lý kỹ thuật.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1520" y="5303520"/>
            <a:ext cx="10698480" cy="594360"/>
          </a:xfrm>
          <a:solidFill>
            <a:srgbClr val="2E7D32"/>
          </a:solidFill>
          <a:ln w="9525">
            <a:solidFill>
              <a:srgbClr val="2E7D32"/>
            </a:solidFill>
          </a:ln>
          <a:prstGeom prst="roundRect">
            <a:avLst/>
          </a:prstGeom>
        </p:spPr>
        <p:txBody>
          <a:bodyPr wrap="square" lIns="109728" tIns="109728" rIns="109728" bIns="109728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700" b="1">
                <a:solidFill>
                  <a:srgbClr val="FFFFFF"/>
                </a:solidFill>
                <a:latin typeface="Arial"/>
                <a:cs typeface="Arial"/>
              </a:rPr>
              <a:t>Thông điệp chính: trước khi tạo nhiều dữ liệu, cần thống nhất “đang đánh giá năng lực gia sư nào” và “mẫu dữ liệu phải phủ những gì”.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Giai đoạn nền học liệu và sư phạm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5800" y="1005840"/>
            <a:ext cx="5303520" cy="42062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>
              <a:buNone/>
              <a:lnSpc>
                <a:spcPct val="115000"/>
              </a:lnSpc>
            </a:pPr>
            <a:r>
              <a:rPr lang="vi-VN" sz="2200" b="1">
                <a:solidFill>
                  <a:srgbClr val="123A5D"/>
                </a:solidFill>
                <a:latin typeface="Arial"/>
                <a:cs typeface="Arial"/>
              </a:rPr>
              <a:t>Học liệu chính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SGK Tin học 9 trên hệ thống tập huấn của Nhà xuất bản Giáo dục Việt Nam.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Tên chủ đề và bài học được lấy theo mục lục SGK Tin học 9.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Cần thầy cô rà soát lại tên chủ đề/bài học trước khi dùng chính thức.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63640" y="1005840"/>
            <a:ext cx="5120640" cy="42062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>
              <a:buNone/>
              <a:lnSpc>
                <a:spcPct val="115000"/>
              </a:lnSpc>
            </a:pPr>
            <a:r>
              <a:rPr lang="vi-VN" sz="2200" b="1">
                <a:solidFill>
                  <a:srgbClr val="123A5D"/>
                </a:solidFill>
                <a:latin typeface="Arial"/>
                <a:cs typeface="Arial"/>
              </a:rPr>
              <a:t>Tài liệu HNMU đã đưa vào thiết kế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Biểu hiện mức độ nhận thức Tin học.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Khung Dàn giáo – Hội thoại minh họa.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Tạm dùng ba mức nhận thức: Biết, Hiểu, Vận dụng.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Phương pháp giàn giáo được dùng để giải thích chất lượng hỗ trợ của gia sư.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7240" y="5532120"/>
            <a:ext cx="10515600" cy="457200"/>
          </a:xfrm>
          <a:solidFill>
            <a:srgbClr val="EAF4FF"/>
          </a:solidFill>
          <a:ln w="9525">
            <a:solidFill>
              <a:srgbClr val="CFE8FF"/>
            </a:solidFill>
          </a:ln>
          <a:prstGeom prst="roundRect">
            <a:avLst/>
          </a:prstGeom>
        </p:spPr>
        <p:txBody>
          <a:bodyPr wrap="square" lIns="82296" tIns="82296" rIns="82296" bIns="82296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123A5D"/>
                </a:solidFill>
                <a:latin typeface="Arial"/>
                <a:cs typeface="Arial"/>
              </a:rPr>
              <a:t>Kết quả: đã có nền học liệu đủ để bắt đầu thiết kế khung đánh giá, nhưng vẫn cần xác nhận chuyên môn từ HNMU.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Giai đoạn tổng hợp nghiên cứu nền tảng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7240" y="960120"/>
            <a:ext cx="10607040" cy="10058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28016" tIns="128016" rIns="128016" bIns="128016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MathTutorBench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50">
                <a:solidFill>
                  <a:srgbClr val="17202A"/>
                </a:solidFill>
                <a:latin typeface="Arial"/>
                <a:cs typeface="Arial"/>
              </a:rPr>
              <a:t>Tách năng lực giải đúng khỏi năng lực dạy tốt; nhấn mạnh hiểu trạng thái học sinh, vị trí lỗi, sửa lỗi và giàn giáo.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7240" y="2286000"/>
            <a:ext cx="10607040" cy="10058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28016" tIns="128016" rIns="128016" bIns="128016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KMP-Bench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50">
                <a:solidFill>
                  <a:srgbClr val="17202A"/>
                </a:solidFill>
                <a:latin typeface="Arial"/>
                <a:cs typeface="Arial"/>
              </a:rPr>
              <a:t>Nhấn mạnh quy trình từ lời giải sang phản hồi gia sư; coi xác minh của con người là bước quan trọng.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7240" y="3611880"/>
            <a:ext cx="10607040" cy="10058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28016" tIns="128016" rIns="128016" bIns="128016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123A5D"/>
                </a:solidFill>
                <a:latin typeface="Arial"/>
                <a:cs typeface="Arial"/>
              </a:rPr>
              <a:t>TutorBench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50">
                <a:solidFill>
                  <a:srgbClr val="17202A"/>
                </a:solidFill>
                <a:latin typeface="Arial"/>
                <a:cs typeface="Arial"/>
              </a:rPr>
              <a:t>Gợi ý ba hành vi gia sư lớn: giải thích thích ứng, phản hồi/đánh giá, hỗ trợ học tập chủ động.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7240" y="5166360"/>
            <a:ext cx="10607040" cy="731520"/>
          </a:xfrm>
          <a:solidFill>
            <a:srgbClr val="123A5D"/>
          </a:solidFill>
          <a:ln w="9525">
            <a:solidFill>
              <a:srgbClr val="123A5D"/>
            </a:solidFill>
          </a:ln>
          <a:prstGeom prst="roundRect">
            <a:avLst/>
          </a:prstGeom>
        </p:spPr>
        <p:txBody>
          <a:bodyPr wrap="square" lIns="109728" tIns="109728" rIns="109728" bIns="109728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FFFFFF"/>
                </a:solidFill>
                <a:latin typeface="Arial"/>
                <a:cs typeface="Arial"/>
              </a:rPr>
              <a:t>Kết luận thiết kế: mức nhận thức nói “học sinh đang xử lý nội dung sâu đến đâu”; còn nhiệm vụ gia sư nói “gia sư phải làm gì trong lượt hội thoại”. Hai phần này cần tách riêng.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Giai đoạn xây dựng khung nhiệm vụ gia sư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5800" y="1051560"/>
            <a:ext cx="5074920" cy="16002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Giải thích thích ứng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30">
                <a:solidFill>
                  <a:srgbClr val="17202A"/>
                </a:solidFill>
                <a:latin typeface="Arial"/>
                <a:cs typeface="Arial"/>
              </a:rPr>
              <a:t>Khi học sinh hỏi “là gì”, “vì sao”, “em chưa hiểu”… gia sư cần giải thích vừa sức.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17920" y="1051560"/>
            <a:ext cx="5074920" cy="16002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Phản hồi bài làm hoặc lập luận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30">
                <a:solidFill>
                  <a:srgbClr val="17202A"/>
                </a:solidFill>
                <a:latin typeface="Arial"/>
                <a:cs typeface="Arial"/>
              </a:rPr>
              <a:t>Khi học sinh đã làm/nói gì đó, gia sư cần chỉ ra đúng, sai, thiếu và hướng sửa.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5800" y="3108960"/>
            <a:ext cx="5074920" cy="16002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Gợi ý từng bước để học sinh tự đi tiếp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30">
                <a:solidFill>
                  <a:srgbClr val="17202A"/>
                </a:solidFill>
                <a:latin typeface="Arial"/>
                <a:cs typeface="Arial"/>
              </a:rPr>
              <a:t>Khi học sinh bị kẹt, gia sư cần hỗ trợ vừa đủ, tránh làm thay quá sớm.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17920" y="3108960"/>
            <a:ext cx="5074920" cy="16002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Chẩn đoán lỗi, hiểu lầm hoặc thiếu nền tảng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30">
                <a:solidFill>
                  <a:srgbClr val="17202A"/>
                </a:solidFill>
                <a:latin typeface="Arial"/>
                <a:cs typeface="Arial"/>
              </a:rPr>
              <a:t>Khi học sinh sai có hệ thống hoặc hỏi lệch vì thiếu nền, gia sư cần xác định bản chất vấn đề.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7240" y="5532120"/>
            <a:ext cx="10515600" cy="457200"/>
          </a:xfrm>
          <a:solidFill>
            <a:srgbClr val="FFF3E0"/>
          </a:solidFill>
          <a:ln w="9525">
            <a:solidFill>
              <a:srgbClr val="FFE0B2"/>
            </a:solidFill>
          </a:ln>
          <a:prstGeom prst="roundRect">
            <a:avLst/>
          </a:prstGeom>
        </p:spPr>
        <p:txBody>
          <a:bodyPr wrap="square" lIns="82296" tIns="82296" rIns="82296" bIns="82296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123A5D"/>
                </a:solidFill>
                <a:latin typeface="Arial"/>
                <a:cs typeface="Arial"/>
              </a:rPr>
              <a:t>Điểm cần xin ý kiến: tên gọi và ranh giới giữa các nhiệm vụ đã đủ dễ hiểu với giáo viên chưa?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hape 40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Giai đoạn xây dựng tiêu chí chấm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77240" y="914400"/>
            <a:ext cx="10607040" cy="64008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50" b="1">
                <a:solidFill>
                  <a:srgbClr val="123A5D"/>
                </a:solidFill>
                <a:latin typeface="Arial"/>
                <a:cs typeface="Arial"/>
              </a:rPr>
              <a:t>Chính xác kiến thức và bám học liệu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350">
                <a:solidFill>
                  <a:srgbClr val="5F6B7A"/>
                </a:solidFill>
                <a:latin typeface="Arial"/>
                <a:cs typeface="Arial"/>
              </a:rPr>
              <a:t>Nội dung có đúng theo SGK/học liệu Tin học 9 không?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77240" y="1737360"/>
            <a:ext cx="10607040" cy="64008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50" b="1">
                <a:solidFill>
                  <a:srgbClr val="123A5D"/>
                </a:solidFill>
                <a:latin typeface="Arial"/>
                <a:cs typeface="Arial"/>
              </a:rPr>
              <a:t>Hiểu đúng yêu cầu, trạng thái và lỗi của học sinh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350">
                <a:solidFill>
                  <a:srgbClr val="5F6B7A"/>
                </a:solidFill>
                <a:latin typeface="Arial"/>
                <a:cs typeface="Arial"/>
              </a:rPr>
              <a:t>Gia sư có đọc đúng học sinh đang cần gì, sai gì, kẹt ở đâu không?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7240" y="2560320"/>
            <a:ext cx="10607040" cy="64008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50" b="1">
                <a:solidFill>
                  <a:srgbClr val="123A5D"/>
                </a:solidFill>
                <a:latin typeface="Arial"/>
                <a:cs typeface="Arial"/>
              </a:rPr>
              <a:t>Chất lượng hỗ trợ sư phạm/giàn giáo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350">
                <a:solidFill>
                  <a:srgbClr val="5F6B7A"/>
                </a:solidFill>
                <a:latin typeface="Arial"/>
                <a:cs typeface="Arial"/>
              </a:rPr>
              <a:t>Gia sư có hỗ trợ vừa sức, đúng lúc, giúp học sinh học tiếp không?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77240" y="3383280"/>
            <a:ext cx="10607040" cy="64008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50" b="1">
                <a:solidFill>
                  <a:srgbClr val="123A5D"/>
                </a:solidFill>
                <a:latin typeface="Arial"/>
                <a:cs typeface="Arial"/>
              </a:rPr>
              <a:t>Bám đúng mục tiêu, yêu cầu và phạm vi Tin học 9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350">
                <a:solidFill>
                  <a:srgbClr val="5F6B7A"/>
                </a:solidFill>
                <a:latin typeface="Arial"/>
                <a:cs typeface="Arial"/>
              </a:rPr>
              <a:t>Gia sư có tránh lan man, đổi mục tiêu hoặc đi quá xa phạm vi không?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77240" y="4206240"/>
            <a:ext cx="10607040" cy="64008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50" b="1">
                <a:solidFill>
                  <a:srgbClr val="123A5D"/>
                </a:solidFill>
                <a:latin typeface="Arial"/>
                <a:cs typeface="Arial"/>
              </a:rPr>
              <a:t>An toàn, đạo đức và pháp lý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350">
                <a:solidFill>
                  <a:srgbClr val="5F6B7A"/>
                </a:solidFill>
                <a:latin typeface="Arial"/>
                <a:cs typeface="Arial"/>
              </a:rPr>
              <a:t>Gia sư có tránh nội dung không phù hợp, gian lận, gây hại hoặc vi phạm pháp luật không?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77240" y="5440680"/>
            <a:ext cx="10607040" cy="502920"/>
          </a:xfrm>
          <a:solidFill>
            <a:srgbClr val="2E7D32"/>
          </a:solidFill>
          <a:ln w="9525">
            <a:solidFill>
              <a:srgbClr val="2E7D32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550" b="1">
                <a:solidFill>
                  <a:srgbClr val="FFFFFF"/>
                </a:solidFill>
                <a:latin typeface="Arial"/>
                <a:cs typeface="Arial"/>
              </a:rPr>
              <a:t>Cách chấm dự kiến: thang 1–5, từ “rất kém” đến “rất tốt”; mô tả chi tiết cần thầy cô rà soát trước khi dùng chính thức.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50" name="Shape 50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Giai đoạn lập ma trận bao phủ tổng quát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40080" y="914400"/>
            <a:ext cx="1920240" cy="12344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3200" b="1">
                <a:solidFill>
                  <a:srgbClr val="1F77B4"/>
                </a:solidFill>
                <a:latin typeface="Arial"/>
                <a:cs typeface="Arial"/>
              </a:rPr>
              <a:t>4</a:t>
            </a:r>
          </a:p>
          <a:p>
            <a:pPr algn="ctr">
              <a:buNone/>
              <a:lnSpc>
                <a:spcPct val="115000"/>
              </a:lnSpc>
            </a:pPr>
            <a:r>
              <a:rPr lang="vi-VN" sz="1250">
                <a:solidFill>
                  <a:srgbClr val="17202A"/>
                </a:solidFill>
                <a:latin typeface="Arial"/>
                <a:cs typeface="Arial"/>
              </a:rPr>
              <a:t>nhiệm vụ gia sư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907791" y="914400"/>
            <a:ext cx="1920240" cy="12344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3200" b="1">
                <a:solidFill>
                  <a:srgbClr val="1F77B4"/>
                </a:solidFill>
                <a:latin typeface="Arial"/>
                <a:cs typeface="Arial"/>
              </a:rPr>
              <a:t>3</a:t>
            </a:r>
          </a:p>
          <a:p>
            <a:pPr algn="ctr">
              <a:buNone/>
              <a:lnSpc>
                <a:spcPct val="115000"/>
              </a:lnSpc>
            </a:pPr>
            <a:r>
              <a:rPr lang="vi-VN" sz="1250">
                <a:solidFill>
                  <a:srgbClr val="17202A"/>
                </a:solidFill>
                <a:latin typeface="Arial"/>
                <a:cs typeface="Arial"/>
              </a:rPr>
              <a:t>mức nhận thức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175504" y="914400"/>
            <a:ext cx="1920240" cy="12344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3200" b="1">
                <a:solidFill>
                  <a:srgbClr val="1F77B4"/>
                </a:solidFill>
                <a:latin typeface="Arial"/>
                <a:cs typeface="Arial"/>
              </a:rPr>
              <a:t>8</a:t>
            </a:r>
          </a:p>
          <a:p>
            <a:pPr algn="ctr">
              <a:buNone/>
              <a:lnSpc>
                <a:spcPct val="115000"/>
              </a:lnSpc>
            </a:pPr>
            <a:r>
              <a:rPr lang="vi-VN" sz="1250">
                <a:solidFill>
                  <a:srgbClr val="17202A"/>
                </a:solidFill>
                <a:latin typeface="Arial"/>
                <a:cs typeface="Arial"/>
              </a:rPr>
              <a:t>cụm chủ đề SGK Tin học 9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43215" y="914400"/>
            <a:ext cx="1920240" cy="12344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3200" b="1">
                <a:solidFill>
                  <a:srgbClr val="1F77B4"/>
                </a:solidFill>
                <a:latin typeface="Arial"/>
                <a:cs typeface="Arial"/>
              </a:rPr>
              <a:t>9</a:t>
            </a:r>
          </a:p>
          <a:p>
            <a:pPr algn="ctr">
              <a:buNone/>
              <a:lnSpc>
                <a:spcPct val="115000"/>
              </a:lnSpc>
            </a:pPr>
            <a:r>
              <a:rPr lang="vi-VN" sz="1250">
                <a:solidFill>
                  <a:srgbClr val="17202A"/>
                </a:solidFill>
                <a:latin typeface="Arial"/>
                <a:cs typeface="Arial"/>
              </a:rPr>
              <a:t>dạng bài làm của học sinh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710928" y="914400"/>
            <a:ext cx="1920240" cy="12344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3200" b="1">
                <a:solidFill>
                  <a:srgbClr val="1F77B4"/>
                </a:solidFill>
                <a:latin typeface="Arial"/>
                <a:cs typeface="Arial"/>
              </a:rPr>
              <a:t>96</a:t>
            </a:r>
          </a:p>
          <a:p>
            <a:pPr algn="ctr">
              <a:buNone/>
              <a:lnSpc>
                <a:spcPct val="115000"/>
              </a:lnSpc>
            </a:pPr>
            <a:r>
              <a:rPr lang="vi-VN" sz="1250">
                <a:solidFill>
                  <a:srgbClr val="17202A"/>
                </a:solidFill>
                <a:latin typeface="Arial"/>
                <a:cs typeface="Arial"/>
              </a:rPr>
              <a:t>ô bao phủ thiết kế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77240" y="2514600"/>
            <a:ext cx="10607040" cy="205740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2200" b="1">
                <a:solidFill>
                  <a:srgbClr val="123A5D"/>
                </a:solidFill>
                <a:latin typeface="Arial"/>
                <a:cs typeface="Arial"/>
              </a:rPr>
              <a:t>Vì sao cần ma trận?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Nếu đi thẳng vào một số mẫu cố định, bộ dữ liệu rất dễ lệch về câu hỏi lý thuyết, lập trình, hoặc một chủ đề dễ viết.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Ma trận giúp chọn mẫu có chủ đích: đủ nhiệm vụ gia sư, mức nhận thức, chủ đề SGK và dạng bài học sinh.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600">
                <a:solidFill>
                  <a:srgbClr val="17202A"/>
                </a:solidFill>
                <a:latin typeface="Arial"/>
                <a:cs typeface="Arial"/>
              </a:rPr>
              <a:t>96 ô là bản đồ thiết kế, không phải yêu cầu phải tạo 96 mẫu ngay.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77240" y="5074920"/>
            <a:ext cx="10607040" cy="731520"/>
          </a:xfrm>
          <a:solidFill>
            <a:srgbClr val="123A5D"/>
          </a:solidFill>
          <a:ln w="9525">
            <a:solidFill>
              <a:srgbClr val="123A5D"/>
            </a:solidFill>
          </a:ln>
          <a:prstGeom prst="roundRect">
            <a:avLst/>
          </a:prstGeom>
        </p:spPr>
        <p:txBody>
          <a:bodyPr wrap="square" lIns="109728" tIns="109728" rIns="109728" bIns="109728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FFFFFF"/>
                </a:solidFill>
                <a:latin typeface="Arial"/>
                <a:cs typeface="Arial"/>
              </a:rPr>
              <a:t>Cách dùng sắp tới: chọn một lát cắt nhỏ nhưng đại diện để viết ví dụ phiếu tác giả và chạy thử với giáo viên.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62" name="TextBox 62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Dạng bài làm của học sinh đã được đưa vào ma trận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Đã làm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40080" y="914400"/>
            <a:ext cx="3474720" cy="960120"/>
          </a:xfrm>
          <a:solidFill>
            <a:srgbClr val="EAF4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Câu hỏi hoặc nhận định khái niệm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480560" y="914400"/>
            <a:ext cx="3474720" cy="960120"/>
          </a:xfrm>
          <a:solidFill>
            <a:srgbClr val="EAF6ED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Đáp án trắc nghiệm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21040" y="914400"/>
            <a:ext cx="3474720" cy="960120"/>
          </a:xfrm>
          <a:solidFill>
            <a:srgbClr val="FFF3E0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Câu trả lời tự luận hoặc lập luận ngắn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40080" y="2240280"/>
            <a:ext cx="3474720" cy="960120"/>
          </a:xfrm>
          <a:solidFill>
            <a:srgbClr val="EAF4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Bài làm cần phản hồi hoặc sửa lỗi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480560" y="2240280"/>
            <a:ext cx="3474720" cy="960120"/>
          </a:xfrm>
          <a:solidFill>
            <a:srgbClr val="EAF6ED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Đoạn mã Python hoặc chương trình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321040" y="2240280"/>
            <a:ext cx="3474720" cy="960120"/>
          </a:xfrm>
          <a:solidFill>
            <a:srgbClr val="FFF3E0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Thuật toán hoặc mô tả bước giải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40080" y="3566160"/>
            <a:ext cx="3474720" cy="960120"/>
          </a:xfrm>
          <a:solidFill>
            <a:srgbClr val="EAF4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Bảng tính, công thức hoặc hàm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480560" y="3566160"/>
            <a:ext cx="3474720" cy="960120"/>
          </a:xfrm>
          <a:solidFill>
            <a:srgbClr val="EAF6ED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Thao tác công cụ hoặc sản phẩm số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321040" y="3566160"/>
            <a:ext cx="3474720" cy="960120"/>
          </a:xfrm>
          <a:solidFill>
            <a:srgbClr val="FFF3E0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ctr">
              <a:buNone/>
              <a:lnSpc>
                <a:spcPct val="115000"/>
              </a:lnSpc>
            </a:pPr>
            <a:r>
              <a:rPr lang="vi-VN" sz="1520" b="1">
                <a:solidFill>
                  <a:srgbClr val="17202A"/>
                </a:solidFill>
                <a:latin typeface="Arial"/>
                <a:cs typeface="Arial"/>
              </a:rPr>
              <a:t>Tình huống đạo đức, pháp luật hoặc văn hoá số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77240" y="5349240"/>
            <a:ext cx="10607040" cy="594360"/>
          </a:xfrm>
          <a:solidFill>
            <a:srgbClr val="2E7D32"/>
          </a:solidFill>
          <a:ln w="9525">
            <a:solidFill>
              <a:srgbClr val="2E7D32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550" b="1">
                <a:solidFill>
                  <a:srgbClr val="FFFFFF"/>
                </a:solidFill>
                <a:latin typeface="Arial"/>
                <a:cs typeface="Arial"/>
              </a:rPr>
              <a:t>Ý nghĩa: cùng một nhiệm vụ gia sư có thể cần xử lý nhiều loại bài làm khác nhau; vì vậy dữ liệu thử nghiệm không nên chỉ có một kiểu câu hỏi.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75" name="Shape 75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76" name="TextBox 76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Những điểm cần thầy cô và giáo sư góp ý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Cần quyết định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77240" y="914400"/>
            <a:ext cx="10607040" cy="420624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64592" tIns="164592" rIns="164592" bIns="164592" anchor="t"/>
          <a:lstStyle/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Bốn nhiệm vụ gia sư hiện tại đã bao phủ đúng các tình huống dạy học thường gặp chưa?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Năm tiêu chí chấm đã đủ gọn, đủ phân biệt và đủ dễ dùng cho giáo viên chưa?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Tên chủ đề/bài học lấy theo mục lục SGK Tin học 9 có cần chỉnh lại cho chuẩn sư phạm không?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Trong đợt thử nghiệm đầu, nên ưu tiên dạng bài làm nào của học sinh?</a:t>
            </a:r>
          </a:p>
          <a:p>
            <a:pPr algn="l" marL="342900" indent="-228600">
              <a:buChar char="•"/>
              <a:lnSpc>
                <a:spcPct val="115000"/>
              </a:lnSpc>
            </a:pPr>
            <a:r>
              <a:rPr lang="vi-VN" sz="1700">
                <a:solidFill>
                  <a:srgbClr val="17202A"/>
                </a:solidFill>
                <a:latin typeface="Arial"/>
                <a:cs typeface="Arial"/>
              </a:rPr>
              <a:t>Với câu hỏi lệch phạm vi hoặc học sinh thiếu nền tảng, gia sư nên hướng học sinh quay lại chủ đề như thế nào?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77240" y="5440680"/>
            <a:ext cx="10607040" cy="502920"/>
          </a:xfrm>
          <a:solidFill>
            <a:srgbClr val="F39C12"/>
          </a:solidFill>
          <a:ln w="9525">
            <a:solidFill>
              <a:srgbClr val="F39C12"/>
            </a:solidFill>
          </a:ln>
          <a:prstGeom prst="roundRect">
            <a:avLst/>
          </a:prstGeom>
        </p:spPr>
        <p:txBody>
          <a:bodyPr wrap="square" lIns="73152" tIns="73152" rIns="73152" bIns="73152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550" b="1">
                <a:solidFill>
                  <a:srgbClr val="FFFFFF"/>
                </a:solidFill>
                <a:latin typeface="Arial"/>
                <a:cs typeface="Arial"/>
              </a:rPr>
              <a:t>Mục tiêu của cuộc họp: không cần chốt mọi chi tiết, nhưng cần đủ thống nhất để chuyển sang viết ví dụ và giao giáo viên tạo mẫu thử.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/>
        </p:nvSpPr>
        <p:spPr>
          <a:xfrm>
            <a:off x="0" y="0"/>
            <a:ext cx="12192000" cy="6858000"/>
          </a:xfrm>
          <a:solidFill>
            <a:srgbClr val="F7FAFC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81" name="Shape 81"/>
          <p:cNvSpPr/>
          <p:nvPr/>
        </p:nvSpPr>
        <p:spPr>
          <a:xfrm>
            <a:off x="0" y="0"/>
            <a:ext cx="12192000" cy="502920"/>
          </a:xfrm>
          <a:solidFill>
            <a:srgbClr val="123A5D"/>
          </a:solidFill>
          <a:ln>
            <a:noFill/>
          </a:ln>
          <a:prstGeom prst="rect">
            <a:avLst/>
          </a:prstGeom>
        </p:spPr>
        <p:txBody>
          <a:bodyPr/>
          <a:lstStyle/>
          <a:p/>
        </p:txBody>
      </p:sp>
      <p:sp>
        <p:nvSpPr>
          <p:cNvPr id="82" name="TextBox 82"/>
          <p:cNvSpPr txBox="1"/>
          <p:nvPr/>
        </p:nvSpPr>
        <p:spPr>
          <a:xfrm>
            <a:off x="502920" y="73152"/>
            <a:ext cx="10332720" cy="384048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l">
              <a:buNone/>
              <a:lnSpc>
                <a:spcPct val="115000"/>
              </a:lnSpc>
            </a:pPr>
            <a:r>
              <a:rPr lang="vi-VN" sz="2000" b="1">
                <a:solidFill>
                  <a:srgbClr val="FFFFFF"/>
                </a:solidFill>
                <a:latin typeface="Arial"/>
                <a:cs typeface="Arial"/>
              </a:rPr>
              <a:t>Các bước sắp tới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287000" y="91440"/>
            <a:ext cx="1371600" cy="320040"/>
          </a:xfrm>
          <a:noFill/>
          <a:ln>
            <a:noFill/>
          </a:ln>
          <a:prstGeom prst="rect">
            <a:avLst/>
          </a:prstGeom>
        </p:spPr>
        <p:txBody>
          <a:bodyPr wrap="square" lIns="9144" tIns="9144" rIns="9144" bIns="9144" anchor="mid"/>
          <a:lstStyle/>
          <a:p>
            <a:pPr algn="r">
              <a:buNone/>
              <a:lnSpc>
                <a:spcPct val="115000"/>
              </a:lnSpc>
            </a:pPr>
            <a:r>
              <a:rPr lang="vi-VN" sz="1050">
                <a:solidFill>
                  <a:srgbClr val="D6EAF8"/>
                </a:solidFill>
                <a:latin typeface="Arial"/>
                <a:cs typeface="Arial"/>
              </a:rPr>
              <a:t>Tiếp theo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77240" y="1005840"/>
            <a:ext cx="5074920" cy="150876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Chọn lát cắt ví dụ đầu tiên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00">
                <a:solidFill>
                  <a:srgbClr val="17202A"/>
                </a:solidFill>
                <a:latin typeface="Arial"/>
                <a:cs typeface="Arial"/>
              </a:rPr>
              <a:t>Chọn một nhóm tình huống đại diện từ ma trận: đủ nhiệm vụ, mức nhận thức, chủ đề và dạng bài làm.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309359" y="1005840"/>
            <a:ext cx="5074920" cy="150876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Viết ví dụ phiếu tác giả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00">
                <a:solidFill>
                  <a:srgbClr val="17202A"/>
                </a:solidFill>
                <a:latin typeface="Arial"/>
                <a:cs typeface="Arial"/>
              </a:rPr>
              <a:t>Chuẩn bị mẫu điền hoàn chỉnh và một số ví dụ chưa tốt để giáo viên dễ hình dung.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77240" y="2971800"/>
            <a:ext cx="5074920" cy="150876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Gửi gói hướng dẫn cho HNMU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00">
                <a:solidFill>
                  <a:srgbClr val="17202A"/>
                </a:solidFill>
                <a:latin typeface="Arial"/>
                <a:cs typeface="Arial"/>
              </a:rPr>
              <a:t>Chuyển thiết kế thành hướng dẫn thao tác bằng ngôn ngữ quen thuộc với giáo viên.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309359" y="2971800"/>
            <a:ext cx="5074920" cy="1508760"/>
          </a:xfrm>
          <a:solidFill>
            <a:srgbClr val="FFFFFF"/>
          </a:solidFill>
          <a:ln w="9525">
            <a:solidFill>
              <a:srgbClr val="DDE7F0"/>
            </a:solidFill>
          </a:ln>
          <a:prstGeom prst="roundRect">
            <a:avLst/>
          </a:prstGeom>
        </p:spPr>
        <p:txBody>
          <a:bodyPr wrap="square" lIns="137160" tIns="137160" rIns="137160" bIns="137160" anchor="t"/>
          <a:lstStyle/>
          <a:p>
            <a:pPr algn="l">
              <a:buNone/>
              <a:lnSpc>
                <a:spcPct val="115000"/>
              </a:lnSpc>
            </a:pPr>
            <a:r>
              <a:rPr lang="vi-VN" sz="1900" b="1">
                <a:solidFill>
                  <a:srgbClr val="123A5D"/>
                </a:solidFill>
                <a:latin typeface="Arial"/>
                <a:cs typeface="Arial"/>
              </a:rPr>
              <a:t>Thu mẫu thử và rà soát</a:t>
            </a:r>
          </a:p>
          <a:p>
            <a:pPr algn="l">
              <a:buNone/>
              <a:lnSpc>
                <a:spcPct val="115000"/>
              </a:lnSpc>
            </a:pPr>
            <a:r>
              <a:rPr lang="vi-VN" sz="1500">
                <a:solidFill>
                  <a:srgbClr val="17202A"/>
                </a:solidFill>
                <a:latin typeface="Arial"/>
                <a:cs typeface="Arial"/>
              </a:rPr>
              <a:t>Phân tích mẫu do giáo viên tạo: lệch chỗ nào, thiếu dạng nào, tiêu chí chấm có rõ không.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77240" y="5349240"/>
            <a:ext cx="10607040" cy="640080"/>
          </a:xfrm>
          <a:solidFill>
            <a:srgbClr val="123A5D"/>
          </a:solidFill>
          <a:ln w="9525">
            <a:solidFill>
              <a:srgbClr val="123A5D"/>
            </a:solidFill>
          </a:ln>
          <a:prstGeom prst="roundRect">
            <a:avLst/>
          </a:prstGeom>
        </p:spPr>
        <p:txBody>
          <a:bodyPr wrap="square" lIns="91440" tIns="91440" rIns="91440" bIns="91440" anchor="mid"/>
          <a:lstStyle/>
          <a:p>
            <a:pPr algn="l">
              <a:buNone/>
              <a:lnSpc>
                <a:spcPct val="115000"/>
              </a:lnSpc>
            </a:pPr>
            <a:r>
              <a:rPr lang="vi-VN" sz="1600" b="1">
                <a:solidFill>
                  <a:srgbClr val="FFFFFF"/>
                </a:solidFill>
                <a:latin typeface="Arial"/>
                <a:cs typeface="Arial"/>
              </a:rPr>
              <a:t>Đề xuất nhịp làm việc: chốt nhanh bản đủ dùng → viết ví dụ → cho giáo viên thử → sửa theo phản hồi thực tế.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 Benchmark Theme">
  <a:themeElements>
    <a:clrScheme name="Edu">
      <a:dk1>
        <a:srgbClr val="17202A"/>
      </a:dk1>
      <a:lt1>
        <a:srgbClr val="FFFFFF"/>
      </a:lt1>
      <a:dk2>
        <a:srgbClr val="123A5D"/>
      </a:dk2>
      <a:lt2>
        <a:srgbClr val="F7FAFC"/>
      </a:lt2>
      <a:accent1>
        <a:srgbClr val="1F77B4"/>
      </a:accent1>
      <a:accent2>
        <a:srgbClr val="2E7D32"/>
      </a:accent2>
      <a:accent3>
        <a:srgbClr val="F39C12"/>
      </a:accent3>
      <a:accent4>
        <a:srgbClr val="6C5CE7"/>
      </a:accent4>
      <a:accent5>
        <a:srgbClr val="C0392B"/>
      </a:accent5>
      <a:accent6>
        <a:srgbClr val="5F6B7A"/>
      </a:accent6>
      <a:hlink>
        <a:srgbClr val="1F77B4"/>
      </a:hlink>
      <a:folHlink>
        <a:srgbClr val="6C5CE7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Edu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PresentationFormat>On-screen Show (16:9)</PresentationFormat>
  <Slides>10</Slides>
  <Notes>0</Notes>
  <HiddenSlides>0</HiddenSlides>
  <MMClips>0</MMClip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Cập nhật thiết kế bộ đánh giá gia sư AI môn Tin học 9</dc:title>
  <dc:creator>Codex</dc:creator>
  <cp:lastModifiedBy>Codex</cp:lastModifiedBy>
  <dcterms:created xsi:type="dcterms:W3CDTF">2026-07-06T16:23:19+07:00</dcterms:created>
  <dcterms:modified xsi:type="dcterms:W3CDTF">2026-07-06T16:23:19+07:00</dcterms:modified>
</cp:coreProperties>
</file>