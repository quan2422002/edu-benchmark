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7" r:id="rId2"/>
    <p:sldId id="258" r:id="rId8"/>
    <p:sldId id="259" r:id="rId9"/>
    <p:sldId id="260" r:id="rId10"/>
    <p:sldId id="261" r:id="rId11"/>
    <p:sldId id="262" r:id="rId12"/>
    <p:sldId id="263" r:id="rId13"/>
    <p:sldId id="264"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86" d="100"/>
          <a:sy n="86" d="100"/>
        </p:scale>
        <p:origin x="66" y="1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468901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249625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59698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266652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6915F9-31EB-414A-BAFF-E677662AA384}" type="datetimeFigureOut">
              <a:rPr lang="en-US" smtClean="0"/>
              <a:t>21-Mar-19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400450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6915F9-31EB-414A-BAFF-E677662AA384}" type="datetimeFigureOut">
              <a:rPr lang="en-US" smtClean="0"/>
              <a:t>21-Mar-19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92719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915F9-31EB-414A-BAFF-E677662AA384}" type="datetimeFigureOut">
              <a:rPr lang="en-US" smtClean="0"/>
              <a:t>21-Mar-19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845899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676784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207580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17529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20597712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915F9-31EB-414A-BAFF-E677662AA384}" type="datetimeFigureOut">
              <a:rPr lang="en-US" smtClean="0"/>
              <a:t>21-Mar-19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49FC3-97F2-48A5-B07F-E4AE95278E0E}" type="slidenum">
              <a:rPr lang="en-US" smtClean="0"/>
              <a:t>‹#›</a:t>
            </a:fld>
            <a:endParaRPr lang="en-US"/>
          </a:p>
        </p:txBody>
      </p:sp>
    </p:spTree>
    <p:extLst>
      <p:ext uri="{BB962C8B-B14F-4D97-AF65-F5344CB8AC3E}">
        <p14:creationId xmlns:p14="http://schemas.microsoft.com/office/powerpoint/2010/main" val="2090370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1325880"/>
            <a:ext cx="9418320" cy="1325880"/>
          </a:xfrm>
          <a:prstGeom prst="rect">
            <a:avLst/>
          </a:prstGeom>
          <a:noFill/>
        </p:spPr>
        <p:txBody>
          <a:bodyPr wrap="square" lIns="54864" rIns="54864" tIns="54864" bIns="54864" anchor="ctr">
            <a:spAutoFit/>
          </a:bodyPr>
          <a:lstStyle/>
          <a:p>
            <a:pPr algn="l">
              <a:lnSpc>
                <a:spcPct val="100000"/>
              </a:lnSpc>
            </a:pPr>
            <a:r>
              <a:rPr sz="3000" b="1">
                <a:solidFill>
                  <a:srgbClr val="183D70"/>
                </a:solidFill>
                <a:latin typeface="Arial"/>
              </a:rPr>
              <a:t>Từ hội thoại kiểu mẫu của giáo viên
đến benchmark gia sư AI</a:t>
            </a:r>
          </a:p>
        </p:txBody>
      </p:sp>
      <p:sp>
        <p:nvSpPr>
          <p:cNvPr id="3" name="TextBox 2"/>
          <p:cNvSpPr txBox="1"/>
          <p:nvPr/>
        </p:nvSpPr>
        <p:spPr>
          <a:xfrm>
            <a:off x="822960" y="2880360"/>
            <a:ext cx="9052560" cy="685800"/>
          </a:xfrm>
          <a:prstGeom prst="rect">
            <a:avLst/>
          </a:prstGeom>
          <a:noFill/>
        </p:spPr>
        <p:txBody>
          <a:bodyPr wrap="square" lIns="54864" rIns="54864" tIns="54864" bIns="54864" anchor="t">
            <a:spAutoFit/>
          </a:bodyPr>
          <a:lstStyle/>
          <a:p>
            <a:pPr algn="l">
              <a:lnSpc>
                <a:spcPct val="100000"/>
              </a:lnSpc>
            </a:pPr>
            <a:r>
              <a:rPr sz="1900" b="0">
                <a:solidFill>
                  <a:srgbClr val="008B93"/>
                </a:solidFill>
                <a:latin typeface="Arial"/>
              </a:rPr>
              <a:t>Đề xuất quy trình ánh xạ dữ liệu, bổ sung thông tin và đánh giá phản hồi mô hình</a:t>
            </a:r>
          </a:p>
        </p:txBody>
      </p:sp>
      <p:sp>
        <p:nvSpPr>
          <p:cNvPr id="4" name="Rounded Rectangle 3"/>
          <p:cNvSpPr/>
          <p:nvPr/>
        </p:nvSpPr>
        <p:spPr>
          <a:xfrm>
            <a:off x="822960" y="3931920"/>
            <a:ext cx="2148840" cy="384048"/>
          </a:xfrm>
          <a:prstGeom prst="roundRect">
            <a:avLst/>
          </a:prstGeom>
          <a:solidFill>
            <a:srgbClr val="E8F6EC"/>
          </a:solidFill>
          <a:ln>
            <a:solidFill>
              <a:srgbClr val="E8F6EC"/>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300" b="1">
                <a:solidFill>
                  <a:srgbClr val="379B5C"/>
                </a:solidFill>
                <a:latin typeface="Arial"/>
              </a:rPr>
              <a:t>Dữ liệu giữ nguyên văn</a:t>
            </a:r>
          </a:p>
        </p:txBody>
      </p:sp>
      <p:sp>
        <p:nvSpPr>
          <p:cNvPr id="5" name="Rounded Rectangle 4"/>
          <p:cNvSpPr/>
          <p:nvPr/>
        </p:nvSpPr>
        <p:spPr>
          <a:xfrm>
            <a:off x="3154680" y="3931920"/>
            <a:ext cx="2331720" cy="384048"/>
          </a:xfrm>
          <a:prstGeom prst="roundRect">
            <a:avLst/>
          </a:prstGeom>
          <a:solidFill>
            <a:srgbClr val="E2F3FA"/>
          </a:solidFill>
          <a:ln>
            <a:solidFill>
              <a:srgbClr val="E2F3FA"/>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300" b="1">
                <a:solidFill>
                  <a:srgbClr val="183D70"/>
                </a:solidFill>
                <a:latin typeface="Arial"/>
              </a:rPr>
              <a:t>Truy vết từng lượt</a:t>
            </a:r>
          </a:p>
        </p:txBody>
      </p:sp>
      <p:sp>
        <p:nvSpPr>
          <p:cNvPr id="6" name="Rounded Rectangle 5"/>
          <p:cNvSpPr/>
          <p:nvPr/>
        </p:nvSpPr>
        <p:spPr>
          <a:xfrm>
            <a:off x="5669280" y="3931920"/>
            <a:ext cx="2606040" cy="384048"/>
          </a:xfrm>
          <a:prstGeom prst="roundRect">
            <a:avLst/>
          </a:prstGeom>
          <a:solidFill>
            <a:srgbClr val="FDF2E0"/>
          </a:solidFill>
          <a:ln>
            <a:solidFill>
              <a:srgbClr val="FDF2E0"/>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300" b="1">
                <a:solidFill>
                  <a:srgbClr val="EB8E2E"/>
                </a:solidFill>
                <a:latin typeface="Arial"/>
              </a:rPr>
              <a:t>Con người giữ quyền duyệt</a:t>
            </a:r>
          </a:p>
        </p:txBody>
      </p:sp>
      <p:sp>
        <p:nvSpPr>
          <p:cNvPr id="7" name="TextBox 6"/>
          <p:cNvSpPr txBox="1"/>
          <p:nvPr/>
        </p:nvSpPr>
        <p:spPr>
          <a:xfrm>
            <a:off x="841248" y="4800600"/>
            <a:ext cx="6675120" cy="502920"/>
          </a:xfrm>
          <a:prstGeom prst="rect">
            <a:avLst/>
          </a:prstGeom>
          <a:noFill/>
        </p:spPr>
        <p:txBody>
          <a:bodyPr wrap="square" lIns="54864" rIns="54864" tIns="54864" bIns="54864" anchor="t">
            <a:spAutoFit/>
          </a:bodyPr>
          <a:lstStyle/>
          <a:p>
            <a:pPr algn="l">
              <a:lnSpc>
                <a:spcPct val="100000"/>
              </a:lnSpc>
            </a:pPr>
            <a:r>
              <a:rPr sz="1400" b="0">
                <a:solidFill>
                  <a:srgbClr val="586573"/>
                </a:solidFill>
                <a:latin typeface="Arial"/>
              </a:rPr>
              <a:t>Trao đổi UET – CMC – HNMU • 09/07/2026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BỐI CẢNH</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Điểm thay đổi: HNMU tập trung vào nội dung sư phạm</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2</a:t>
            </a:r>
          </a:p>
        </p:txBody>
      </p:sp>
      <p:sp>
        <p:nvSpPr>
          <p:cNvPr id="6" name="Rounded Rectangle 5"/>
          <p:cNvSpPr/>
          <p:nvPr/>
        </p:nvSpPr>
        <p:spPr>
          <a:xfrm>
            <a:off x="685800" y="1600200"/>
            <a:ext cx="3154680" cy="3291840"/>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00200"/>
            <a:ext cx="91440" cy="329184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09928"/>
            <a:ext cx="2834640" cy="384048"/>
          </a:xfrm>
          <a:prstGeom prst="rect">
            <a:avLst/>
          </a:prstGeom>
          <a:noFill/>
        </p:spPr>
        <p:txBody>
          <a:bodyPr wrap="square" lIns="54864" rIns="54864" tIns="54864" bIns="54864" anchor="t">
            <a:spAutoFit/>
          </a:bodyPr>
          <a:lstStyle/>
          <a:p>
            <a:pPr algn="l">
              <a:lnSpc>
                <a:spcPct val="100000"/>
              </a:lnSpc>
            </a:pPr>
            <a:r>
              <a:rPr sz="1800" b="1">
                <a:solidFill>
                  <a:srgbClr val="183D70"/>
                </a:solidFill>
                <a:latin typeface="Arial"/>
              </a:rPr>
              <a:t>Giáo viên HNMU</a:t>
            </a:r>
          </a:p>
        </p:txBody>
      </p:sp>
      <p:sp>
        <p:nvSpPr>
          <p:cNvPr id="9" name="TextBox 8"/>
          <p:cNvSpPr txBox="1"/>
          <p:nvPr/>
        </p:nvSpPr>
        <p:spPr>
          <a:xfrm>
            <a:off x="886968" y="2148840"/>
            <a:ext cx="2843784" cy="2633472"/>
          </a:xfrm>
          <a:prstGeom prst="rect">
            <a:avLst/>
          </a:prstGeom>
          <a:noFill/>
        </p:spPr>
        <p:txBody>
          <a:bodyPr wrap="square" lIns="54864" rIns="54864" tIns="54864" bIns="54864" anchor="t">
            <a:spAutoFit/>
          </a:bodyPr>
          <a:lstStyle/>
          <a:p>
            <a:pPr algn="l">
              <a:lnSpc>
                <a:spcPct val="100000"/>
              </a:lnSpc>
            </a:pPr>
            <a:r>
              <a:rPr sz="1600" b="0">
                <a:solidFill>
                  <a:srgbClr val="232D38"/>
                </a:solidFill>
                <a:latin typeface="Arial"/>
              </a:rPr>
              <a:t>Tạo hội thoại kiểu mẫu giữa học sinh và gia sư AI; cung cấp chủ đề, bài học, mức độ nhận thức, đáp án và kỹ thuật giàn giáo.</a:t>
            </a:r>
          </a:p>
        </p:txBody>
      </p:sp>
      <p:cxnSp>
        <p:nvCxnSpPr>
          <p:cNvPr id="10" name="Connector 9"/>
          <p:cNvCxnSpPr/>
          <p:nvPr/>
        </p:nvCxnSpPr>
        <p:spPr>
          <a:xfrm>
            <a:off x="3931920" y="3246120"/>
            <a:ext cx="685800" cy="0"/>
          </a:xfrm>
          <a:prstGeom prst="line">
            <a:avLst/>
          </a:prstGeom>
          <a:ln w="38100">
            <a:solidFill>
              <a:srgbClr val="008B9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709160" y="1600200"/>
            <a:ext cx="3154680" cy="329184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09160" y="1600200"/>
            <a:ext cx="91440" cy="329184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0328" y="1709928"/>
            <a:ext cx="2834640" cy="384048"/>
          </a:xfrm>
          <a:prstGeom prst="rect">
            <a:avLst/>
          </a:prstGeom>
          <a:noFill/>
        </p:spPr>
        <p:txBody>
          <a:bodyPr wrap="square" lIns="54864" rIns="54864" tIns="54864" bIns="54864" anchor="t">
            <a:spAutoFit/>
          </a:bodyPr>
          <a:lstStyle/>
          <a:p>
            <a:pPr algn="l">
              <a:lnSpc>
                <a:spcPct val="100000"/>
              </a:lnSpc>
            </a:pPr>
            <a:r>
              <a:rPr sz="1800" b="1">
                <a:solidFill>
                  <a:srgbClr val="183D70"/>
                </a:solidFill>
                <a:latin typeface="Arial"/>
              </a:rPr>
              <a:t>Nhóm kỹ thuật UET</a:t>
            </a:r>
          </a:p>
        </p:txBody>
      </p:sp>
      <p:sp>
        <p:nvSpPr>
          <p:cNvPr id="14" name="TextBox 13"/>
          <p:cNvSpPr txBox="1"/>
          <p:nvPr/>
        </p:nvSpPr>
        <p:spPr>
          <a:xfrm>
            <a:off x="4910328" y="2148840"/>
            <a:ext cx="2843784" cy="2633472"/>
          </a:xfrm>
          <a:prstGeom prst="rect">
            <a:avLst/>
          </a:prstGeom>
          <a:noFill/>
        </p:spPr>
        <p:txBody>
          <a:bodyPr wrap="square" lIns="36576" rIns="36576" tIns="36576" bIns="36576" anchor="t">
            <a:spAutoFit/>
          </a:bodyPr>
          <a:lstStyle/>
          <a:p>
            <a:pPr algn="l">
              <a:lnSpc>
                <a:spcPct val="100000"/>
              </a:lnSpc>
            </a:pPr>
            <a:r>
              <a:rPr sz="1520" b="0">
                <a:solidFill>
                  <a:srgbClr val="232D38"/>
                </a:solidFill>
                <a:latin typeface="Arial"/>
              </a:rPr>
              <a:t>Giữ bản gốc; tách cấu trúc tối thiểu; tạo ứng viên; điều phối agent xác định nhiệm vụ; sau khi duyệt mới hoàn thiện phiếu tác giả.</a:t>
            </a:r>
          </a:p>
        </p:txBody>
      </p:sp>
      <p:cxnSp>
        <p:nvCxnSpPr>
          <p:cNvPr id="15" name="Connector 14"/>
          <p:cNvCxnSpPr/>
          <p:nvPr/>
        </p:nvCxnSpPr>
        <p:spPr>
          <a:xfrm>
            <a:off x="7955279" y="3246120"/>
            <a:ext cx="685801" cy="0"/>
          </a:xfrm>
          <a:prstGeom prst="line">
            <a:avLst/>
          </a:prstGeom>
          <a:ln w="38100">
            <a:solidFill>
              <a:srgbClr val="008B9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732520" y="1600200"/>
            <a:ext cx="2697480" cy="3291840"/>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32520" y="1600200"/>
            <a:ext cx="91440" cy="3291840"/>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33688" y="1709928"/>
            <a:ext cx="2377440" cy="384048"/>
          </a:xfrm>
          <a:prstGeom prst="rect">
            <a:avLst/>
          </a:prstGeom>
          <a:noFill/>
        </p:spPr>
        <p:txBody>
          <a:bodyPr wrap="square" lIns="54864" rIns="54864" tIns="54864" bIns="54864" anchor="t">
            <a:spAutoFit/>
          </a:bodyPr>
          <a:lstStyle/>
          <a:p>
            <a:pPr algn="l">
              <a:lnSpc>
                <a:spcPct val="100000"/>
              </a:lnSpc>
            </a:pPr>
            <a:r>
              <a:rPr sz="1800" b="1">
                <a:solidFill>
                  <a:srgbClr val="183D70"/>
                </a:solidFill>
                <a:latin typeface="Arial"/>
              </a:rPr>
              <a:t>Đánh giá mô hình</a:t>
            </a:r>
          </a:p>
        </p:txBody>
      </p:sp>
      <p:sp>
        <p:nvSpPr>
          <p:cNvPr id="19" name="TextBox 18"/>
          <p:cNvSpPr txBox="1"/>
          <p:nvPr/>
        </p:nvSpPr>
        <p:spPr>
          <a:xfrm>
            <a:off x="8933688" y="2148840"/>
            <a:ext cx="2386584" cy="2633472"/>
          </a:xfrm>
          <a:prstGeom prst="rect">
            <a:avLst/>
          </a:prstGeom>
          <a:noFill/>
        </p:spPr>
        <p:txBody>
          <a:bodyPr wrap="square" lIns="54864" rIns="54864" tIns="54864" bIns="54864" anchor="t">
            <a:spAutoFit/>
          </a:bodyPr>
          <a:lstStyle/>
          <a:p>
            <a:pPr algn="l">
              <a:lnSpc>
                <a:spcPct val="100000"/>
              </a:lnSpc>
            </a:pPr>
            <a:r>
              <a:rPr sz="1600" b="0">
                <a:solidFill>
                  <a:srgbClr val="232D38"/>
                </a:solidFill>
                <a:latin typeface="Arial"/>
              </a:rPr>
              <a:t>Đưa bối cảnh cho mô hình sinh phản hồi; chấm theo tiêu chí và đối chiếu với phản hồi tham chiếu.</a:t>
            </a:r>
          </a:p>
        </p:txBody>
      </p:sp>
      <p:sp>
        <p:nvSpPr>
          <p:cNvPr id="20" name="Rounded Rectangle 19"/>
          <p:cNvSpPr/>
          <p:nvPr/>
        </p:nvSpPr>
        <p:spPr>
          <a:xfrm>
            <a:off x="822960" y="5166360"/>
            <a:ext cx="10469880" cy="475488"/>
          </a:xfrm>
          <a:prstGeom prst="roundRect">
            <a:avLst/>
          </a:prstGeom>
          <a:solidFill>
            <a:srgbClr val="FFFFFF"/>
          </a:solidFill>
          <a:ln>
            <a:solidFill>
              <a:srgbClr val="C43E3E"/>
            </a:solidFill>
          </a:ln>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lnSpc>
                <a:spcPct val="100000"/>
              </a:lnSpc>
            </a:pPr>
            <a:r>
              <a:rPr sz="1550" b="0">
                <a:solidFill>
                  <a:srgbClr val="232D38"/>
                </a:solidFill>
                <a:latin typeface="Arial"/>
              </a:rPr>
              <a:t>Ranh giới cứng: tách cấu trúc không phải ánh xạ đầy đủ; agent không được sửa nội dung hội thoại.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QUY TRÌNH ĐỀ XUẤT</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Luồng tổng thể từ dữ liệu thô đến kết quả benchmark</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3</a:t>
            </a:r>
          </a:p>
        </p:txBody>
      </p:sp>
      <p:sp>
        <p:nvSpPr>
          <p:cNvPr id="6" name="Oval 5"/>
          <p:cNvSpPr/>
          <p:nvPr/>
        </p:nvSpPr>
        <p:spPr>
          <a:xfrm>
            <a:off x="1335024" y="1554480"/>
            <a:ext cx="658368" cy="658368"/>
          </a:xfrm>
          <a:prstGeom prst="ellipse">
            <a:avLst/>
          </a:prstGeom>
          <a:solidFill>
            <a:srgbClr val="379B5C"/>
          </a:solidFill>
          <a:ln>
            <a:solidFill>
              <a:srgbClr val="379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35024" y="1563624"/>
            <a:ext cx="658368" cy="640080"/>
          </a:xfrm>
          <a:prstGeom prst="rect">
            <a:avLst/>
          </a:prstGeom>
          <a:noFill/>
        </p:spPr>
        <p:txBody>
          <a:bodyPr wrap="square" lIns="0" rIns="0" tIns="0" bIns="0" anchor="ctr">
            <a:spAutoFit/>
          </a:bodyPr>
          <a:lstStyle/>
          <a:p>
            <a:pPr algn="ctr">
              <a:lnSpc>
                <a:spcPct val="100000"/>
              </a:lnSpc>
            </a:pPr>
            <a:r>
              <a:rPr sz="1800" b="1">
                <a:solidFill>
                  <a:srgbClr val="FFFFFF"/>
                </a:solidFill>
                <a:latin typeface="Arial"/>
              </a:rPr>
              <a:t>1</a:t>
            </a:r>
          </a:p>
        </p:txBody>
      </p:sp>
      <p:sp>
        <p:nvSpPr>
          <p:cNvPr id="8" name="Rounded Rectangle 7"/>
          <p:cNvSpPr/>
          <p:nvPr/>
        </p:nvSpPr>
        <p:spPr>
          <a:xfrm>
            <a:off x="658368" y="2331720"/>
            <a:ext cx="1965960" cy="214884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331720"/>
            <a:ext cx="91440" cy="214884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441448"/>
            <a:ext cx="1645919" cy="384048"/>
          </a:xfrm>
          <a:prstGeom prst="rect">
            <a:avLst/>
          </a:prstGeom>
          <a:noFill/>
        </p:spPr>
        <p:txBody>
          <a:bodyPr wrap="square" lIns="18288" rIns="18288" tIns="18288" bIns="18288" anchor="ctr">
            <a:spAutoFit/>
          </a:bodyPr>
          <a:lstStyle/>
          <a:p>
            <a:pPr algn="ctr">
              <a:lnSpc>
                <a:spcPct val="100000"/>
              </a:lnSpc>
            </a:pPr>
            <a:r>
              <a:rPr sz="1410" b="1">
                <a:solidFill>
                  <a:srgbClr val="183D70"/>
                </a:solidFill>
                <a:latin typeface="Arial"/>
              </a:rPr>
              <a:t>Tiếp nhận &amp; tách cấu trúc</a:t>
            </a:r>
          </a:p>
        </p:txBody>
      </p:sp>
      <p:sp>
        <p:nvSpPr>
          <p:cNvPr id="11" name="TextBox 10"/>
          <p:cNvSpPr txBox="1"/>
          <p:nvPr/>
        </p:nvSpPr>
        <p:spPr>
          <a:xfrm>
            <a:off x="859536" y="2880360"/>
            <a:ext cx="1655063" cy="14904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60" b="0">
                <a:solidFill>
                  <a:srgbClr val="232D38"/>
                </a:solidFill>
                <a:latin typeface="Arial"/>
              </a:rPr>
              <a:t>Ví dụ: tách đúng sáu lượt học sinh–gia sư và gắn vị trí nguồn.</a:t>
            </a:r>
          </a:p>
        </p:txBody>
      </p:sp>
      <p:cxnSp>
        <p:nvCxnSpPr>
          <p:cNvPr id="12" name="Connector 11"/>
          <p:cNvCxnSpPr/>
          <p:nvPr/>
        </p:nvCxnSpPr>
        <p:spPr>
          <a:xfrm>
            <a:off x="2670048" y="3337560"/>
            <a:ext cx="164592" cy="0"/>
          </a:xfrm>
          <a:prstGeom prst="line">
            <a:avLst/>
          </a:prstGeom>
          <a:ln w="25400">
            <a:solidFill>
              <a:srgbClr val="58657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584448" y="1554480"/>
            <a:ext cx="658368" cy="658368"/>
          </a:xfrm>
          <a:prstGeom prst="ellipse">
            <a:avLst/>
          </a:prstGeom>
          <a:solidFill>
            <a:srgbClr val="0091CF"/>
          </a:solidFill>
          <a:ln>
            <a:solidFill>
              <a:srgbClr val="0091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1563624"/>
            <a:ext cx="658368" cy="640080"/>
          </a:xfrm>
          <a:prstGeom prst="rect">
            <a:avLst/>
          </a:prstGeom>
          <a:noFill/>
        </p:spPr>
        <p:txBody>
          <a:bodyPr wrap="square" lIns="0" rIns="0" tIns="0" bIns="0" anchor="ctr">
            <a:spAutoFit/>
          </a:bodyPr>
          <a:lstStyle/>
          <a:p>
            <a:pPr algn="ctr">
              <a:lnSpc>
                <a:spcPct val="100000"/>
              </a:lnSpc>
            </a:pPr>
            <a:r>
              <a:rPr sz="1800" b="1">
                <a:solidFill>
                  <a:srgbClr val="FFFFFF"/>
                </a:solidFill>
                <a:latin typeface="Arial"/>
              </a:rPr>
              <a:t>2</a:t>
            </a:r>
          </a:p>
        </p:txBody>
      </p:sp>
      <p:sp>
        <p:nvSpPr>
          <p:cNvPr id="15" name="Rounded Rectangle 14"/>
          <p:cNvSpPr/>
          <p:nvPr/>
        </p:nvSpPr>
        <p:spPr>
          <a:xfrm>
            <a:off x="2907792" y="2331720"/>
            <a:ext cx="1965960" cy="214884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07792" y="2331720"/>
            <a:ext cx="91440" cy="214884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2441448"/>
            <a:ext cx="1645919" cy="384048"/>
          </a:xfrm>
          <a:prstGeom prst="rect">
            <a:avLst/>
          </a:prstGeom>
          <a:noFill/>
        </p:spPr>
        <p:txBody>
          <a:bodyPr wrap="square" lIns="18288" rIns="18288" tIns="18288" bIns="18288" anchor="ctr">
            <a:spAutoFit/>
          </a:bodyPr>
          <a:lstStyle/>
          <a:p>
            <a:pPr algn="ctr">
              <a:lnSpc>
                <a:spcPct val="100000"/>
              </a:lnSpc>
            </a:pPr>
            <a:r>
              <a:rPr sz="1410" b="1">
                <a:solidFill>
                  <a:srgbClr val="183D70"/>
                </a:solidFill>
                <a:latin typeface="Arial"/>
              </a:rPr>
              <a:t>Tạo ứng viên mẫu</a:t>
            </a:r>
          </a:p>
        </p:txBody>
      </p:sp>
      <p:sp>
        <p:nvSpPr>
          <p:cNvPr id="18" name="TextBox 17"/>
          <p:cNvSpPr txBox="1"/>
          <p:nvPr/>
        </p:nvSpPr>
        <p:spPr>
          <a:xfrm>
            <a:off x="3108960" y="2880360"/>
            <a:ext cx="1655063" cy="14904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60" b="0">
                <a:solidFill>
                  <a:srgbClr val="232D38"/>
                </a:solidFill>
                <a:latin typeface="Arial"/>
              </a:rPr>
              <a:t>Ví dụ: ba lượt gia sư tạo thành ba ứng viên phản hồi tiếp theo.</a:t>
            </a:r>
          </a:p>
        </p:txBody>
      </p:sp>
      <p:cxnSp>
        <p:nvCxnSpPr>
          <p:cNvPr id="19" name="Connector 18"/>
          <p:cNvCxnSpPr/>
          <p:nvPr/>
        </p:nvCxnSpPr>
        <p:spPr>
          <a:xfrm>
            <a:off x="4919472" y="3337560"/>
            <a:ext cx="164592" cy="0"/>
          </a:xfrm>
          <a:prstGeom prst="line">
            <a:avLst/>
          </a:prstGeom>
          <a:ln w="25400">
            <a:solidFill>
              <a:srgbClr val="58657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833872" y="1554480"/>
            <a:ext cx="658368" cy="658368"/>
          </a:xfrm>
          <a:prstGeom prst="ellipse">
            <a:avLst/>
          </a:prstGeom>
          <a:solidFill>
            <a:srgbClr val="6D53A4"/>
          </a:solidFill>
          <a:ln>
            <a:solidFill>
              <a:srgbClr val="6D5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33872" y="1563624"/>
            <a:ext cx="658368" cy="640080"/>
          </a:xfrm>
          <a:prstGeom prst="rect">
            <a:avLst/>
          </a:prstGeom>
          <a:noFill/>
        </p:spPr>
        <p:txBody>
          <a:bodyPr wrap="square" lIns="0" rIns="0" tIns="0" bIns="0" anchor="ctr">
            <a:spAutoFit/>
          </a:bodyPr>
          <a:lstStyle/>
          <a:p>
            <a:pPr algn="ctr">
              <a:lnSpc>
                <a:spcPct val="100000"/>
              </a:lnSpc>
            </a:pPr>
            <a:r>
              <a:rPr sz="1800" b="1">
                <a:solidFill>
                  <a:srgbClr val="FFFFFF"/>
                </a:solidFill>
                <a:latin typeface="Arial"/>
              </a:rPr>
              <a:t>3</a:t>
            </a:r>
          </a:p>
        </p:txBody>
      </p:sp>
      <p:sp>
        <p:nvSpPr>
          <p:cNvPr id="22" name="Rounded Rectangle 21"/>
          <p:cNvSpPr/>
          <p:nvPr/>
        </p:nvSpPr>
        <p:spPr>
          <a:xfrm>
            <a:off x="5157216" y="2331720"/>
            <a:ext cx="1965960" cy="214884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57216" y="2331720"/>
            <a:ext cx="91440" cy="2148840"/>
          </a:xfrm>
          <a:prstGeom prst="rect">
            <a:avLst/>
          </a:prstGeom>
          <a:solidFill>
            <a:srgbClr val="6D5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58383" y="2441448"/>
            <a:ext cx="1645919" cy="384048"/>
          </a:xfrm>
          <a:prstGeom prst="rect">
            <a:avLst/>
          </a:prstGeom>
          <a:noFill/>
        </p:spPr>
        <p:txBody>
          <a:bodyPr wrap="square" lIns="18288" rIns="18288" tIns="18288" bIns="18288" anchor="ctr">
            <a:spAutoFit/>
          </a:bodyPr>
          <a:lstStyle/>
          <a:p>
            <a:pPr algn="ctr">
              <a:lnSpc>
                <a:spcPct val="100000"/>
              </a:lnSpc>
            </a:pPr>
            <a:r>
              <a:rPr sz="1410" b="1">
                <a:solidFill>
                  <a:srgbClr val="183D70"/>
                </a:solidFill>
                <a:latin typeface="Arial"/>
              </a:rPr>
              <a:t>Agent xác định nhiệm vụ</a:t>
            </a:r>
          </a:p>
        </p:txBody>
      </p:sp>
      <p:sp>
        <p:nvSpPr>
          <p:cNvPr id="25" name="TextBox 24"/>
          <p:cNvSpPr txBox="1"/>
          <p:nvPr/>
        </p:nvSpPr>
        <p:spPr>
          <a:xfrm>
            <a:off x="5358383" y="2880360"/>
            <a:ext cx="1655063" cy="14904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40" b="0">
                <a:solidFill>
                  <a:srgbClr val="232D38"/>
                </a:solidFill>
                <a:latin typeface="Arial"/>
              </a:rPr>
              <a:t>Ví dụ: lượt hỏi cách lồng khối được đề xuất là “Gợi ý từng bước”.</a:t>
            </a:r>
          </a:p>
        </p:txBody>
      </p:sp>
      <p:cxnSp>
        <p:nvCxnSpPr>
          <p:cNvPr id="26" name="Connector 25"/>
          <p:cNvCxnSpPr/>
          <p:nvPr/>
        </p:nvCxnSpPr>
        <p:spPr>
          <a:xfrm>
            <a:off x="7168896" y="3337560"/>
            <a:ext cx="164592" cy="0"/>
          </a:xfrm>
          <a:prstGeom prst="line">
            <a:avLst/>
          </a:prstGeom>
          <a:ln w="25400">
            <a:solidFill>
              <a:srgbClr val="58657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083296" y="1554480"/>
            <a:ext cx="658368" cy="658368"/>
          </a:xfrm>
          <a:prstGeom prst="ellipse">
            <a:avLst/>
          </a:prstGeom>
          <a:solidFill>
            <a:srgbClr val="008B93"/>
          </a:solidFill>
          <a:ln>
            <a:solidFill>
              <a:srgbClr val="008B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83296" y="1563624"/>
            <a:ext cx="658368" cy="640080"/>
          </a:xfrm>
          <a:prstGeom prst="rect">
            <a:avLst/>
          </a:prstGeom>
          <a:noFill/>
        </p:spPr>
        <p:txBody>
          <a:bodyPr wrap="square" lIns="0" rIns="0" tIns="0" bIns="0" anchor="ctr">
            <a:spAutoFit/>
          </a:bodyPr>
          <a:lstStyle/>
          <a:p>
            <a:pPr algn="ctr">
              <a:lnSpc>
                <a:spcPct val="100000"/>
              </a:lnSpc>
            </a:pPr>
            <a:r>
              <a:rPr sz="1800" b="1">
                <a:solidFill>
                  <a:srgbClr val="FFFFFF"/>
                </a:solidFill>
                <a:latin typeface="Arial"/>
              </a:rPr>
              <a:t>4</a:t>
            </a:r>
          </a:p>
        </p:txBody>
      </p:sp>
      <p:sp>
        <p:nvSpPr>
          <p:cNvPr id="29" name="Rounded Rectangle 28"/>
          <p:cNvSpPr/>
          <p:nvPr/>
        </p:nvSpPr>
        <p:spPr>
          <a:xfrm>
            <a:off x="7406640" y="2331720"/>
            <a:ext cx="1965960" cy="214884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06640" y="2331720"/>
            <a:ext cx="91440" cy="2148840"/>
          </a:xfrm>
          <a:prstGeom prst="rect">
            <a:avLst/>
          </a:prstGeom>
          <a:solidFill>
            <a:srgbClr val="008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07808" y="2441448"/>
            <a:ext cx="1645919" cy="384048"/>
          </a:xfrm>
          <a:prstGeom prst="rect">
            <a:avLst/>
          </a:prstGeom>
          <a:noFill/>
        </p:spPr>
        <p:txBody>
          <a:bodyPr wrap="square" lIns="18288" rIns="18288" tIns="18288" bIns="18288" anchor="ctr">
            <a:spAutoFit/>
          </a:bodyPr>
          <a:lstStyle/>
          <a:p>
            <a:pPr algn="ctr">
              <a:lnSpc>
                <a:spcPct val="100000"/>
              </a:lnSpc>
            </a:pPr>
            <a:r>
              <a:rPr sz="1410" b="1">
                <a:solidFill>
                  <a:srgbClr val="183D70"/>
                </a:solidFill>
                <a:latin typeface="Arial"/>
              </a:rPr>
              <a:t>Duyệt &amp; hoàn thiện phiếu</a:t>
            </a:r>
          </a:p>
        </p:txBody>
      </p:sp>
      <p:sp>
        <p:nvSpPr>
          <p:cNvPr id="32" name="TextBox 31"/>
          <p:cNvSpPr txBox="1"/>
          <p:nvPr/>
        </p:nvSpPr>
        <p:spPr>
          <a:xfrm>
            <a:off x="7607808" y="2880360"/>
            <a:ext cx="1655063" cy="14904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20" b="0">
                <a:solidFill>
                  <a:srgbClr val="232D38"/>
                </a:solidFill>
                <a:latin typeface="Arial"/>
              </a:rPr>
              <a:t>Ví dụ: giữ lời mở đầu, lịch sử đến lượt học sinh thứ hai và phản hồi nguồn.</a:t>
            </a:r>
          </a:p>
        </p:txBody>
      </p:sp>
      <p:cxnSp>
        <p:nvCxnSpPr>
          <p:cNvPr id="33" name="Connector 32"/>
          <p:cNvCxnSpPr/>
          <p:nvPr/>
        </p:nvCxnSpPr>
        <p:spPr>
          <a:xfrm>
            <a:off x="9418320" y="3337560"/>
            <a:ext cx="164592" cy="0"/>
          </a:xfrm>
          <a:prstGeom prst="line">
            <a:avLst/>
          </a:prstGeom>
          <a:ln w="25400">
            <a:solidFill>
              <a:srgbClr val="586573"/>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0332720" y="1554480"/>
            <a:ext cx="658368" cy="658368"/>
          </a:xfrm>
          <a:prstGeom prst="ellipse">
            <a:avLst/>
          </a:prstGeom>
          <a:solidFill>
            <a:srgbClr val="EB8E2E"/>
          </a:solidFill>
          <a:ln>
            <a:solidFill>
              <a:srgbClr val="EB8E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0" y="1563624"/>
            <a:ext cx="658368" cy="640080"/>
          </a:xfrm>
          <a:prstGeom prst="rect">
            <a:avLst/>
          </a:prstGeom>
          <a:noFill/>
        </p:spPr>
        <p:txBody>
          <a:bodyPr wrap="square" lIns="0" rIns="0" tIns="0" bIns="0" anchor="ctr">
            <a:spAutoFit/>
          </a:bodyPr>
          <a:lstStyle/>
          <a:p>
            <a:pPr algn="ctr">
              <a:lnSpc>
                <a:spcPct val="100000"/>
              </a:lnSpc>
            </a:pPr>
            <a:r>
              <a:rPr sz="1800" b="1">
                <a:solidFill>
                  <a:srgbClr val="FFFFFF"/>
                </a:solidFill>
                <a:latin typeface="Arial"/>
              </a:rPr>
              <a:t>5</a:t>
            </a:r>
          </a:p>
        </p:txBody>
      </p:sp>
      <p:sp>
        <p:nvSpPr>
          <p:cNvPr id="36" name="Rounded Rectangle 35"/>
          <p:cNvSpPr/>
          <p:nvPr/>
        </p:nvSpPr>
        <p:spPr>
          <a:xfrm>
            <a:off x="9656064" y="2331720"/>
            <a:ext cx="1965960" cy="214884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56064" y="2331720"/>
            <a:ext cx="91440" cy="2148840"/>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57232" y="2441448"/>
            <a:ext cx="1645919" cy="384048"/>
          </a:xfrm>
          <a:prstGeom prst="rect">
            <a:avLst/>
          </a:prstGeom>
          <a:noFill/>
        </p:spPr>
        <p:txBody>
          <a:bodyPr wrap="square" lIns="18288" rIns="18288" tIns="18288" bIns="18288" anchor="ctr">
            <a:spAutoFit/>
          </a:bodyPr>
          <a:lstStyle/>
          <a:p>
            <a:pPr algn="ctr">
              <a:lnSpc>
                <a:spcPct val="100000"/>
              </a:lnSpc>
            </a:pPr>
            <a:r>
              <a:rPr sz="1410" b="1">
                <a:solidFill>
                  <a:srgbClr val="183D70"/>
                </a:solidFill>
                <a:latin typeface="Arial"/>
              </a:rPr>
              <a:t>Chạy &amp; chấm phản hồi</a:t>
            </a:r>
          </a:p>
        </p:txBody>
      </p:sp>
      <p:sp>
        <p:nvSpPr>
          <p:cNvPr id="39" name="TextBox 38"/>
          <p:cNvSpPr txBox="1"/>
          <p:nvPr/>
        </p:nvSpPr>
        <p:spPr>
          <a:xfrm>
            <a:off x="9857232" y="2880360"/>
            <a:ext cx="1655063" cy="14904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50" b="0">
                <a:solidFill>
                  <a:srgbClr val="232D38"/>
                </a:solidFill>
                <a:latin typeface="Arial"/>
              </a:rPr>
              <a:t>Ví dụ: mô hình sinh một lượt mới; chấm năm tiêu chí theo thang 1–5.</a:t>
            </a:r>
          </a:p>
        </p:txBody>
      </p:sp>
      <p:sp>
        <p:nvSpPr>
          <p:cNvPr id="40" name="TextBox 39"/>
          <p:cNvSpPr txBox="1"/>
          <p:nvPr/>
        </p:nvSpPr>
        <p:spPr>
          <a:xfrm>
            <a:off x="777240" y="4892040"/>
            <a:ext cx="10698480" cy="576072"/>
          </a:xfrm>
          <a:prstGeom prst="rect">
            <a:avLst/>
          </a:prstGeom>
          <a:noFill/>
        </p:spPr>
        <p:txBody>
          <a:bodyPr wrap="square" lIns="36576" rIns="36576" tIns="36576" bIns="36576" anchor="ctr">
            <a:spAutoFit/>
          </a:bodyPr>
          <a:lstStyle/>
          <a:p>
            <a:pPr algn="ctr">
              <a:lnSpc>
                <a:spcPct val="100000"/>
              </a:lnSpc>
            </a:pPr>
            <a:r>
              <a:rPr sz="1550" b="1">
                <a:solidFill>
                  <a:srgbClr val="183D70"/>
                </a:solidFill>
                <a:latin typeface="Arial"/>
              </a:rPr>
              <a:t>Thứ tự bắt buộc: tách cấu trúc → tạo ứng viên → xác định nhiệm vụ → duyệt → hoàn thiện phiếu tác giả.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VÍ DỤ XUYÊN SUỐT</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Mẫu đầu vào thực tế do giáo viên HNMU cung cấp</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4</a:t>
            </a:r>
          </a:p>
        </p:txBody>
      </p:sp>
      <p:sp>
        <p:nvSpPr>
          <p:cNvPr id="6" name="Rounded Rectangle 5"/>
          <p:cNvSpPr/>
          <p:nvPr/>
        </p:nvSpPr>
        <p:spPr>
          <a:xfrm>
            <a:off x="566928" y="1481328"/>
            <a:ext cx="6903720" cy="4343400"/>
          </a:xfrm>
          <a:prstGeom prst="roundRect">
            <a:avLst/>
          </a:prstGeom>
          <a:solidFill>
            <a:srgbClr val="FFFFFF"/>
          </a:solidFill>
          <a:ln>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deal_dialog_example.png"/>
          <p:cNvPicPr>
            <a:picLocks noChangeAspect="1"/>
          </p:cNvPicPr>
          <p:nvPr/>
        </p:nvPicPr>
        <p:blipFill>
          <a:blip r:embed="rId2"/>
          <a:stretch>
            <a:fillRect/>
          </a:stretch>
        </p:blipFill>
        <p:spPr>
          <a:xfrm>
            <a:off x="1427044" y="1581912"/>
            <a:ext cx="5174343" cy="4096512"/>
          </a:xfrm>
          <a:prstGeom prst="rect">
            <a:avLst/>
          </a:prstGeom>
        </p:spPr>
      </p:pic>
      <p:sp>
        <p:nvSpPr>
          <p:cNvPr id="8" name="Rounded Rectangle 7"/>
          <p:cNvSpPr/>
          <p:nvPr/>
        </p:nvSpPr>
        <p:spPr>
          <a:xfrm>
            <a:off x="7726679" y="1572768"/>
            <a:ext cx="3611880" cy="96012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26679" y="1572768"/>
            <a:ext cx="91440" cy="96012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8" y="1682495"/>
            <a:ext cx="3291840" cy="384048"/>
          </a:xfrm>
          <a:prstGeom prst="rect">
            <a:avLst/>
          </a:prstGeom>
          <a:noFill/>
        </p:spPr>
        <p:txBody>
          <a:bodyPr wrap="square" lIns="54864" rIns="54864" tIns="54864" bIns="54864" anchor="t">
            <a:spAutoFit/>
          </a:bodyPr>
          <a:lstStyle/>
          <a:p>
            <a:pPr algn="l">
              <a:lnSpc>
                <a:spcPct val="100000"/>
              </a:lnSpc>
            </a:pPr>
            <a:r>
              <a:rPr sz="1550" b="1">
                <a:solidFill>
                  <a:srgbClr val="183D70"/>
                </a:solidFill>
                <a:latin typeface="Arial"/>
              </a:rPr>
              <a:t>Học liệu</a:t>
            </a:r>
          </a:p>
        </p:txBody>
      </p:sp>
      <p:sp>
        <p:nvSpPr>
          <p:cNvPr id="11" name="TextBox 10"/>
          <p:cNvSpPr txBox="1"/>
          <p:nvPr/>
        </p:nvSpPr>
        <p:spPr>
          <a:xfrm>
            <a:off x="7927848" y="2121408"/>
            <a:ext cx="3300984" cy="301752"/>
          </a:xfrm>
          <a:prstGeom prst="rect">
            <a:avLst/>
          </a:prstGeom>
          <a:noFill/>
        </p:spPr>
        <p:txBody>
          <a:bodyPr wrap="square" lIns="54864" rIns="54864" tIns="54864" bIns="54864" anchor="t">
            <a:spAutoFit/>
          </a:bodyPr>
          <a:lstStyle/>
          <a:p>
            <a:pPr algn="l">
              <a:lnSpc>
                <a:spcPct val="100000"/>
              </a:lnSpc>
            </a:pPr>
            <a:r>
              <a:rPr sz="1340" b="0">
                <a:solidFill>
                  <a:srgbClr val="232D38"/>
                </a:solidFill>
                <a:latin typeface="Arial"/>
              </a:rPr>
              <a:t>Sách giáo khoa Tin học 6; Bài 17 – Chương trình máy tính; trang 71.</a:t>
            </a:r>
          </a:p>
        </p:txBody>
      </p:sp>
      <p:sp>
        <p:nvSpPr>
          <p:cNvPr id="12" name="Rounded Rectangle 11"/>
          <p:cNvSpPr/>
          <p:nvPr/>
        </p:nvSpPr>
        <p:spPr>
          <a:xfrm>
            <a:off x="7726679" y="2697480"/>
            <a:ext cx="3611880" cy="960120"/>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2697480"/>
            <a:ext cx="91440" cy="96012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7848" y="2807208"/>
            <a:ext cx="3291840" cy="384048"/>
          </a:xfrm>
          <a:prstGeom prst="rect">
            <a:avLst/>
          </a:prstGeom>
          <a:noFill/>
        </p:spPr>
        <p:txBody>
          <a:bodyPr wrap="square" lIns="54864" rIns="54864" tIns="54864" bIns="54864" anchor="t">
            <a:spAutoFit/>
          </a:bodyPr>
          <a:lstStyle/>
          <a:p>
            <a:pPr algn="l">
              <a:lnSpc>
                <a:spcPct val="100000"/>
              </a:lnSpc>
            </a:pPr>
            <a:r>
              <a:rPr sz="1550" b="1">
                <a:solidFill>
                  <a:srgbClr val="183D70"/>
                </a:solidFill>
                <a:latin typeface="Arial"/>
              </a:rPr>
              <a:t>Mục tiêu và đáp án</a:t>
            </a:r>
          </a:p>
        </p:txBody>
      </p:sp>
      <p:sp>
        <p:nvSpPr>
          <p:cNvPr id="15" name="TextBox 14"/>
          <p:cNvSpPr txBox="1"/>
          <p:nvPr/>
        </p:nvSpPr>
        <p:spPr>
          <a:xfrm>
            <a:off x="7927848" y="3246120"/>
            <a:ext cx="3300984" cy="301752"/>
          </a:xfrm>
          <a:prstGeom prst="rect">
            <a:avLst/>
          </a:prstGeom>
          <a:noFill/>
        </p:spPr>
        <p:txBody>
          <a:bodyPr wrap="square" lIns="54864" rIns="54864" tIns="54864" bIns="54864" anchor="t">
            <a:spAutoFit/>
          </a:bodyPr>
          <a:lstStyle/>
          <a:p>
            <a:pPr algn="l">
              <a:lnSpc>
                <a:spcPct val="100000"/>
              </a:lnSpc>
            </a:pPr>
            <a:r>
              <a:rPr sz="1340" b="0">
                <a:solidFill>
                  <a:srgbClr val="232D38"/>
                </a:solidFill>
                <a:latin typeface="Arial"/>
              </a:rPr>
              <a:t>Tạo chương trình Scratch tính trung bình cộng ba số; công thức (a + b + c) / 3.</a:t>
            </a:r>
          </a:p>
        </p:txBody>
      </p:sp>
      <p:sp>
        <p:nvSpPr>
          <p:cNvPr id="16" name="Rounded Rectangle 15"/>
          <p:cNvSpPr/>
          <p:nvPr/>
        </p:nvSpPr>
        <p:spPr>
          <a:xfrm>
            <a:off x="7726679" y="3822191"/>
            <a:ext cx="3611880" cy="960120"/>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3822191"/>
            <a:ext cx="91440" cy="960120"/>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7848" y="3931920"/>
            <a:ext cx="3291840" cy="384048"/>
          </a:xfrm>
          <a:prstGeom prst="rect">
            <a:avLst/>
          </a:prstGeom>
          <a:noFill/>
        </p:spPr>
        <p:txBody>
          <a:bodyPr wrap="square" lIns="54864" rIns="54864" tIns="54864" bIns="54864" anchor="t">
            <a:spAutoFit/>
          </a:bodyPr>
          <a:lstStyle/>
          <a:p>
            <a:pPr algn="l">
              <a:lnSpc>
                <a:spcPct val="100000"/>
              </a:lnSpc>
            </a:pPr>
            <a:r>
              <a:rPr sz="1550" b="1">
                <a:solidFill>
                  <a:srgbClr val="183D70"/>
                </a:solidFill>
                <a:latin typeface="Arial"/>
              </a:rPr>
              <a:t>Nội dung chính</a:t>
            </a:r>
          </a:p>
        </p:txBody>
      </p:sp>
      <p:sp>
        <p:nvSpPr>
          <p:cNvPr id="19" name="TextBox 18"/>
          <p:cNvSpPr txBox="1"/>
          <p:nvPr/>
        </p:nvSpPr>
        <p:spPr>
          <a:xfrm>
            <a:off x="7927848" y="4370831"/>
            <a:ext cx="3300984" cy="301752"/>
          </a:xfrm>
          <a:prstGeom prst="rect">
            <a:avLst/>
          </a:prstGeom>
          <a:noFill/>
        </p:spPr>
        <p:txBody>
          <a:bodyPr wrap="square" lIns="54864" rIns="54864" tIns="54864" bIns="54864" anchor="t">
            <a:spAutoFit/>
          </a:bodyPr>
          <a:lstStyle/>
          <a:p>
            <a:pPr algn="l">
              <a:lnSpc>
                <a:spcPct val="100000"/>
              </a:lnSpc>
            </a:pPr>
            <a:r>
              <a:rPr sz="1340" b="0">
                <a:solidFill>
                  <a:srgbClr val="232D38"/>
                </a:solidFill>
                <a:latin typeface="Arial"/>
              </a:rPr>
              <a:t>Một hội thoại gồm các lượt học sinh–gia sư và ba kỹ thuật giàn giáo do giáo viên ghi.</a:t>
            </a:r>
          </a:p>
        </p:txBody>
      </p:sp>
      <p:sp>
        <p:nvSpPr>
          <p:cNvPr id="20" name="Rounded Rectangle 19"/>
          <p:cNvSpPr/>
          <p:nvPr/>
        </p:nvSpPr>
        <p:spPr>
          <a:xfrm>
            <a:off x="7726679" y="4956048"/>
            <a:ext cx="3611880" cy="731520"/>
          </a:xfrm>
          <a:prstGeom prst="roundRect">
            <a:avLst/>
          </a:prstGeom>
          <a:solidFill>
            <a:srgbClr val="FFFFFF"/>
          </a:solidFill>
          <a:ln>
            <a:solidFill>
              <a:srgbClr val="C43E3E"/>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a:solidFill>
                  <a:srgbClr val="C43E3E"/>
                </a:solidFill>
                <a:latin typeface="Arial"/>
              </a:rPr>
              <a:t>Nguyên tắc: </a:t>
            </a:r>
            <a:r>
              <a:rPr sz="1400" b="0">
                <a:solidFill>
                  <a:srgbClr val="232D38"/>
                </a:solidFill>
                <a:latin typeface="Arial"/>
              </a:rPr>
              <a:t>giữ nguyên toàn bộ câu chữ; chỉ tách và gắn nguồn.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36576" rIns="36576" tIns="36576" bIns="36576" anchor="t">
            <a:spAutoFit/>
          </a:bodyPr>
          <a:lstStyle/>
          <a:p>
            <a:pPr algn="l">
              <a:lnSpc>
                <a:spcPct val="100000"/>
              </a:lnSpc>
            </a:pPr>
            <a:r>
              <a:rPr sz="950" b="1">
                <a:solidFill>
                  <a:srgbClr val="008B93"/>
                </a:solidFill>
                <a:latin typeface="Arial"/>
              </a:rPr>
              <a:t>BƯỚC 1 — CHUẨN BỊ ĐẦU VÀO CHO AGENT</a:t>
            </a:r>
          </a:p>
        </p:txBody>
      </p:sp>
      <p:sp>
        <p:nvSpPr>
          <p:cNvPr id="3" name="TextBox 2"/>
          <p:cNvSpPr txBox="1"/>
          <p:nvPr/>
        </p:nvSpPr>
        <p:spPr>
          <a:xfrm>
            <a:off x="640080" y="749808"/>
            <a:ext cx="10469880" cy="512064"/>
          </a:xfrm>
          <a:prstGeom prst="rect">
            <a:avLst/>
          </a:prstGeom>
          <a:noFill/>
        </p:spPr>
        <p:txBody>
          <a:bodyPr wrap="square" lIns="36576" rIns="36576" tIns="36576" bIns="36576" anchor="ctr">
            <a:spAutoFit/>
          </a:bodyPr>
          <a:lstStyle/>
          <a:p>
            <a:pPr algn="l">
              <a:lnSpc>
                <a:spcPct val="100000"/>
              </a:lnSpc>
            </a:pPr>
            <a:r>
              <a:rPr sz="2600" b="1">
                <a:solidFill>
                  <a:srgbClr val="183D70"/>
                </a:solidFill>
                <a:latin typeface="Arial"/>
              </a:rPr>
              <a:t>Tách cấu trúc tối thiểu từ mẫu HNMU</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5</a:t>
            </a:r>
          </a:p>
        </p:txBody>
      </p:sp>
      <p:graphicFrame>
        <p:nvGraphicFramePr>
          <p:cNvPr id="6" name="Table 5"/>
          <p:cNvGraphicFramePr>
            <a:graphicFrameLocks noGrp="1"/>
          </p:cNvGraphicFramePr>
          <p:nvPr/>
        </p:nvGraphicFramePr>
        <p:xfrm>
          <a:off x="658368" y="1554480"/>
          <a:ext cx="10881360" cy="4096512"/>
        </p:xfrm>
        <a:graphic>
          <a:graphicData uri="http://schemas.openxmlformats.org/drawingml/2006/table">
            <a:tbl>
              <a:tblPr firstRow="1" bandRow="1">
                <a:tableStyleId>{5C22544A-7EE6-4342-B048-85BDC9FD1C3A}</a:tableStyleId>
              </a:tblPr>
              <a:tblGrid>
                <a:gridCol w="2240280"/>
                <a:gridCol w="3108960"/>
                <a:gridCol w="5532120"/>
              </a:tblGrid>
              <a:tr h="455168">
                <a:tc>
                  <a:txBody>
                    <a:bodyPr wrap="square" lIns="50800" rIns="50800" tIns="25400" bIns="25400" anchor="ctr"/>
                    <a:lstStyle/>
                    <a:p>
                      <a:pPr algn="l">
                        <a:lnSpc>
                          <a:spcPct val="92000"/>
                        </a:lnSpc>
                        <a:spcBef>
                          <a:spcPts val="0"/>
                        </a:spcBef>
                        <a:spcAft>
                          <a:spcPts val="0"/>
                        </a:spcAft>
                      </a:pPr>
                      <a:r>
                        <a:rPr sz="1100" b="1">
                          <a:solidFill>
                            <a:srgbClr val="183D70"/>
                          </a:solidFill>
                          <a:latin typeface="Arial"/>
                        </a:rPr>
                        <a:t>Nội dung trong mẫu HNMU</a:t>
                      </a:r>
                    </a:p>
                  </a:txBody>
                  <a:tcPr marL="64008" marR="64008" marT="32004" marB="32004" anchor="ctr">
                    <a:solidFill>
                      <a:srgbClr val="183D70"/>
                    </a:solidFill>
                  </a:tcPr>
                </a:tc>
                <a:tc>
                  <a:txBody>
                    <a:bodyPr wrap="square" lIns="50800" rIns="50800" tIns="25400" bIns="25400" anchor="ctr"/>
                    <a:lstStyle/>
                    <a:p>
                      <a:pPr algn="l">
                        <a:lnSpc>
                          <a:spcPct val="92000"/>
                        </a:lnSpc>
                        <a:spcBef>
                          <a:spcPts val="0"/>
                        </a:spcBef>
                        <a:spcAft>
                          <a:spcPts val="0"/>
                        </a:spcAft>
                      </a:pPr>
                      <a:r>
                        <a:rPr sz="1100" b="1">
                          <a:solidFill>
                            <a:srgbClr val="183D70"/>
                          </a:solidFill>
                          <a:latin typeface="Arial"/>
                        </a:rPr>
                        <a:t>Kết quả tách cấu trúc</a:t>
                      </a:r>
                    </a:p>
                  </a:txBody>
                  <a:tcPr marL="64008" marR="64008" marT="32004" marB="32004" anchor="ctr">
                    <a:solidFill>
                      <a:srgbClr val="183D70"/>
                    </a:solidFill>
                  </a:tcPr>
                </a:tc>
                <a:tc>
                  <a:txBody>
                    <a:bodyPr wrap="square" lIns="50800" rIns="50800" tIns="25400" bIns="25400" anchor="ctr"/>
                    <a:lstStyle/>
                    <a:p>
                      <a:pPr algn="l">
                        <a:lnSpc>
                          <a:spcPct val="92000"/>
                        </a:lnSpc>
                        <a:spcBef>
                          <a:spcPts val="0"/>
                        </a:spcBef>
                        <a:spcAft>
                          <a:spcPts val="0"/>
                        </a:spcAft>
                      </a:pPr>
                      <a:r>
                        <a:rPr sz="1100" b="1">
                          <a:solidFill>
                            <a:srgbClr val="183D70"/>
                          </a:solidFill>
                          <a:latin typeface="Arial"/>
                        </a:rPr>
                        <a:t>Vai trò ở bước sau</a:t>
                      </a:r>
                    </a:p>
                  </a:txBody>
                  <a:tcPr marL="64008" marR="64008" marT="32004" marB="32004" anchor="ctr">
                    <a:solidFill>
                      <a:srgbClr val="183D70"/>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Sách giáo khoa Tin học 6; Bài 17; trang 71</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Học liệu, bài học và trang nguồn</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Giữ căn cứ chuyên môn và truy vết</a:t>
                      </a:r>
                    </a:p>
                  </a:txBody>
                  <a:tcPr marL="64008" marR="64008" marT="32004" marB="32004" anchor="ctr">
                    <a:solidFill>
                      <a:srgbClr val="FFFFFF"/>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“Tạo được chương trình Scratch tính trung bình cộng của ba số”</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Nội dung câu hỏi/đề bài nguồn</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Không tự đổi thành lời của học sinh</a:t>
                      </a:r>
                    </a:p>
                  </a:txBody>
                  <a:tcPr marL="64008" marR="64008" marT="32004" marB="32004" anchor="ctr">
                    <a:solidFill>
                      <a:srgbClr val="F1F7FA"/>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“Vận dụng (Tạo được)”</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Mức độ nhận thức nguồn</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Sao chép đúng nhãn giáo viên cung cấp</a:t>
                      </a:r>
                    </a:p>
                  </a:txBody>
                  <a:tcPr marL="64008" marR="64008" marT="32004" marB="32004" anchor="ctr">
                    <a:solidFill>
                      <a:srgbClr val="FFFFFF"/>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“Khởi tạo biến a, b, c và TBC; TBC = (a + b + c) / 3”</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Đáp án nguồn</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Giữ riêng; không đưa vào đầu vào mô hình</a:t>
                      </a:r>
                    </a:p>
                  </a:txBody>
                  <a:tcPr marL="64008" marR="64008" marT="32004" marB="32004" anchor="ctr">
                    <a:solidFill>
                      <a:srgbClr val="F1F7FA"/>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“Em muốn sửa bài tính tổng 2 số…”</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Lượt học sinh thứ nhất</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Gắn người nói, thứ tự và vị trí nguồn</a:t>
                      </a:r>
                    </a:p>
                  </a:txBody>
                  <a:tcPr marL="64008" marR="64008" marT="32004" marB="32004" anchor="ctr">
                    <a:solidFill>
                      <a:srgbClr val="FFFFFF"/>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Gia sư hỏi → học sinh trả lời → gia sư hỏi tiếp</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Chuỗi lượt theo đúng thứ tự</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Dùng để cắt lịch sử hội thoại</a:t>
                      </a:r>
                    </a:p>
                  </a:txBody>
                  <a:tcPr marL="64008" marR="64008" marT="32004" marB="32004" anchor="ctr">
                    <a:solidFill>
                      <a:srgbClr val="F1F7FA"/>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“Rất đúng… em phải lồng ghép 2 khối phép cộng… như thế nào?”</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Lượt gia sư mục tiêu tiềm năng</a:t>
                      </a:r>
                    </a:p>
                  </a:txBody>
                  <a:tcPr marL="64008" marR="64008" marT="32004" marB="32004" anchor="ctr">
                    <a:solidFill>
                      <a:srgbClr val="FFFFFF"/>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Tạo ứng viên; chưa tự gán nhiệm vụ</a:t>
                      </a:r>
                    </a:p>
                  </a:txBody>
                  <a:tcPr marL="64008" marR="64008" marT="32004" marB="32004" anchor="ctr">
                    <a:solidFill>
                      <a:srgbClr val="FFFFFF"/>
                    </a:solidFill>
                  </a:tcPr>
                </a:tc>
              </a:tr>
              <a:tr h="455168">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Gợi mở tư duy → đánh dấu đặc điểm kỹ thuật → rút dần hỗ trợ</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Nhãn kỹ thuật giàn giáo nguồn</a:t>
                      </a:r>
                    </a:p>
                  </a:txBody>
                  <a:tcPr marL="64008" marR="64008" marT="32004" marB="32004" anchor="ctr">
                    <a:solidFill>
                      <a:srgbClr val="F1F7FA"/>
                    </a:solidFill>
                  </a:tcPr>
                </a:tc>
                <a:tc>
                  <a:txBody>
                    <a:bodyPr wrap="square" lIns="50800" rIns="50800" tIns="25400" bIns="25400" anchor="ctr"/>
                    <a:lstStyle/>
                    <a:p>
                      <a:pPr algn="l">
                        <a:lnSpc>
                          <a:spcPct val="92000"/>
                        </a:lnSpc>
                        <a:spcBef>
                          <a:spcPts val="0"/>
                        </a:spcBef>
                        <a:spcAft>
                          <a:spcPts val="0"/>
                        </a:spcAft>
                      </a:pPr>
                      <a:r>
                        <a:rPr sz="1019" b="0">
                          <a:solidFill>
                            <a:srgbClr val="232D38"/>
                          </a:solidFill>
                          <a:latin typeface="Arial"/>
                        </a:rPr>
                        <a:t>Làm bằng chứng, không thay quyết định của giáo viên</a:t>
                      </a:r>
                    </a:p>
                  </a:txBody>
                  <a:tcPr marL="64008" marR="64008" marT="32004" marB="32004" anchor="ctr">
                    <a:solidFill>
                      <a:srgbClr val="F1F7FA"/>
                    </a:solidFill>
                  </a:tcPr>
                </a:tc>
              </a:tr>
            </a:tbl>
          </a:graphicData>
        </a:graphic>
      </p:graphicFrame>
      <p:sp>
        <p:nvSpPr>
          <p:cNvPr id="7" name="TextBox 6"/>
          <p:cNvSpPr txBox="1"/>
          <p:nvPr/>
        </p:nvSpPr>
        <p:spPr>
          <a:xfrm>
            <a:off x="731520" y="5733288"/>
            <a:ext cx="10744200" cy="310896"/>
          </a:xfrm>
          <a:prstGeom prst="rect">
            <a:avLst/>
          </a:prstGeom>
          <a:noFill/>
        </p:spPr>
        <p:txBody>
          <a:bodyPr wrap="square" lIns="36576" rIns="36576" tIns="36576" bIns="36576" anchor="ctr">
            <a:spAutoFit/>
          </a:bodyPr>
          <a:lstStyle/>
          <a:p>
            <a:pPr algn="ctr">
              <a:lnSpc>
                <a:spcPct val="100000"/>
              </a:lnSpc>
              <a:spcBef>
                <a:spcPts val="0"/>
              </a:spcBef>
              <a:spcAft>
                <a:spcPts val="0"/>
              </a:spcAft>
            </a:pPr>
            <a:r>
              <a:rPr sz="1240" b="1">
                <a:solidFill>
                  <a:srgbClr val="183D70"/>
                </a:solidFill>
                <a:latin typeface="Arial"/>
              </a:rPr>
              <a:t>Ví dụ cho thấy bước này chỉ sao chép và gắn cấu trúc; chưa xác định nhiệm vụ, chưa hoàn thiện phiếu tác giả.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36576" rIns="36576" tIns="36576" bIns="36576" anchor="t">
            <a:spAutoFit/>
          </a:bodyPr>
          <a:lstStyle/>
          <a:p>
            <a:pPr algn="l">
              <a:lnSpc>
                <a:spcPct val="100000"/>
              </a:lnSpc>
            </a:pPr>
            <a:r>
              <a:rPr sz="950" b="1">
                <a:solidFill>
                  <a:srgbClr val="008B93"/>
                </a:solidFill>
                <a:latin typeface="Arial"/>
              </a:rPr>
              <a:t>BƯỚC 2 — TẠO ỨNG VIÊN THEO LƯỢT GIA SƯ</a:t>
            </a:r>
          </a:p>
        </p:txBody>
      </p:sp>
      <p:sp>
        <p:nvSpPr>
          <p:cNvPr id="3" name="TextBox 2"/>
          <p:cNvSpPr txBox="1"/>
          <p:nvPr/>
        </p:nvSpPr>
        <p:spPr>
          <a:xfrm>
            <a:off x="640080" y="749808"/>
            <a:ext cx="10469880" cy="512064"/>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2600" b="1">
                <a:solidFill>
                  <a:srgbClr val="183D70"/>
                </a:solidFill>
                <a:latin typeface="Arial"/>
              </a:rPr>
              <a:t>Ví dụ: một hội thoại tạo ba ứng viên theo ba lượt gia sư</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6</a:t>
            </a:r>
          </a:p>
        </p:txBody>
      </p:sp>
      <p:sp>
        <p:nvSpPr>
          <p:cNvPr id="6" name="Rounded Rectangle 5"/>
          <p:cNvSpPr/>
          <p:nvPr/>
        </p:nvSpPr>
        <p:spPr>
          <a:xfrm>
            <a:off x="658368" y="1536192"/>
            <a:ext cx="3108960" cy="4297680"/>
          </a:xfrm>
          <a:prstGeom prst="roundRect">
            <a:avLst/>
          </a:prstGeom>
          <a:solidFill>
            <a:srgbClr val="FFFFFF"/>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36192"/>
            <a:ext cx="91440" cy="429768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19"/>
            <a:ext cx="2788920" cy="384048"/>
          </a:xfrm>
          <a:prstGeom prst="rect">
            <a:avLst/>
          </a:prstGeom>
          <a:noFill/>
        </p:spPr>
        <p:txBody>
          <a:bodyPr wrap="square" lIns="36576" rIns="36576" tIns="36576" bIns="36576" anchor="t">
            <a:spAutoFit/>
          </a:bodyPr>
          <a:lstStyle/>
          <a:p>
            <a:pPr algn="l">
              <a:lnSpc>
                <a:spcPct val="100000"/>
              </a:lnSpc>
            </a:pPr>
            <a:r>
              <a:rPr sz="1600" b="1">
                <a:solidFill>
                  <a:srgbClr val="183D70"/>
                </a:solidFill>
                <a:latin typeface="Arial"/>
              </a:rPr>
              <a:t>Hội thoại đã tách cấu trúc</a:t>
            </a:r>
          </a:p>
        </p:txBody>
      </p:sp>
      <p:sp>
        <p:nvSpPr>
          <p:cNvPr id="9" name="TextBox 8"/>
          <p:cNvSpPr txBox="1"/>
          <p:nvPr/>
        </p:nvSpPr>
        <p:spPr>
          <a:xfrm>
            <a:off x="859536" y="2084831"/>
            <a:ext cx="2798064" cy="3639312"/>
          </a:xfrm>
          <a:prstGeom prst="rect">
            <a:avLst/>
          </a:prstGeom>
          <a:noFill/>
        </p:spPr>
        <p:txBody>
          <a:bodyPr wrap="square" lIns="36576" rIns="36576" tIns="36576" bIns="36576" anchor="t">
            <a:spAutoFit/>
          </a:bodyPr>
          <a:lstStyle/>
          <a:p>
            <a:pPr algn="l">
              <a:lnSpc>
                <a:spcPct val="92000"/>
              </a:lnSpc>
              <a:spcBef>
                <a:spcPts val="0"/>
              </a:spcBef>
              <a:spcAft>
                <a:spcPts val="0"/>
              </a:spcAft>
            </a:pPr>
            <a:r>
              <a:rPr sz="1160" b="0">
                <a:solidFill>
                  <a:srgbClr val="232D38"/>
                </a:solidFill>
                <a:latin typeface="Arial"/>
              </a:rPr>
              <a:t>Học sinh: “Em muốn sửa bài tính tổng 2 số thành tính trung bình cộng 3 số…”</a:t>
            </a:r>
          </a:p>
          <a:p>
            <a:pPr algn="l">
              <a:lnSpc>
                <a:spcPct val="92000"/>
              </a:lnSpc>
              <a:spcBef>
                <a:spcPts val="0"/>
              </a:spcBef>
              <a:spcAft>
                <a:spcPts val="0"/>
              </a:spcAft>
            </a:pPr>
          </a:p>
          <a:p>
            <a:pPr algn="l">
              <a:lnSpc>
                <a:spcPct val="92000"/>
              </a:lnSpc>
              <a:spcBef>
                <a:spcPts val="0"/>
              </a:spcBef>
              <a:spcAft>
                <a:spcPts val="0"/>
              </a:spcAft>
            </a:pPr>
            <a:r>
              <a:rPr sz="1160" b="0">
                <a:solidFill>
                  <a:srgbClr val="232D38"/>
                </a:solidFill>
                <a:latin typeface="Arial"/>
              </a:rPr>
              <a:t>Gia sư: “Đã có biến a, b rồi… em cần tạo thêm biến nào?”</a:t>
            </a:r>
          </a:p>
          <a:p>
            <a:pPr algn="l">
              <a:lnSpc>
                <a:spcPct val="92000"/>
              </a:lnSpc>
              <a:spcBef>
                <a:spcPts val="0"/>
              </a:spcBef>
              <a:spcAft>
                <a:spcPts val="0"/>
              </a:spcAft>
            </a:pPr>
          </a:p>
          <a:p>
            <a:pPr algn="l">
              <a:lnSpc>
                <a:spcPct val="92000"/>
              </a:lnSpc>
              <a:spcBef>
                <a:spcPts val="0"/>
              </a:spcBef>
              <a:spcAft>
                <a:spcPts val="0"/>
              </a:spcAft>
            </a:pPr>
            <a:r>
              <a:rPr sz="1160" b="0">
                <a:solidFill>
                  <a:srgbClr val="232D38"/>
                </a:solidFill>
                <a:latin typeface="Arial"/>
              </a:rPr>
              <a:t>Học sinh: “Cần tạo thêm biến c…”</a:t>
            </a:r>
          </a:p>
          <a:p>
            <a:pPr algn="l">
              <a:lnSpc>
                <a:spcPct val="92000"/>
              </a:lnSpc>
              <a:spcBef>
                <a:spcPts val="0"/>
              </a:spcBef>
              <a:spcAft>
                <a:spcPts val="0"/>
              </a:spcAft>
            </a:pPr>
          </a:p>
          <a:p>
            <a:pPr algn="l">
              <a:lnSpc>
                <a:spcPct val="92000"/>
              </a:lnSpc>
              <a:spcBef>
                <a:spcPts val="0"/>
              </a:spcBef>
              <a:spcAft>
                <a:spcPts val="0"/>
              </a:spcAft>
            </a:pPr>
            <a:r>
              <a:rPr sz="1160" b="0">
                <a:solidFill>
                  <a:srgbClr val="232D38"/>
                </a:solidFill>
                <a:latin typeface="Arial"/>
              </a:rPr>
              <a:t>Gia sư: “Rất đúng… em phải lồng ghép 2 khối phép cộng… như thế nào?”</a:t>
            </a:r>
          </a:p>
          <a:p>
            <a:pPr algn="l">
              <a:lnSpc>
                <a:spcPct val="92000"/>
              </a:lnSpc>
              <a:spcBef>
                <a:spcPts val="0"/>
              </a:spcBef>
              <a:spcAft>
                <a:spcPts val="0"/>
              </a:spcAft>
            </a:pPr>
          </a:p>
          <a:p>
            <a:pPr algn="l">
              <a:lnSpc>
                <a:spcPct val="92000"/>
              </a:lnSpc>
              <a:spcBef>
                <a:spcPts val="0"/>
              </a:spcBef>
              <a:spcAft>
                <a:spcPts val="0"/>
              </a:spcAft>
            </a:pPr>
            <a:r>
              <a:rPr sz="1160" b="0">
                <a:solidFill>
                  <a:srgbClr val="232D38"/>
                </a:solidFill>
                <a:latin typeface="Arial"/>
              </a:rPr>
              <a:t>Học sinh: “Em lấy khối (a + b)… thành ((a + b) + c)… chia / 3.”</a:t>
            </a:r>
          </a:p>
          <a:p>
            <a:pPr algn="l">
              <a:lnSpc>
                <a:spcPct val="92000"/>
              </a:lnSpc>
              <a:spcBef>
                <a:spcPts val="0"/>
              </a:spcBef>
              <a:spcAft>
                <a:spcPts val="0"/>
              </a:spcAft>
            </a:pPr>
          </a:p>
          <a:p>
            <a:pPr algn="l">
              <a:lnSpc>
                <a:spcPct val="92000"/>
              </a:lnSpc>
              <a:spcBef>
                <a:spcPts val="0"/>
              </a:spcBef>
              <a:spcAft>
                <a:spcPts val="0"/>
              </a:spcAft>
            </a:pPr>
            <a:r>
              <a:rPr sz="1160" b="0">
                <a:solidFill>
                  <a:srgbClr val="232D38"/>
                </a:solidFill>
                <a:latin typeface="Arial"/>
              </a:rPr>
              <a:t>Gia sư: “Tuyệt cú mèo!... Hãy mở Scratch lên và chạy thử…”</a:t>
            </a:r>
          </a:p>
        </p:txBody>
      </p:sp>
      <p:cxnSp>
        <p:nvCxnSpPr>
          <p:cNvPr id="10" name="Connector 9"/>
          <p:cNvCxnSpPr/>
          <p:nvPr/>
        </p:nvCxnSpPr>
        <p:spPr>
          <a:xfrm>
            <a:off x="3886200" y="2560320"/>
            <a:ext cx="685800" cy="0"/>
          </a:xfrm>
          <a:prstGeom prst="line">
            <a:avLst/>
          </a:prstGeom>
          <a:ln w="31750">
            <a:solidFill>
              <a:srgbClr val="008B9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86200" y="4434840"/>
            <a:ext cx="685800" cy="0"/>
          </a:xfrm>
          <a:prstGeom prst="line">
            <a:avLst/>
          </a:prstGeom>
          <a:ln w="31750">
            <a:solidFill>
              <a:srgbClr val="008B9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63440" y="1508760"/>
            <a:ext cx="2971800" cy="192024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63440" y="1508760"/>
            <a:ext cx="91440" cy="192024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64607" y="1618488"/>
            <a:ext cx="2651760"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400" b="1">
                <a:solidFill>
                  <a:srgbClr val="183D70"/>
                </a:solidFill>
                <a:latin typeface="Arial"/>
              </a:rPr>
              <a:t>Ứng viên từ lượt gia sư thứ nhất</a:t>
            </a:r>
          </a:p>
        </p:txBody>
      </p:sp>
      <p:sp>
        <p:nvSpPr>
          <p:cNvPr id="15" name="TextBox 14"/>
          <p:cNvSpPr txBox="1"/>
          <p:nvPr/>
        </p:nvSpPr>
        <p:spPr>
          <a:xfrm>
            <a:off x="4864607" y="2057400"/>
            <a:ext cx="2660904" cy="12618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20" b="0">
                <a:solidFill>
                  <a:srgbClr val="232D38"/>
                </a:solidFill>
                <a:latin typeface="Arial"/>
              </a:rPr>
              <a:t>Bối cảnh: chỉ lời mở đầu của học sinh.</a:t>
            </a:r>
          </a:p>
          <a:p>
            <a:pPr algn="l">
              <a:lnSpc>
                <a:spcPct val="100000"/>
              </a:lnSpc>
              <a:spcBef>
                <a:spcPts val="0"/>
              </a:spcBef>
              <a:spcAft>
                <a:spcPts val="0"/>
              </a:spcAft>
            </a:pPr>
          </a:p>
          <a:p>
            <a:pPr algn="l">
              <a:lnSpc>
                <a:spcPct val="100000"/>
              </a:lnSpc>
              <a:spcBef>
                <a:spcPts val="0"/>
              </a:spcBef>
              <a:spcAft>
                <a:spcPts val="0"/>
              </a:spcAft>
            </a:pPr>
            <a:r>
              <a:rPr sz="1220" b="0">
                <a:solidFill>
                  <a:srgbClr val="232D38"/>
                </a:solidFill>
                <a:latin typeface="Arial"/>
              </a:rPr>
              <a:t>Phản hồi nguồn: câu hỏi về biến cần bổ sung.</a:t>
            </a:r>
          </a:p>
        </p:txBody>
      </p:sp>
      <p:sp>
        <p:nvSpPr>
          <p:cNvPr id="16" name="Rounded Rectangle 15"/>
          <p:cNvSpPr/>
          <p:nvPr/>
        </p:nvSpPr>
        <p:spPr>
          <a:xfrm>
            <a:off x="4663440" y="3675887"/>
            <a:ext cx="2971800" cy="1920240"/>
          </a:xfrm>
          <a:prstGeom prst="roundRect">
            <a:avLst/>
          </a:prstGeom>
          <a:solidFill>
            <a:srgbClr val="F1ECF8"/>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3675887"/>
            <a:ext cx="91440" cy="1920240"/>
          </a:xfrm>
          <a:prstGeom prst="rect">
            <a:avLst/>
          </a:prstGeom>
          <a:solidFill>
            <a:srgbClr val="6D5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4607" y="3785615"/>
            <a:ext cx="2651760"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400" b="1">
                <a:solidFill>
                  <a:srgbClr val="183D70"/>
                </a:solidFill>
                <a:latin typeface="Arial"/>
              </a:rPr>
              <a:t>Ứng viên từ lượt gia sư thứ hai</a:t>
            </a:r>
          </a:p>
        </p:txBody>
      </p:sp>
      <p:sp>
        <p:nvSpPr>
          <p:cNvPr id="19" name="TextBox 18"/>
          <p:cNvSpPr txBox="1"/>
          <p:nvPr/>
        </p:nvSpPr>
        <p:spPr>
          <a:xfrm>
            <a:off x="4864607" y="4224527"/>
            <a:ext cx="2660904" cy="12618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90" b="0">
                <a:solidFill>
                  <a:srgbClr val="232D38"/>
                </a:solidFill>
                <a:latin typeface="Arial"/>
              </a:rPr>
              <a:t>Bối cảnh: thêm câu hỏi của gia sư và câu trả lời “cần biến c”.</a:t>
            </a:r>
          </a:p>
          <a:p>
            <a:pPr algn="l">
              <a:lnSpc>
                <a:spcPct val="100000"/>
              </a:lnSpc>
              <a:spcBef>
                <a:spcPts val="0"/>
              </a:spcBef>
              <a:spcAft>
                <a:spcPts val="0"/>
              </a:spcAft>
            </a:pPr>
          </a:p>
          <a:p>
            <a:pPr algn="l">
              <a:lnSpc>
                <a:spcPct val="100000"/>
              </a:lnSpc>
              <a:spcBef>
                <a:spcPts val="0"/>
              </a:spcBef>
              <a:spcAft>
                <a:spcPts val="0"/>
              </a:spcAft>
            </a:pPr>
            <a:r>
              <a:rPr sz="1190" b="0">
                <a:solidFill>
                  <a:srgbClr val="232D38"/>
                </a:solidFill>
                <a:latin typeface="Arial"/>
              </a:rPr>
              <a:t>Phản hồi nguồn: câu hỏi về cách lồng hai khối cộng.</a:t>
            </a:r>
          </a:p>
        </p:txBody>
      </p:sp>
      <p:sp>
        <p:nvSpPr>
          <p:cNvPr id="20" name="Rounded Rectangle 19"/>
          <p:cNvSpPr/>
          <p:nvPr/>
        </p:nvSpPr>
        <p:spPr>
          <a:xfrm>
            <a:off x="7955279" y="1508760"/>
            <a:ext cx="3474720" cy="4087368"/>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1508760"/>
            <a:ext cx="91440" cy="4087368"/>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1618488"/>
            <a:ext cx="3154679"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00" b="1">
                <a:solidFill>
                  <a:srgbClr val="183D70"/>
                </a:solidFill>
                <a:latin typeface="Arial"/>
              </a:rPr>
              <a:t>Ứng viên từ lượt gia sư thứ ba</a:t>
            </a:r>
          </a:p>
        </p:txBody>
      </p:sp>
      <p:sp>
        <p:nvSpPr>
          <p:cNvPr id="23" name="TextBox 22"/>
          <p:cNvSpPr txBox="1"/>
          <p:nvPr/>
        </p:nvSpPr>
        <p:spPr>
          <a:xfrm>
            <a:off x="8156448" y="2057400"/>
            <a:ext cx="3163824" cy="3429000"/>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30" b="0">
                <a:solidFill>
                  <a:srgbClr val="232D38"/>
                </a:solidFill>
                <a:latin typeface="Arial"/>
              </a:rPr>
              <a:t>Bối cảnh: thêm cách học sinh tạo ((a + b) + c) rồi chia 3.</a:t>
            </a:r>
          </a:p>
          <a:p>
            <a:pPr algn="l">
              <a:lnSpc>
                <a:spcPct val="100000"/>
              </a:lnSpc>
              <a:spcBef>
                <a:spcPts val="0"/>
              </a:spcBef>
              <a:spcAft>
                <a:spcPts val="0"/>
              </a:spcAft>
            </a:pPr>
          </a:p>
          <a:p>
            <a:pPr algn="l">
              <a:lnSpc>
                <a:spcPct val="100000"/>
              </a:lnSpc>
              <a:spcBef>
                <a:spcPts val="0"/>
              </a:spcBef>
              <a:spcAft>
                <a:spcPts val="0"/>
              </a:spcAft>
            </a:pPr>
            <a:r>
              <a:rPr sz="1230" b="0">
                <a:solidFill>
                  <a:srgbClr val="232D38"/>
                </a:solidFill>
                <a:latin typeface="Arial"/>
              </a:rPr>
              <a:t>Phản hồi nguồn: khen ngợi và yêu cầu mở Scratch chạy thử.</a:t>
            </a:r>
          </a:p>
          <a:p>
            <a:pPr algn="l">
              <a:lnSpc>
                <a:spcPct val="100000"/>
              </a:lnSpc>
              <a:spcBef>
                <a:spcPts val="0"/>
              </a:spcBef>
              <a:spcAft>
                <a:spcPts val="0"/>
              </a:spcAft>
            </a:pPr>
          </a:p>
          <a:p>
            <a:pPr algn="l">
              <a:lnSpc>
                <a:spcPct val="100000"/>
              </a:lnSpc>
              <a:spcBef>
                <a:spcPts val="0"/>
              </a:spcBef>
              <a:spcAft>
                <a:spcPts val="0"/>
              </a:spcAft>
            </a:pPr>
            <a:r>
              <a:rPr sz="1230" b="0">
                <a:solidFill>
                  <a:srgbClr val="232D38"/>
                </a:solidFill>
                <a:latin typeface="Arial"/>
              </a:rPr>
              <a:t>Cả ba ứng viên đều giữ nguyên vị trí và câu chữ nguồn; chưa gán nhiệm vụ.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36576" rIns="36576" tIns="36576" bIns="36576" anchor="t">
            <a:spAutoFit/>
          </a:bodyPr>
          <a:lstStyle/>
          <a:p>
            <a:pPr algn="l">
              <a:lnSpc>
                <a:spcPct val="100000"/>
              </a:lnSpc>
            </a:pPr>
            <a:r>
              <a:rPr sz="950" b="1">
                <a:solidFill>
                  <a:srgbClr val="008B93"/>
                </a:solidFill>
                <a:latin typeface="Arial"/>
              </a:rPr>
              <a:t>BƯỚC 3 — AGENT ĐỀ XUẤT, CON NGƯỜI QUYẾT ĐỊNH</a:t>
            </a:r>
          </a:p>
        </p:txBody>
      </p:sp>
      <p:sp>
        <p:nvSpPr>
          <p:cNvPr id="3" name="TextBox 2"/>
          <p:cNvSpPr txBox="1"/>
          <p:nvPr/>
        </p:nvSpPr>
        <p:spPr>
          <a:xfrm>
            <a:off x="640080" y="749808"/>
            <a:ext cx="10469880" cy="512064"/>
          </a:xfrm>
          <a:prstGeom prst="rect">
            <a:avLst/>
          </a:prstGeom>
          <a:noFill/>
        </p:spPr>
        <p:txBody>
          <a:bodyPr wrap="square" lIns="36576" rIns="36576" tIns="36576" bIns="36576" anchor="ctr">
            <a:spAutoFit/>
          </a:bodyPr>
          <a:lstStyle/>
          <a:p>
            <a:pPr algn="l">
              <a:lnSpc>
                <a:spcPct val="100000"/>
              </a:lnSpc>
            </a:pPr>
            <a:r>
              <a:rPr sz="2600" b="1">
                <a:solidFill>
                  <a:srgbClr val="183D70"/>
                </a:solidFill>
                <a:latin typeface="Arial"/>
              </a:rPr>
              <a:t>Agent xác định nhiệm vụ cho từng ứng viên</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7</a:t>
            </a:r>
          </a:p>
        </p:txBody>
      </p:sp>
      <p:sp>
        <p:nvSpPr>
          <p:cNvPr id="6" name="Rounded Rectangle 5"/>
          <p:cNvSpPr/>
          <p:nvPr/>
        </p:nvSpPr>
        <p:spPr>
          <a:xfrm>
            <a:off x="658368" y="1554480"/>
            <a:ext cx="2788920" cy="416052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54480"/>
            <a:ext cx="91440" cy="416052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64207"/>
            <a:ext cx="2468879"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50" b="1">
                <a:solidFill>
                  <a:srgbClr val="183D70"/>
                </a:solidFill>
                <a:latin typeface="Arial"/>
              </a:rPr>
              <a:t>Ví dụ đầu vào: lượt gia sư thứ hai</a:t>
            </a:r>
          </a:p>
        </p:txBody>
      </p:sp>
      <p:sp>
        <p:nvSpPr>
          <p:cNvPr id="9" name="TextBox 8"/>
          <p:cNvSpPr txBox="1"/>
          <p:nvPr/>
        </p:nvSpPr>
        <p:spPr>
          <a:xfrm>
            <a:off x="859536" y="2103120"/>
            <a:ext cx="2478024" cy="350215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20" b="0">
                <a:solidFill>
                  <a:srgbClr val="232D38"/>
                </a:solidFill>
                <a:latin typeface="Arial"/>
              </a:rPr>
              <a:t>Yêu cầu ban đầu: học sinh muốn sửa chương trình để tính trung bình cộng 3 số.</a:t>
            </a:r>
          </a:p>
          <a:p>
            <a:pPr algn="l">
              <a:lnSpc>
                <a:spcPct val="100000"/>
              </a:lnSpc>
              <a:spcBef>
                <a:spcPts val="0"/>
              </a:spcBef>
              <a:spcAft>
                <a:spcPts val="0"/>
              </a:spcAft>
            </a:pPr>
          </a:p>
          <a:p>
            <a:pPr algn="l">
              <a:lnSpc>
                <a:spcPct val="100000"/>
              </a:lnSpc>
              <a:spcBef>
                <a:spcPts val="0"/>
              </a:spcBef>
              <a:spcAft>
                <a:spcPts val="0"/>
              </a:spcAft>
            </a:pPr>
            <a:r>
              <a:rPr sz="1220" b="0">
                <a:solidFill>
                  <a:srgbClr val="232D38"/>
                </a:solidFill>
                <a:latin typeface="Arial"/>
              </a:rPr>
              <a:t>Lịch sử: gia sư hỏi biến cần thêm; học sinh trả lời cần biến c.</a:t>
            </a:r>
          </a:p>
          <a:p>
            <a:pPr algn="l">
              <a:lnSpc>
                <a:spcPct val="100000"/>
              </a:lnSpc>
              <a:spcBef>
                <a:spcPts val="0"/>
              </a:spcBef>
              <a:spcAft>
                <a:spcPts val="0"/>
              </a:spcAft>
            </a:pPr>
          </a:p>
          <a:p>
            <a:pPr algn="l">
              <a:lnSpc>
                <a:spcPct val="100000"/>
              </a:lnSpc>
              <a:spcBef>
                <a:spcPts val="0"/>
              </a:spcBef>
              <a:spcAft>
                <a:spcPts val="0"/>
              </a:spcAft>
            </a:pPr>
            <a:r>
              <a:rPr sz="1220" b="0">
                <a:solidFill>
                  <a:srgbClr val="232D38"/>
                </a:solidFill>
                <a:latin typeface="Arial"/>
              </a:rPr>
              <a:t>Lượt mục tiêu nguồn: gia sư hỏi cách lồng hai khối cộng.</a:t>
            </a:r>
          </a:p>
          <a:p>
            <a:pPr algn="l">
              <a:lnSpc>
                <a:spcPct val="100000"/>
              </a:lnSpc>
              <a:spcBef>
                <a:spcPts val="0"/>
              </a:spcBef>
              <a:spcAft>
                <a:spcPts val="0"/>
              </a:spcAft>
            </a:pPr>
          </a:p>
          <a:p>
            <a:pPr algn="l">
              <a:lnSpc>
                <a:spcPct val="100000"/>
              </a:lnSpc>
              <a:spcBef>
                <a:spcPts val="0"/>
              </a:spcBef>
              <a:spcAft>
                <a:spcPts val="0"/>
              </a:spcAft>
            </a:pPr>
            <a:r>
              <a:rPr sz="1220" b="0">
                <a:solidFill>
                  <a:srgbClr val="232D38"/>
                </a:solidFill>
                <a:latin typeface="Arial"/>
              </a:rPr>
              <a:t>Đáp án và nhãn giàn giáo được giữ riêng.</a:t>
            </a:r>
          </a:p>
        </p:txBody>
      </p:sp>
      <p:cxnSp>
        <p:nvCxnSpPr>
          <p:cNvPr id="10" name="Connector 9"/>
          <p:cNvCxnSpPr/>
          <p:nvPr/>
        </p:nvCxnSpPr>
        <p:spPr>
          <a:xfrm>
            <a:off x="3566160" y="3611880"/>
            <a:ext cx="658368" cy="0"/>
          </a:xfrm>
          <a:prstGeom prst="line">
            <a:avLst/>
          </a:prstGeom>
          <a:ln w="34290">
            <a:solidFill>
              <a:srgbClr val="6D53A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15968" y="1554480"/>
            <a:ext cx="3657600" cy="4160520"/>
          </a:xfrm>
          <a:prstGeom prst="roundRect">
            <a:avLst/>
          </a:prstGeom>
          <a:solidFill>
            <a:srgbClr val="F1ECF8"/>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554480"/>
            <a:ext cx="91440" cy="4160520"/>
          </a:xfrm>
          <a:prstGeom prst="rect">
            <a:avLst/>
          </a:prstGeom>
          <a:solidFill>
            <a:srgbClr val="6D5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664207"/>
            <a:ext cx="3337560"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600" b="1">
                <a:solidFill>
                  <a:srgbClr val="183D70"/>
                </a:solidFill>
                <a:latin typeface="Arial"/>
              </a:rPr>
              <a:t>Ví dụ đề xuất của agent</a:t>
            </a:r>
          </a:p>
        </p:txBody>
      </p:sp>
      <p:sp>
        <p:nvSpPr>
          <p:cNvPr id="14" name="TextBox 13"/>
          <p:cNvSpPr txBox="1"/>
          <p:nvPr/>
        </p:nvSpPr>
        <p:spPr>
          <a:xfrm>
            <a:off x="4517136" y="2103120"/>
            <a:ext cx="3346704" cy="350215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10" b="0">
                <a:solidFill>
                  <a:srgbClr val="232D38"/>
                </a:solidFill>
                <a:latin typeface="Arial"/>
              </a:rPr>
              <a:t>Nhiệm vụ chính: Gợi ý từng bước để học sinh tự đi tiếp.</a:t>
            </a:r>
          </a:p>
          <a:p>
            <a:pPr algn="l">
              <a:lnSpc>
                <a:spcPct val="100000"/>
              </a:lnSpc>
              <a:spcBef>
                <a:spcPts val="0"/>
              </a:spcBef>
              <a:spcAft>
                <a:spcPts val="0"/>
              </a:spcAft>
            </a:pPr>
          </a:p>
          <a:p>
            <a:pPr algn="l">
              <a:lnSpc>
                <a:spcPct val="100000"/>
              </a:lnSpc>
              <a:spcBef>
                <a:spcPts val="0"/>
              </a:spcBef>
              <a:spcAft>
                <a:spcPts val="0"/>
              </a:spcAft>
            </a:pPr>
            <a:r>
              <a:rPr sz="1210" b="0">
                <a:solidFill>
                  <a:srgbClr val="232D38"/>
                </a:solidFill>
                <a:latin typeface="Arial"/>
              </a:rPr>
              <a:t>Luận giải: gia sư không đưa cách lồng khối; gia sư đặt câu hỏi để học sinh tự xây bước tiếp theo.</a:t>
            </a:r>
          </a:p>
          <a:p>
            <a:pPr algn="l">
              <a:lnSpc>
                <a:spcPct val="100000"/>
              </a:lnSpc>
              <a:spcBef>
                <a:spcPts val="0"/>
              </a:spcBef>
              <a:spcAft>
                <a:spcPts val="0"/>
              </a:spcAft>
            </a:pPr>
          </a:p>
          <a:p>
            <a:pPr algn="l">
              <a:lnSpc>
                <a:spcPct val="100000"/>
              </a:lnSpc>
              <a:spcBef>
                <a:spcPts val="0"/>
              </a:spcBef>
              <a:spcAft>
                <a:spcPts val="0"/>
              </a:spcAft>
            </a:pPr>
            <a:r>
              <a:rPr sz="1210" b="0">
                <a:solidFill>
                  <a:srgbClr val="232D38"/>
                </a:solidFill>
                <a:latin typeface="Arial"/>
              </a:rPr>
              <a:t>Bằng chứng: “em phải lồng ghép 2 khối phép cộng đó vào nhau như thế nào?”</a:t>
            </a:r>
          </a:p>
          <a:p>
            <a:pPr algn="l">
              <a:lnSpc>
                <a:spcPct val="100000"/>
              </a:lnSpc>
              <a:spcBef>
                <a:spcPts val="0"/>
              </a:spcBef>
              <a:spcAft>
                <a:spcPts val="0"/>
              </a:spcAft>
            </a:pPr>
          </a:p>
          <a:p>
            <a:pPr algn="l">
              <a:lnSpc>
                <a:spcPct val="100000"/>
              </a:lnSpc>
              <a:spcBef>
                <a:spcPts val="0"/>
              </a:spcBef>
              <a:spcAft>
                <a:spcPts val="0"/>
              </a:spcAft>
            </a:pPr>
            <a:r>
              <a:rPr sz="1210" b="0">
                <a:solidFill>
                  <a:srgbClr val="232D38"/>
                </a:solidFill>
                <a:latin typeface="Arial"/>
              </a:rPr>
              <a:t>Độ tin cậy minh họa: 0,90. Trạng thái: chờ duyệt.</a:t>
            </a:r>
          </a:p>
        </p:txBody>
      </p:sp>
      <p:cxnSp>
        <p:nvCxnSpPr>
          <p:cNvPr id="15" name="Connector 14"/>
          <p:cNvCxnSpPr/>
          <p:nvPr/>
        </p:nvCxnSpPr>
        <p:spPr>
          <a:xfrm>
            <a:off x="8092440" y="3611880"/>
            <a:ext cx="658368" cy="0"/>
          </a:xfrm>
          <a:prstGeom prst="line">
            <a:avLst/>
          </a:prstGeom>
          <a:ln w="34290">
            <a:solidFill>
              <a:srgbClr val="379B5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842248" y="1554480"/>
            <a:ext cx="2578608" cy="4160520"/>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42248" y="1554480"/>
            <a:ext cx="91440" cy="416052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1664207"/>
            <a:ext cx="2258568"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00" b="1">
                <a:solidFill>
                  <a:srgbClr val="183D70"/>
                </a:solidFill>
                <a:latin typeface="Arial"/>
              </a:rPr>
              <a:t>Ví dụ quyết định của người duyệt</a:t>
            </a:r>
          </a:p>
        </p:txBody>
      </p:sp>
      <p:sp>
        <p:nvSpPr>
          <p:cNvPr id="19" name="TextBox 18"/>
          <p:cNvSpPr txBox="1"/>
          <p:nvPr/>
        </p:nvSpPr>
        <p:spPr>
          <a:xfrm>
            <a:off x="9043416" y="2103120"/>
            <a:ext cx="2267712" cy="350215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190" b="0">
                <a:solidFill>
                  <a:srgbClr val="232D38"/>
                </a:solidFill>
                <a:latin typeface="Arial"/>
              </a:rPr>
              <a:t>Giả sử UET/HNMU chấp nhận:</a:t>
            </a:r>
          </a:p>
          <a:p>
            <a:pPr algn="l">
              <a:lnSpc>
                <a:spcPct val="100000"/>
              </a:lnSpc>
              <a:spcBef>
                <a:spcPts val="0"/>
              </a:spcBef>
              <a:spcAft>
                <a:spcPts val="0"/>
              </a:spcAft>
            </a:pPr>
          </a:p>
          <a:p>
            <a:pPr algn="l">
              <a:lnSpc>
                <a:spcPct val="100000"/>
              </a:lnSpc>
              <a:spcBef>
                <a:spcPts val="0"/>
              </a:spcBef>
              <a:spcAft>
                <a:spcPts val="0"/>
              </a:spcAft>
            </a:pPr>
            <a:r>
              <a:rPr sz="1190" b="0">
                <a:solidFill>
                  <a:srgbClr val="232D38"/>
                </a:solidFill>
                <a:latin typeface="Arial"/>
              </a:rPr>
              <a:t>• đúng nhiệm vụ;</a:t>
            </a:r>
          </a:p>
          <a:p>
            <a:pPr algn="l">
              <a:lnSpc>
                <a:spcPct val="100000"/>
              </a:lnSpc>
              <a:spcBef>
                <a:spcPts val="0"/>
              </a:spcBef>
              <a:spcAft>
                <a:spcPts val="0"/>
              </a:spcAft>
            </a:pPr>
            <a:r>
              <a:rPr sz="1190" b="0">
                <a:solidFill>
                  <a:srgbClr val="232D38"/>
                </a:solidFill>
                <a:latin typeface="Arial"/>
              </a:rPr>
              <a:t>• đúng điểm cắt;</a:t>
            </a:r>
          </a:p>
          <a:p>
            <a:pPr algn="l">
              <a:lnSpc>
                <a:spcPct val="100000"/>
              </a:lnSpc>
              <a:spcBef>
                <a:spcPts val="0"/>
              </a:spcBef>
              <a:spcAft>
                <a:spcPts val="0"/>
              </a:spcAft>
            </a:pPr>
            <a:r>
              <a:rPr sz="1190" b="0">
                <a:solidFill>
                  <a:srgbClr val="232D38"/>
                </a:solidFill>
                <a:latin typeface="Arial"/>
              </a:rPr>
              <a:t>• lịch sử kết thúc ở lượt học sinh;</a:t>
            </a:r>
          </a:p>
          <a:p>
            <a:pPr algn="l">
              <a:lnSpc>
                <a:spcPct val="100000"/>
              </a:lnSpc>
              <a:spcBef>
                <a:spcPts val="0"/>
              </a:spcBef>
              <a:spcAft>
                <a:spcPts val="0"/>
              </a:spcAft>
            </a:pPr>
            <a:r>
              <a:rPr sz="1190" b="0">
                <a:solidFill>
                  <a:srgbClr val="232D38"/>
                </a:solidFill>
                <a:latin typeface="Arial"/>
              </a:rPr>
              <a:t>• phản hồi nguồn giữ nguyên.</a:t>
            </a:r>
          </a:p>
          <a:p>
            <a:pPr algn="l">
              <a:lnSpc>
                <a:spcPct val="100000"/>
              </a:lnSpc>
              <a:spcBef>
                <a:spcPts val="0"/>
              </a:spcBef>
              <a:spcAft>
                <a:spcPts val="0"/>
              </a:spcAft>
            </a:pPr>
          </a:p>
          <a:p>
            <a:pPr algn="l">
              <a:lnSpc>
                <a:spcPct val="100000"/>
              </a:lnSpc>
              <a:spcBef>
                <a:spcPts val="0"/>
              </a:spcBef>
              <a:spcAft>
                <a:spcPts val="0"/>
              </a:spcAft>
            </a:pPr>
            <a:r>
              <a:rPr sz="1190" b="0">
                <a:solidFill>
                  <a:srgbClr val="232D38"/>
                </a:solidFill>
                <a:latin typeface="Arial"/>
              </a:rPr>
              <a:t>Nếu chưa phù hợp: sửa, đánh dấu chưa xác định hoặc loại.</a:t>
            </a:r>
          </a:p>
        </p:txBody>
      </p:sp>
      <p:sp>
        <p:nvSpPr>
          <p:cNvPr id="20" name="Rounded Rectangle 19"/>
          <p:cNvSpPr/>
          <p:nvPr/>
        </p:nvSpPr>
        <p:spPr>
          <a:xfrm>
            <a:off x="841248" y="5769864"/>
            <a:ext cx="2194560" cy="384048"/>
          </a:xfrm>
          <a:prstGeom prst="roundRect">
            <a:avLst/>
          </a:prstGeom>
          <a:solidFill>
            <a:srgbClr val="E2F3FA"/>
          </a:solidFill>
          <a:ln>
            <a:solidFill>
              <a:srgbClr val="E2F3FA"/>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60" b="1">
                <a:solidFill>
                  <a:srgbClr val="183D70"/>
                </a:solidFill>
                <a:latin typeface="Arial"/>
              </a:rPr>
              <a:t>Giải thích thích ứng</a:t>
            </a:r>
          </a:p>
        </p:txBody>
      </p:sp>
      <p:sp>
        <p:nvSpPr>
          <p:cNvPr id="21" name="Rounded Rectangle 20"/>
          <p:cNvSpPr/>
          <p:nvPr/>
        </p:nvSpPr>
        <p:spPr>
          <a:xfrm>
            <a:off x="3200400" y="5769864"/>
            <a:ext cx="2971800" cy="384048"/>
          </a:xfrm>
          <a:prstGeom prst="roundRect">
            <a:avLst/>
          </a:prstGeom>
          <a:solidFill>
            <a:srgbClr val="E8F6EC"/>
          </a:solidFill>
          <a:ln>
            <a:solidFill>
              <a:srgbClr val="E8F6EC"/>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30" b="1">
                <a:solidFill>
                  <a:srgbClr val="379B5C"/>
                </a:solidFill>
                <a:latin typeface="Arial"/>
              </a:rPr>
              <a:t>Phản hồi bài làm hoặc lập luận</a:t>
            </a:r>
          </a:p>
        </p:txBody>
      </p:sp>
      <p:sp>
        <p:nvSpPr>
          <p:cNvPr id="22" name="Rounded Rectangle 21"/>
          <p:cNvSpPr/>
          <p:nvPr/>
        </p:nvSpPr>
        <p:spPr>
          <a:xfrm>
            <a:off x="6327648" y="5769864"/>
            <a:ext cx="2606040" cy="384048"/>
          </a:xfrm>
          <a:prstGeom prst="roundRect">
            <a:avLst/>
          </a:prstGeom>
          <a:solidFill>
            <a:srgbClr val="FDF2E0"/>
          </a:solidFill>
          <a:ln>
            <a:solidFill>
              <a:srgbClr val="FDF2E0"/>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60" b="1">
                <a:solidFill>
                  <a:srgbClr val="EB8E2E"/>
                </a:solidFill>
                <a:latin typeface="Arial"/>
              </a:rPr>
              <a:t>Gợi ý từng bước</a:t>
            </a:r>
          </a:p>
        </p:txBody>
      </p:sp>
      <p:sp>
        <p:nvSpPr>
          <p:cNvPr id="23" name="Rounded Rectangle 22"/>
          <p:cNvSpPr/>
          <p:nvPr/>
        </p:nvSpPr>
        <p:spPr>
          <a:xfrm>
            <a:off x="9098280" y="5769864"/>
            <a:ext cx="2240280" cy="384048"/>
          </a:xfrm>
          <a:prstGeom prst="roundRect">
            <a:avLst/>
          </a:prstGeom>
          <a:solidFill>
            <a:srgbClr val="F1ECF8"/>
          </a:solidFill>
          <a:ln>
            <a:solidFill>
              <a:srgbClr val="F1ECF8"/>
            </a:solidFill>
          </a:ln>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6D53A4"/>
                </a:solidFill>
                <a:latin typeface="Arial"/>
              </a:rPr>
              <a:t>Chẩn đoán lỗi/thiếu nền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36576" rIns="36576" tIns="36576" bIns="36576" anchor="t">
            <a:spAutoFit/>
          </a:bodyPr>
          <a:lstStyle/>
          <a:p>
            <a:pPr algn="l">
              <a:lnSpc>
                <a:spcPct val="100000"/>
              </a:lnSpc>
            </a:pPr>
            <a:r>
              <a:rPr sz="950" b="1">
                <a:solidFill>
                  <a:srgbClr val="008B93"/>
                </a:solidFill>
                <a:latin typeface="Arial"/>
              </a:rPr>
              <a:t>BƯỚC 4 — HOÀN THIỆN MẪU SAU KHI NHIỆM VỤ ĐƯỢC DUYỆT</a:t>
            </a:r>
          </a:p>
        </p:txBody>
      </p:sp>
      <p:sp>
        <p:nvSpPr>
          <p:cNvPr id="3" name="TextBox 2"/>
          <p:cNvSpPr txBox="1"/>
          <p:nvPr/>
        </p:nvSpPr>
        <p:spPr>
          <a:xfrm>
            <a:off x="640080" y="749808"/>
            <a:ext cx="10469880" cy="512064"/>
          </a:xfrm>
          <a:prstGeom prst="rect">
            <a:avLst/>
          </a:prstGeom>
          <a:noFill/>
        </p:spPr>
        <p:txBody>
          <a:bodyPr wrap="square" lIns="36576" rIns="36576" tIns="36576" bIns="36576" anchor="ctr">
            <a:spAutoFit/>
          </a:bodyPr>
          <a:lstStyle/>
          <a:p>
            <a:pPr algn="l">
              <a:lnSpc>
                <a:spcPct val="100000"/>
              </a:lnSpc>
            </a:pPr>
            <a:r>
              <a:rPr sz="2600" b="1">
                <a:solidFill>
                  <a:srgbClr val="183D70"/>
                </a:solidFill>
                <a:latin typeface="Arial"/>
              </a:rPr>
              <a:t>Hoàn thiện phiếu tác giả và tạo đầu vào mô hình</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8</a:t>
            </a:r>
          </a:p>
        </p:txBody>
      </p:sp>
      <p:sp>
        <p:nvSpPr>
          <p:cNvPr id="6" name="Rounded Rectangle 5"/>
          <p:cNvSpPr/>
          <p:nvPr/>
        </p:nvSpPr>
        <p:spPr>
          <a:xfrm>
            <a:off x="658368" y="1572768"/>
            <a:ext cx="5102352" cy="429768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72768"/>
            <a:ext cx="91440" cy="429768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82495"/>
            <a:ext cx="4782312"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50" b="1">
                <a:solidFill>
                  <a:srgbClr val="183D70"/>
                </a:solidFill>
                <a:latin typeface="Arial"/>
              </a:rPr>
              <a:t>Ví dụ phiếu tác giả sau khi nhiệm vụ được duyệt</a:t>
            </a:r>
          </a:p>
        </p:txBody>
      </p:sp>
      <p:sp>
        <p:nvSpPr>
          <p:cNvPr id="9" name="TextBox 8"/>
          <p:cNvSpPr txBox="1"/>
          <p:nvPr/>
        </p:nvSpPr>
        <p:spPr>
          <a:xfrm>
            <a:off x="859536" y="2121408"/>
            <a:ext cx="4791456" cy="3639312"/>
          </a:xfrm>
          <a:prstGeom prst="rect">
            <a:avLst/>
          </a:prstGeom>
          <a:noFill/>
        </p:spPr>
        <p:txBody>
          <a:bodyPr wrap="square" lIns="36576" rIns="36576" tIns="36576" bIns="36576" anchor="t">
            <a:spAutoFit/>
          </a:bodyPr>
          <a:lstStyle/>
          <a:p>
            <a:pPr algn="l">
              <a:lnSpc>
                <a:spcPct val="94000"/>
              </a:lnSpc>
              <a:spcBef>
                <a:spcPts val="0"/>
              </a:spcBef>
              <a:spcAft>
                <a:spcPts val="0"/>
              </a:spcAft>
            </a:pPr>
            <a:r>
              <a:rPr sz="1150" b="0">
                <a:solidFill>
                  <a:srgbClr val="232D38"/>
                </a:solidFill>
                <a:latin typeface="Arial"/>
              </a:rPr>
              <a:t>Nhiệm vụ: Gợi ý từng bước để học sinh tự đi tiếp.</a:t>
            </a:r>
          </a:p>
          <a:p>
            <a:pPr algn="l">
              <a:lnSpc>
                <a:spcPct val="94000"/>
              </a:lnSpc>
              <a:spcBef>
                <a:spcPts val="0"/>
              </a:spcBef>
              <a:spcAft>
                <a:spcPts val="0"/>
              </a:spcAft>
            </a:pPr>
          </a:p>
          <a:p>
            <a:pPr algn="l">
              <a:lnSpc>
                <a:spcPct val="94000"/>
              </a:lnSpc>
              <a:spcBef>
                <a:spcPts val="0"/>
              </a:spcBef>
              <a:spcAft>
                <a:spcPts val="0"/>
              </a:spcAft>
            </a:pPr>
            <a:r>
              <a:rPr sz="1150" b="0">
                <a:solidFill>
                  <a:srgbClr val="232D38"/>
                </a:solidFill>
                <a:latin typeface="Arial"/>
              </a:rPr>
              <a:t>Mức độ: Vận dụng.</a:t>
            </a:r>
          </a:p>
          <a:p>
            <a:pPr algn="l">
              <a:lnSpc>
                <a:spcPct val="94000"/>
              </a:lnSpc>
              <a:spcBef>
                <a:spcPts val="0"/>
              </a:spcBef>
              <a:spcAft>
                <a:spcPts val="0"/>
              </a:spcAft>
            </a:pPr>
          </a:p>
          <a:p>
            <a:pPr algn="l">
              <a:lnSpc>
                <a:spcPct val="94000"/>
              </a:lnSpc>
              <a:spcBef>
                <a:spcPts val="0"/>
              </a:spcBef>
              <a:spcAft>
                <a:spcPts val="0"/>
              </a:spcAft>
            </a:pPr>
            <a:r>
              <a:rPr sz="1150" b="0">
                <a:solidFill>
                  <a:srgbClr val="232D38"/>
                </a:solidFill>
                <a:latin typeface="Arial"/>
              </a:rPr>
              <a:t>Yêu cầu ban đầu: “Em muốn sửa bài tính tổng 2 số thành tính trung bình cộng 3 số thì thao tác thế nào trên Scratch ạ?”</a:t>
            </a:r>
          </a:p>
          <a:p>
            <a:pPr algn="l">
              <a:lnSpc>
                <a:spcPct val="94000"/>
              </a:lnSpc>
              <a:spcBef>
                <a:spcPts val="0"/>
              </a:spcBef>
              <a:spcAft>
                <a:spcPts val="0"/>
              </a:spcAft>
            </a:pPr>
          </a:p>
          <a:p>
            <a:pPr algn="l">
              <a:lnSpc>
                <a:spcPct val="94000"/>
              </a:lnSpc>
              <a:spcBef>
                <a:spcPts val="0"/>
              </a:spcBef>
              <a:spcAft>
                <a:spcPts val="0"/>
              </a:spcAft>
            </a:pPr>
            <a:r>
              <a:rPr sz="1150" b="0">
                <a:solidFill>
                  <a:srgbClr val="232D38"/>
                </a:solidFill>
                <a:latin typeface="Arial"/>
              </a:rPr>
              <a:t>Lịch sử: gia sư hỏi biến cần thêm → học sinh trả lời cần biến c và dùng lệnh hỏi.</a:t>
            </a:r>
          </a:p>
          <a:p>
            <a:pPr algn="l">
              <a:lnSpc>
                <a:spcPct val="94000"/>
              </a:lnSpc>
              <a:spcBef>
                <a:spcPts val="0"/>
              </a:spcBef>
              <a:spcAft>
                <a:spcPts val="0"/>
              </a:spcAft>
            </a:pPr>
          </a:p>
          <a:p>
            <a:pPr algn="l">
              <a:lnSpc>
                <a:spcPct val="94000"/>
              </a:lnSpc>
              <a:spcBef>
                <a:spcPts val="0"/>
              </a:spcBef>
              <a:spcAft>
                <a:spcPts val="0"/>
              </a:spcAft>
            </a:pPr>
            <a:r>
              <a:rPr sz="1150" b="0">
                <a:solidFill>
                  <a:srgbClr val="232D38"/>
                </a:solidFill>
                <a:latin typeface="Arial"/>
              </a:rPr>
              <a:t>Đáp án: tạo a, b, c, TBC; đặt TBC = (a + b + c) / 3.</a:t>
            </a:r>
          </a:p>
          <a:p>
            <a:pPr algn="l">
              <a:lnSpc>
                <a:spcPct val="94000"/>
              </a:lnSpc>
              <a:spcBef>
                <a:spcPts val="0"/>
              </a:spcBef>
              <a:spcAft>
                <a:spcPts val="0"/>
              </a:spcAft>
            </a:pPr>
          </a:p>
          <a:p>
            <a:pPr algn="l">
              <a:lnSpc>
                <a:spcPct val="94000"/>
              </a:lnSpc>
              <a:spcBef>
                <a:spcPts val="0"/>
              </a:spcBef>
              <a:spcAft>
                <a:spcPts val="0"/>
              </a:spcAft>
            </a:pPr>
            <a:r>
              <a:rPr sz="1150" b="0">
                <a:solidFill>
                  <a:srgbClr val="232D38"/>
                </a:solidFill>
                <a:latin typeface="Arial"/>
              </a:rPr>
              <a:t>Phản hồi lý tưởng/tham chiếu: giữ nguyên lượt gia sư hỏi cách lồng hai khối cộng.</a:t>
            </a:r>
          </a:p>
        </p:txBody>
      </p:sp>
      <p:cxnSp>
        <p:nvCxnSpPr>
          <p:cNvPr id="10" name="Connector 9"/>
          <p:cNvCxnSpPr/>
          <p:nvPr/>
        </p:nvCxnSpPr>
        <p:spPr>
          <a:xfrm>
            <a:off x="5907024" y="3611880"/>
            <a:ext cx="603504" cy="0"/>
          </a:xfrm>
          <a:prstGeom prst="line">
            <a:avLst/>
          </a:prstGeom>
          <a:ln w="35560">
            <a:solidFill>
              <a:srgbClr val="008B9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01968" y="1572768"/>
            <a:ext cx="4809744" cy="1920240"/>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01968" y="1572768"/>
            <a:ext cx="91440" cy="192024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03136" y="1682495"/>
            <a:ext cx="4489704"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20" b="1">
                <a:solidFill>
                  <a:srgbClr val="183D70"/>
                </a:solidFill>
                <a:latin typeface="Arial"/>
              </a:rPr>
              <a:t>Ví dụ đầu vào mô hình được nhìn thấy</a:t>
            </a:r>
          </a:p>
        </p:txBody>
      </p:sp>
      <p:sp>
        <p:nvSpPr>
          <p:cNvPr id="14" name="TextBox 13"/>
          <p:cNvSpPr txBox="1"/>
          <p:nvPr/>
        </p:nvSpPr>
        <p:spPr>
          <a:xfrm>
            <a:off x="6803136" y="2121408"/>
            <a:ext cx="4498848" cy="1261872"/>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80" b="0">
                <a:solidFill>
                  <a:srgbClr val="232D38"/>
                </a:solidFill>
                <a:latin typeface="Arial"/>
              </a:rPr>
              <a:t>Chỉ dẫn: gợi ý từng bước, chưa đưa thẳng lời giải.</a:t>
            </a:r>
          </a:p>
          <a:p>
            <a:pPr algn="l">
              <a:lnSpc>
                <a:spcPct val="100000"/>
              </a:lnSpc>
              <a:spcBef>
                <a:spcPts val="0"/>
              </a:spcBef>
              <a:spcAft>
                <a:spcPts val="0"/>
              </a:spcAft>
            </a:pPr>
          </a:p>
          <a:p>
            <a:pPr algn="l">
              <a:lnSpc>
                <a:spcPct val="100000"/>
              </a:lnSpc>
              <a:spcBef>
                <a:spcPts val="0"/>
              </a:spcBef>
              <a:spcAft>
                <a:spcPts val="0"/>
              </a:spcAft>
            </a:pPr>
            <a:r>
              <a:rPr sz="1280" b="0">
                <a:solidFill>
                  <a:srgbClr val="232D38"/>
                </a:solidFill>
                <a:latin typeface="Arial"/>
              </a:rPr>
              <a:t>Yêu cầu ban đầu của học sinh + lịch sử gồm câu hỏi về biến và câu trả lời “cần biến c”.</a:t>
            </a:r>
          </a:p>
        </p:txBody>
      </p:sp>
      <p:sp>
        <p:nvSpPr>
          <p:cNvPr id="15" name="Rounded Rectangle 14"/>
          <p:cNvSpPr/>
          <p:nvPr/>
        </p:nvSpPr>
        <p:spPr>
          <a:xfrm>
            <a:off x="6601968" y="3703320"/>
            <a:ext cx="4809744" cy="2167128"/>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01968" y="3703320"/>
            <a:ext cx="91440" cy="2167128"/>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813048"/>
            <a:ext cx="4489704"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20" b="1">
                <a:solidFill>
                  <a:srgbClr val="183D70"/>
                </a:solidFill>
                <a:latin typeface="Arial"/>
              </a:rPr>
              <a:t>Các phần được giữ kín khi mô hình trả lời</a:t>
            </a:r>
          </a:p>
        </p:txBody>
      </p:sp>
      <p:sp>
        <p:nvSpPr>
          <p:cNvPr id="18" name="TextBox 17"/>
          <p:cNvSpPr txBox="1"/>
          <p:nvPr/>
        </p:nvSpPr>
        <p:spPr>
          <a:xfrm>
            <a:off x="6803136" y="4251959"/>
            <a:ext cx="4498848" cy="1508760"/>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40" b="0">
                <a:solidFill>
                  <a:srgbClr val="232D38"/>
                </a:solidFill>
                <a:latin typeface="Arial"/>
              </a:rPr>
              <a:t>• Đáp án: (a + b + c) / 3</a:t>
            </a:r>
          </a:p>
          <a:p>
            <a:pPr algn="l">
              <a:lnSpc>
                <a:spcPct val="100000"/>
              </a:lnSpc>
              <a:spcBef>
                <a:spcPts val="0"/>
              </a:spcBef>
              <a:spcAft>
                <a:spcPts val="0"/>
              </a:spcAft>
            </a:pPr>
            <a:r>
              <a:rPr sz="1240" b="0">
                <a:solidFill>
                  <a:srgbClr val="232D38"/>
                </a:solidFill>
                <a:latin typeface="Arial"/>
              </a:rPr>
              <a:t>• Phản hồi tham chiếu: câu hỏi về cách lồng hai khối cộng</a:t>
            </a:r>
          </a:p>
          <a:p>
            <a:pPr algn="l">
              <a:lnSpc>
                <a:spcPct val="100000"/>
              </a:lnSpc>
              <a:spcBef>
                <a:spcPts val="0"/>
              </a:spcBef>
              <a:spcAft>
                <a:spcPts val="0"/>
              </a:spcAft>
            </a:pPr>
            <a:r>
              <a:rPr sz="1240" b="0">
                <a:solidFill>
                  <a:srgbClr val="232D38"/>
                </a:solidFill>
                <a:latin typeface="Arial"/>
              </a:rPr>
              <a:t>• Tiêu chí chấm và điểm</a:t>
            </a:r>
          </a:p>
          <a:p>
            <a:pPr algn="l">
              <a:lnSpc>
                <a:spcPct val="100000"/>
              </a:lnSpc>
              <a:spcBef>
                <a:spcPts val="0"/>
              </a:spcBef>
              <a:spcAft>
                <a:spcPts val="0"/>
              </a:spcAft>
            </a:pPr>
            <a:r>
              <a:rPr sz="1240" b="0">
                <a:solidFill>
                  <a:srgbClr val="232D38"/>
                </a:solidFill>
                <a:latin typeface="Arial"/>
              </a:rPr>
              <a:t>• Các cách trả lời khác vẫn hợp lệ</a:t>
            </a:r>
          </a:p>
          <a:p>
            <a:pPr algn="l">
              <a:lnSpc>
                <a:spcPct val="100000"/>
              </a:lnSpc>
              <a:spcBef>
                <a:spcPts val="0"/>
              </a:spcBef>
              <a:spcAft>
                <a:spcPts val="0"/>
              </a:spcAft>
            </a:pPr>
          </a:p>
          <a:p>
            <a:pPr algn="l">
              <a:lnSpc>
                <a:spcPct val="100000"/>
              </a:lnSpc>
              <a:spcBef>
                <a:spcPts val="0"/>
              </a:spcBef>
              <a:spcAft>
                <a:spcPts val="0"/>
              </a:spcAft>
            </a:pPr>
            <a:r>
              <a:rPr sz="1240" b="0">
                <a:solidFill>
                  <a:srgbClr val="232D38"/>
                </a:solidFill>
                <a:latin typeface="Arial"/>
              </a:rPr>
              <a:t>Nhờ vậy, mô hình phải tự sinh lượt gia sư tiếp theo.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BƯỚC 5 — ĐÁNH GIÁ NHIỀU CHIỀU</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Phản hồi của mô hình được chấm như thế nào?</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9</a:t>
            </a:r>
          </a:p>
        </p:txBody>
      </p:sp>
      <p:sp>
        <p:nvSpPr>
          <p:cNvPr id="6" name="Rounded Rectangle 5"/>
          <p:cNvSpPr/>
          <p:nvPr/>
        </p:nvSpPr>
        <p:spPr>
          <a:xfrm>
            <a:off x="658368" y="1581912"/>
            <a:ext cx="1993392" cy="1234440"/>
          </a:xfrm>
          <a:prstGeom prst="roundRect">
            <a:avLst/>
          </a:prstGeom>
          <a:solidFill>
            <a:srgbClr val="FFFFFF"/>
          </a:solidFill>
          <a:ln w="25400">
            <a:solidFill>
              <a:srgbClr val="0091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1640"/>
            <a:ext cx="1810512" cy="987552"/>
          </a:xfrm>
          <a:prstGeom prst="rect">
            <a:avLst/>
          </a:prstGeom>
          <a:noFill/>
        </p:spPr>
        <p:txBody>
          <a:bodyPr wrap="square" lIns="54864" rIns="54864" tIns="54864" bIns="54864" anchor="ctr">
            <a:spAutoFit/>
          </a:bodyPr>
          <a:lstStyle/>
          <a:p>
            <a:pPr algn="ctr">
              <a:lnSpc>
                <a:spcPct val="100000"/>
              </a:lnSpc>
            </a:pPr>
            <a:r>
              <a:rPr sz="1350" b="1">
                <a:solidFill>
                  <a:srgbClr val="0091CF"/>
                </a:solidFill>
                <a:latin typeface="Arial"/>
              </a:rPr>
              <a:t>Đúng kiến thức
và bám học liệu</a:t>
            </a:r>
          </a:p>
        </p:txBody>
      </p:sp>
      <p:sp>
        <p:nvSpPr>
          <p:cNvPr id="8" name="Rounded Rectangle 7"/>
          <p:cNvSpPr/>
          <p:nvPr/>
        </p:nvSpPr>
        <p:spPr>
          <a:xfrm>
            <a:off x="2852928" y="1581912"/>
            <a:ext cx="1993392" cy="1234440"/>
          </a:xfrm>
          <a:prstGeom prst="roundRect">
            <a:avLst/>
          </a:prstGeom>
          <a:solidFill>
            <a:srgbClr val="FFFFFF"/>
          </a:solidFill>
          <a:ln w="25400">
            <a:solidFill>
              <a:srgbClr val="008B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4368" y="1691640"/>
            <a:ext cx="1810512" cy="987552"/>
          </a:xfrm>
          <a:prstGeom prst="rect">
            <a:avLst/>
          </a:prstGeom>
          <a:noFill/>
        </p:spPr>
        <p:txBody>
          <a:bodyPr wrap="square" lIns="54864" rIns="54864" tIns="54864" bIns="54864" anchor="ctr">
            <a:spAutoFit/>
          </a:bodyPr>
          <a:lstStyle/>
          <a:p>
            <a:pPr algn="ctr">
              <a:lnSpc>
                <a:spcPct val="100000"/>
              </a:lnSpc>
            </a:pPr>
            <a:r>
              <a:rPr sz="1350" b="1">
                <a:solidFill>
                  <a:srgbClr val="008B93"/>
                </a:solidFill>
                <a:latin typeface="Arial"/>
              </a:rPr>
              <a:t>Hiểu đúng yêu cầu
và trạng thái học sinh</a:t>
            </a:r>
          </a:p>
        </p:txBody>
      </p:sp>
      <p:sp>
        <p:nvSpPr>
          <p:cNvPr id="10" name="Rounded Rectangle 9"/>
          <p:cNvSpPr/>
          <p:nvPr/>
        </p:nvSpPr>
        <p:spPr>
          <a:xfrm>
            <a:off x="5047488" y="1581912"/>
            <a:ext cx="1993392" cy="1234440"/>
          </a:xfrm>
          <a:prstGeom prst="roundRect">
            <a:avLst/>
          </a:prstGeom>
          <a:solidFill>
            <a:srgbClr val="FFFFFF"/>
          </a:solidFill>
          <a:ln w="25400">
            <a:solidFill>
              <a:srgbClr val="379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38927" y="1691640"/>
            <a:ext cx="1810512" cy="987552"/>
          </a:xfrm>
          <a:prstGeom prst="rect">
            <a:avLst/>
          </a:prstGeom>
          <a:noFill/>
        </p:spPr>
        <p:txBody>
          <a:bodyPr wrap="square" lIns="54864" rIns="54864" tIns="54864" bIns="54864" anchor="ctr">
            <a:spAutoFit/>
          </a:bodyPr>
          <a:lstStyle/>
          <a:p>
            <a:pPr algn="ctr">
              <a:lnSpc>
                <a:spcPct val="100000"/>
              </a:lnSpc>
            </a:pPr>
            <a:r>
              <a:rPr sz="1350" b="1">
                <a:solidFill>
                  <a:srgbClr val="379B5C"/>
                </a:solidFill>
                <a:latin typeface="Arial"/>
              </a:rPr>
              <a:t>Hỗ trợ sư phạm
và giàn giáo phù hợp</a:t>
            </a:r>
          </a:p>
        </p:txBody>
      </p:sp>
      <p:sp>
        <p:nvSpPr>
          <p:cNvPr id="12" name="Rounded Rectangle 11"/>
          <p:cNvSpPr/>
          <p:nvPr/>
        </p:nvSpPr>
        <p:spPr>
          <a:xfrm>
            <a:off x="7242047" y="1581912"/>
            <a:ext cx="1993392" cy="1234440"/>
          </a:xfrm>
          <a:prstGeom prst="roundRect">
            <a:avLst/>
          </a:prstGeom>
          <a:solidFill>
            <a:srgbClr val="FFFFFF"/>
          </a:solidFill>
          <a:ln w="25400">
            <a:solidFill>
              <a:srgbClr val="EB8E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3488" y="1691640"/>
            <a:ext cx="1810512" cy="987552"/>
          </a:xfrm>
          <a:prstGeom prst="rect">
            <a:avLst/>
          </a:prstGeom>
          <a:noFill/>
        </p:spPr>
        <p:txBody>
          <a:bodyPr wrap="square" lIns="54864" rIns="54864" tIns="54864" bIns="54864" anchor="ctr">
            <a:spAutoFit/>
          </a:bodyPr>
          <a:lstStyle/>
          <a:p>
            <a:pPr algn="ctr">
              <a:lnSpc>
                <a:spcPct val="100000"/>
              </a:lnSpc>
            </a:pPr>
            <a:r>
              <a:rPr sz="1350" b="1">
                <a:solidFill>
                  <a:srgbClr val="EB8E2E"/>
                </a:solidFill>
                <a:latin typeface="Arial"/>
              </a:rPr>
              <a:t>Bám mục tiêu nhiệm vụ
và phạm vi môn học</a:t>
            </a:r>
          </a:p>
        </p:txBody>
      </p:sp>
      <p:sp>
        <p:nvSpPr>
          <p:cNvPr id="14" name="Rounded Rectangle 13"/>
          <p:cNvSpPr/>
          <p:nvPr/>
        </p:nvSpPr>
        <p:spPr>
          <a:xfrm>
            <a:off x="9436608" y="1581912"/>
            <a:ext cx="1993392" cy="1234440"/>
          </a:xfrm>
          <a:prstGeom prst="roundRect">
            <a:avLst/>
          </a:prstGeom>
          <a:solidFill>
            <a:srgbClr val="FFFFFF"/>
          </a:solidFill>
          <a:ln w="25400">
            <a:solidFill>
              <a:srgbClr val="6D5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8048" y="1691640"/>
            <a:ext cx="1810512" cy="987552"/>
          </a:xfrm>
          <a:prstGeom prst="rect">
            <a:avLst/>
          </a:prstGeom>
          <a:noFill/>
        </p:spPr>
        <p:txBody>
          <a:bodyPr wrap="square" lIns="54864" rIns="54864" tIns="54864" bIns="54864" anchor="ctr">
            <a:spAutoFit/>
          </a:bodyPr>
          <a:lstStyle/>
          <a:p>
            <a:pPr algn="ctr">
              <a:lnSpc>
                <a:spcPct val="100000"/>
              </a:lnSpc>
            </a:pPr>
            <a:r>
              <a:rPr sz="1350" b="1">
                <a:solidFill>
                  <a:srgbClr val="6D53A4"/>
                </a:solidFill>
                <a:latin typeface="Arial"/>
              </a:rPr>
              <a:t>An toàn, đạo đức
và phù hợp lứa tuổi</a:t>
            </a:r>
          </a:p>
        </p:txBody>
      </p:sp>
      <p:sp>
        <p:nvSpPr>
          <p:cNvPr id="16" name="TextBox 15"/>
          <p:cNvSpPr txBox="1"/>
          <p:nvPr/>
        </p:nvSpPr>
        <p:spPr>
          <a:xfrm>
            <a:off x="786384" y="2999232"/>
            <a:ext cx="10469880" cy="402336"/>
          </a:xfrm>
          <a:prstGeom prst="rect">
            <a:avLst/>
          </a:prstGeom>
          <a:noFill/>
        </p:spPr>
        <p:txBody>
          <a:bodyPr wrap="square" lIns="36576" rIns="36576" tIns="36576" bIns="36576" anchor="t">
            <a:spAutoFit/>
          </a:bodyPr>
          <a:lstStyle/>
          <a:p>
            <a:pPr algn="ctr">
              <a:lnSpc>
                <a:spcPct val="100000"/>
              </a:lnSpc>
              <a:spcBef>
                <a:spcPts val="0"/>
              </a:spcBef>
              <a:spcAft>
                <a:spcPts val="0"/>
              </a:spcAft>
            </a:pPr>
            <a:r>
              <a:rPr sz="1440" b="1">
                <a:solidFill>
                  <a:srgbClr val="183D70"/>
                </a:solidFill>
                <a:latin typeface="Arial"/>
              </a:rPr>
              <a:t>Ví dụ chấm cùng ứng viên “gợi ý từng bước” — điểm dưới đây chỉ để minh họa cách đọc tiêu chí.</a:t>
            </a:r>
          </a:p>
        </p:txBody>
      </p:sp>
      <p:sp>
        <p:nvSpPr>
          <p:cNvPr id="17" name="Rounded Rectangle 16"/>
          <p:cNvSpPr/>
          <p:nvPr/>
        </p:nvSpPr>
        <p:spPr>
          <a:xfrm>
            <a:off x="749808" y="3547872"/>
            <a:ext cx="3246120" cy="1901952"/>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 y="3547872"/>
            <a:ext cx="91440" cy="1901952"/>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3657600"/>
            <a:ext cx="2926079"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00" b="1">
                <a:solidFill>
                  <a:srgbClr val="183D70"/>
                </a:solidFill>
                <a:latin typeface="Arial"/>
              </a:rPr>
              <a:t>Phản hồi giả định của mô hình</a:t>
            </a:r>
          </a:p>
        </p:txBody>
      </p:sp>
      <p:sp>
        <p:nvSpPr>
          <p:cNvPr id="20" name="TextBox 19"/>
          <p:cNvSpPr txBox="1"/>
          <p:nvPr/>
        </p:nvSpPr>
        <p:spPr>
          <a:xfrm>
            <a:off x="950976" y="4096511"/>
            <a:ext cx="2935224" cy="1243584"/>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50" b="0">
                <a:solidFill>
                  <a:srgbClr val="232D38"/>
                </a:solidFill>
                <a:latin typeface="Arial"/>
              </a:rPr>
              <a:t>“Em tạo thêm biến c, rồi đặt TBC thành (a + b + c) / 3 là được.”</a:t>
            </a:r>
          </a:p>
          <a:p>
            <a:pPr algn="l">
              <a:lnSpc>
                <a:spcPct val="100000"/>
              </a:lnSpc>
              <a:spcBef>
                <a:spcPts val="0"/>
              </a:spcBef>
              <a:spcAft>
                <a:spcPts val="0"/>
              </a:spcAft>
            </a:pPr>
          </a:p>
          <a:p>
            <a:pPr algn="l">
              <a:lnSpc>
                <a:spcPct val="100000"/>
              </a:lnSpc>
              <a:spcBef>
                <a:spcPts val="0"/>
              </a:spcBef>
              <a:spcAft>
                <a:spcPts val="0"/>
              </a:spcAft>
            </a:pPr>
            <a:r>
              <a:rPr sz="1250" b="0">
                <a:solidFill>
                  <a:srgbClr val="232D38"/>
                </a:solidFill>
                <a:latin typeface="Arial"/>
              </a:rPr>
              <a:t>Câu trả lời đúng kiến thức, nhưng đưa gần như toàn bộ lời giải thay vì tiếp tục gợi mở.</a:t>
            </a:r>
          </a:p>
        </p:txBody>
      </p:sp>
      <p:sp>
        <p:nvSpPr>
          <p:cNvPr id="21" name="Rounded Rectangle 20"/>
          <p:cNvSpPr/>
          <p:nvPr/>
        </p:nvSpPr>
        <p:spPr>
          <a:xfrm>
            <a:off x="4462272" y="3547872"/>
            <a:ext cx="3246120" cy="1901952"/>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62272" y="3547872"/>
            <a:ext cx="91440" cy="1901952"/>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657600"/>
            <a:ext cx="2926079"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500" b="1">
                <a:solidFill>
                  <a:srgbClr val="183D70"/>
                </a:solidFill>
                <a:latin typeface="Arial"/>
              </a:rPr>
              <a:t>Điểm minh họa theo thang 1–5</a:t>
            </a:r>
          </a:p>
        </p:txBody>
      </p:sp>
      <p:sp>
        <p:nvSpPr>
          <p:cNvPr id="24" name="TextBox 23"/>
          <p:cNvSpPr txBox="1"/>
          <p:nvPr/>
        </p:nvSpPr>
        <p:spPr>
          <a:xfrm>
            <a:off x="4663440" y="4096511"/>
            <a:ext cx="2935224" cy="1243584"/>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50" b="0">
                <a:solidFill>
                  <a:srgbClr val="232D38"/>
                </a:solidFill>
                <a:latin typeface="Arial"/>
              </a:rPr>
              <a:t>Đúng kiến thức: 5</a:t>
            </a:r>
          </a:p>
          <a:p>
            <a:pPr algn="l">
              <a:lnSpc>
                <a:spcPct val="100000"/>
              </a:lnSpc>
              <a:spcBef>
                <a:spcPts val="0"/>
              </a:spcBef>
              <a:spcAft>
                <a:spcPts val="0"/>
              </a:spcAft>
            </a:pPr>
            <a:r>
              <a:rPr sz="1250" b="0">
                <a:solidFill>
                  <a:srgbClr val="232D38"/>
                </a:solidFill>
                <a:latin typeface="Arial"/>
              </a:rPr>
              <a:t>Hiểu yêu cầu học sinh: 4</a:t>
            </a:r>
          </a:p>
          <a:p>
            <a:pPr algn="l">
              <a:lnSpc>
                <a:spcPct val="100000"/>
              </a:lnSpc>
              <a:spcBef>
                <a:spcPts val="0"/>
              </a:spcBef>
              <a:spcAft>
                <a:spcPts val="0"/>
              </a:spcAft>
            </a:pPr>
            <a:r>
              <a:rPr sz="1250" b="0">
                <a:solidFill>
                  <a:srgbClr val="232D38"/>
                </a:solidFill>
                <a:latin typeface="Arial"/>
              </a:rPr>
              <a:t>Hỗ trợ sư phạm/giàn giáo: 2</a:t>
            </a:r>
          </a:p>
          <a:p>
            <a:pPr algn="l">
              <a:lnSpc>
                <a:spcPct val="100000"/>
              </a:lnSpc>
              <a:spcBef>
                <a:spcPts val="0"/>
              </a:spcBef>
              <a:spcAft>
                <a:spcPts val="0"/>
              </a:spcAft>
            </a:pPr>
            <a:r>
              <a:rPr sz="1250" b="0">
                <a:solidFill>
                  <a:srgbClr val="232D38"/>
                </a:solidFill>
                <a:latin typeface="Arial"/>
              </a:rPr>
              <a:t>Bám mục tiêu nhiệm vụ: 2</a:t>
            </a:r>
          </a:p>
          <a:p>
            <a:pPr algn="l">
              <a:lnSpc>
                <a:spcPct val="100000"/>
              </a:lnSpc>
              <a:spcBef>
                <a:spcPts val="0"/>
              </a:spcBef>
              <a:spcAft>
                <a:spcPts val="0"/>
              </a:spcAft>
            </a:pPr>
            <a:r>
              <a:rPr sz="1250" b="0">
                <a:solidFill>
                  <a:srgbClr val="232D38"/>
                </a:solidFill>
                <a:latin typeface="Arial"/>
              </a:rPr>
              <a:t>An toàn và phù hợp lứa tuổi: 5</a:t>
            </a:r>
          </a:p>
        </p:txBody>
      </p:sp>
      <p:sp>
        <p:nvSpPr>
          <p:cNvPr id="25" name="Rounded Rectangle 24"/>
          <p:cNvSpPr/>
          <p:nvPr/>
        </p:nvSpPr>
        <p:spPr>
          <a:xfrm>
            <a:off x="8174736" y="3547872"/>
            <a:ext cx="3246120" cy="1901952"/>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74736" y="3547872"/>
            <a:ext cx="91440" cy="1901952"/>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3657600"/>
            <a:ext cx="2926079" cy="384048"/>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470" b="1">
                <a:solidFill>
                  <a:srgbClr val="183D70"/>
                </a:solidFill>
                <a:latin typeface="Arial"/>
              </a:rPr>
              <a:t>Vì sao không đạt điểm cao toàn bộ?</a:t>
            </a:r>
          </a:p>
        </p:txBody>
      </p:sp>
      <p:sp>
        <p:nvSpPr>
          <p:cNvPr id="28" name="TextBox 27"/>
          <p:cNvSpPr txBox="1"/>
          <p:nvPr/>
        </p:nvSpPr>
        <p:spPr>
          <a:xfrm>
            <a:off x="8375904" y="4096511"/>
            <a:ext cx="2935224" cy="1243584"/>
          </a:xfrm>
          <a:prstGeom prst="rect">
            <a:avLst/>
          </a:prstGeom>
          <a:noFill/>
        </p:spPr>
        <p:txBody>
          <a:bodyPr wrap="square" lIns="36576" rIns="36576" tIns="36576" bIns="36576" anchor="t">
            <a:spAutoFit/>
          </a:bodyPr>
          <a:lstStyle/>
          <a:p>
            <a:pPr algn="l">
              <a:lnSpc>
                <a:spcPct val="100000"/>
              </a:lnSpc>
              <a:spcBef>
                <a:spcPts val="0"/>
              </a:spcBef>
              <a:spcAft>
                <a:spcPts val="0"/>
              </a:spcAft>
            </a:pPr>
            <a:r>
              <a:rPr sz="1220" b="0">
                <a:solidFill>
                  <a:srgbClr val="232D38"/>
                </a:solidFill>
                <a:latin typeface="Arial"/>
              </a:rPr>
              <a:t>Phản hồi nguồn hỏi học sinh tự tìm cách lồng hai khối cộng. Phản hồi giả định bỏ qua bước tư duy đó.</a:t>
            </a:r>
          </a:p>
          <a:p>
            <a:pPr algn="l">
              <a:lnSpc>
                <a:spcPct val="100000"/>
              </a:lnSpc>
              <a:spcBef>
                <a:spcPts val="0"/>
              </a:spcBef>
              <a:spcAft>
                <a:spcPts val="0"/>
              </a:spcAft>
            </a:pPr>
          </a:p>
          <a:p>
            <a:pPr algn="l">
              <a:lnSpc>
                <a:spcPct val="100000"/>
              </a:lnSpc>
              <a:spcBef>
                <a:spcPts val="0"/>
              </a:spcBef>
              <a:spcAft>
                <a:spcPts val="0"/>
              </a:spcAft>
            </a:pPr>
            <a:r>
              <a:rPr sz="1220" b="0">
                <a:solidFill>
                  <a:srgbClr val="232D38"/>
                </a:solidFill>
                <a:latin typeface="Arial"/>
              </a:rPr>
              <a:t>Kết luận: đúng đáp án không đồng nghĩa với dạy tốt.</a:t>
            </a:r>
          </a:p>
        </p:txBody>
      </p:sp>
      <p:sp>
        <p:nvSpPr>
          <p:cNvPr id="29" name="TextBox 28"/>
          <p:cNvSpPr txBox="1"/>
          <p:nvPr/>
        </p:nvSpPr>
        <p:spPr>
          <a:xfrm>
            <a:off x="1143000" y="5641848"/>
            <a:ext cx="9921240" cy="329184"/>
          </a:xfrm>
          <a:prstGeom prst="rect">
            <a:avLst/>
          </a:prstGeom>
          <a:noFill/>
        </p:spPr>
        <p:txBody>
          <a:bodyPr wrap="square" lIns="36576" rIns="36576" tIns="36576" bIns="36576" anchor="t">
            <a:spAutoFit/>
          </a:bodyPr>
          <a:lstStyle/>
          <a:p>
            <a:pPr algn="ctr">
              <a:lnSpc>
                <a:spcPct val="100000"/>
              </a:lnSpc>
              <a:spcBef>
                <a:spcPts val="0"/>
              </a:spcBef>
              <a:spcAft>
                <a:spcPts val="0"/>
              </a:spcAft>
            </a:pPr>
            <a:r>
              <a:rPr sz="1250" b="1">
                <a:solidFill>
                  <a:srgbClr val="C43E3E"/>
                </a:solidFill>
                <a:latin typeface="Arial"/>
              </a:rPr>
              <a:t>Mô tả cụ thể của từng mức điểm vẫn cần được giáo viên HNMU thẩm định trước khi dùng chính thức.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CĂN CỨ KHOA HỌC</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Ba nghiên cứu định hướng cách sử dụng benchmark</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10</a:t>
            </a:r>
          </a:p>
        </p:txBody>
      </p:sp>
      <p:sp>
        <p:nvSpPr>
          <p:cNvPr id="6" name="Rounded Rectangle 5"/>
          <p:cNvSpPr/>
          <p:nvPr/>
        </p:nvSpPr>
        <p:spPr>
          <a:xfrm>
            <a:off x="658368" y="1536192"/>
            <a:ext cx="3447288" cy="4251960"/>
          </a:xfrm>
          <a:prstGeom prst="roundRect">
            <a:avLst/>
          </a:prstGeom>
          <a:solidFill>
            <a:srgbClr val="E2F3FA"/>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36192"/>
            <a:ext cx="91440" cy="4251960"/>
          </a:xfrm>
          <a:prstGeom prst="rect">
            <a:avLst/>
          </a:prstGeom>
          <a:solidFill>
            <a:srgbClr val="009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27632"/>
            <a:ext cx="3127248" cy="1024128"/>
          </a:xfrm>
          <a:prstGeom prst="rect">
            <a:avLst/>
          </a:prstGeom>
          <a:noFill/>
        </p:spPr>
        <p:txBody>
          <a:bodyPr wrap="square" lIns="54864" rIns="54864" tIns="18288" bIns="18288" anchor="t">
            <a:spAutoFit/>
          </a:bodyPr>
          <a:lstStyle/>
          <a:p>
            <a:pPr algn="l">
              <a:lnSpc>
                <a:spcPct val="93000"/>
              </a:lnSpc>
              <a:spcAft>
                <a:spcPts val="0"/>
              </a:spcAft>
            </a:pPr>
            <a:r>
              <a:rPr sz="1260" b="1">
                <a:solidFill>
                  <a:srgbClr val="183D70"/>
                </a:solidFill>
                <a:latin typeface="Arial"/>
              </a:rPr>
              <a:t>MathTutorBench: A Benchmark for Measuring Open-ended Pedagogical Capabilities of LLM Tutors</a:t>
            </a:r>
          </a:p>
        </p:txBody>
      </p:sp>
      <p:sp>
        <p:nvSpPr>
          <p:cNvPr id="9" name="TextBox 8"/>
          <p:cNvSpPr txBox="1"/>
          <p:nvPr/>
        </p:nvSpPr>
        <p:spPr>
          <a:xfrm>
            <a:off x="859536" y="2761488"/>
            <a:ext cx="3136392" cy="2816352"/>
          </a:xfrm>
          <a:prstGeom prst="rect">
            <a:avLst/>
          </a:prstGeom>
          <a:noFill/>
        </p:spPr>
        <p:txBody>
          <a:bodyPr wrap="square" lIns="54864" rIns="54864" tIns="18288" bIns="18288" anchor="t">
            <a:spAutoFit/>
          </a:bodyPr>
          <a:lstStyle/>
          <a:p>
            <a:pPr algn="l">
              <a:lnSpc>
                <a:spcPct val="100000"/>
              </a:lnSpc>
              <a:spcAft>
                <a:spcPts val="0"/>
              </a:spcAft>
            </a:pPr>
            <a:r>
              <a:rPr sz="1320" b="0">
                <a:solidFill>
                  <a:srgbClr val="232D38"/>
                </a:solidFill>
                <a:latin typeface="Arial"/>
              </a:rPr>
              <a:t>Sinh lượt gia sư tiếp theo từ đề bài và lịch sử hội thoại.
Phản hồi giáo viên là đối chứng trong xếp hạng cặp.
Nhấn mạnh: giải đúng bài không đồng nghĩa dạy tốt.</a:t>
            </a:r>
          </a:p>
        </p:txBody>
      </p:sp>
      <p:sp>
        <p:nvSpPr>
          <p:cNvPr id="10" name="Rounded Rectangle 9"/>
          <p:cNvSpPr/>
          <p:nvPr/>
        </p:nvSpPr>
        <p:spPr>
          <a:xfrm>
            <a:off x="4370832" y="1536192"/>
            <a:ext cx="3447288" cy="4251960"/>
          </a:xfrm>
          <a:prstGeom prst="roundRect">
            <a:avLst/>
          </a:prstGeom>
          <a:solidFill>
            <a:srgbClr val="E8F6EC"/>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536192"/>
            <a:ext cx="91440" cy="4251960"/>
          </a:xfrm>
          <a:prstGeom prst="rect">
            <a:avLst/>
          </a:prstGeom>
          <a:solidFill>
            <a:srgbClr val="37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627632"/>
            <a:ext cx="3127248" cy="1024128"/>
          </a:xfrm>
          <a:prstGeom prst="rect">
            <a:avLst/>
          </a:prstGeom>
          <a:noFill/>
        </p:spPr>
        <p:txBody>
          <a:bodyPr wrap="square" lIns="54864" rIns="54864" tIns="18288" bIns="18288" anchor="t">
            <a:spAutoFit/>
          </a:bodyPr>
          <a:lstStyle/>
          <a:p>
            <a:pPr algn="l">
              <a:lnSpc>
                <a:spcPct val="93000"/>
              </a:lnSpc>
              <a:spcAft>
                <a:spcPts val="0"/>
              </a:spcAft>
            </a:pPr>
            <a:r>
              <a:rPr sz="1260" b="1">
                <a:solidFill>
                  <a:srgbClr val="183D70"/>
                </a:solidFill>
                <a:latin typeface="Arial"/>
              </a:rPr>
              <a:t>From Solver to Tutor: Evaluating the Pedagogical Intelligence of LLMs with KMP-Bench</a:t>
            </a:r>
          </a:p>
        </p:txBody>
      </p:sp>
      <p:sp>
        <p:nvSpPr>
          <p:cNvPr id="13" name="TextBox 12"/>
          <p:cNvSpPr txBox="1"/>
          <p:nvPr/>
        </p:nvSpPr>
        <p:spPr>
          <a:xfrm>
            <a:off x="4572000" y="2761488"/>
            <a:ext cx="3136392" cy="2816352"/>
          </a:xfrm>
          <a:prstGeom prst="rect">
            <a:avLst/>
          </a:prstGeom>
          <a:noFill/>
        </p:spPr>
        <p:txBody>
          <a:bodyPr wrap="square" lIns="54864" rIns="54864" tIns="18288" bIns="18288" anchor="t">
            <a:spAutoFit/>
          </a:bodyPr>
          <a:lstStyle/>
          <a:p>
            <a:pPr algn="l">
              <a:lnSpc>
                <a:spcPct val="100000"/>
              </a:lnSpc>
              <a:spcAft>
                <a:spcPts val="0"/>
              </a:spcAft>
            </a:pPr>
            <a:r>
              <a:rPr sz="1320" b="0">
                <a:solidFill>
                  <a:srgbClr val="232D38"/>
                </a:solidFill>
                <a:latin typeface="Arial"/>
              </a:rPr>
              <a:t>Cắt hội thoại tại lượt gia sư.
Lượt gia sư gốc trở thành phản hồi tham chiếu.
Chấm Thắng/Hòa/Thua theo tiêu chí chung và nguyên tắc sư phạm.</a:t>
            </a:r>
          </a:p>
        </p:txBody>
      </p:sp>
      <p:sp>
        <p:nvSpPr>
          <p:cNvPr id="14" name="Rounded Rectangle 13"/>
          <p:cNvSpPr/>
          <p:nvPr/>
        </p:nvSpPr>
        <p:spPr>
          <a:xfrm>
            <a:off x="8083296" y="1536192"/>
            <a:ext cx="3447288" cy="4251960"/>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536192"/>
            <a:ext cx="91440" cy="4251960"/>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1627632"/>
            <a:ext cx="3127248" cy="1024128"/>
          </a:xfrm>
          <a:prstGeom prst="rect">
            <a:avLst/>
          </a:prstGeom>
          <a:noFill/>
        </p:spPr>
        <p:txBody>
          <a:bodyPr wrap="square" lIns="54864" rIns="54864" tIns="18288" bIns="18288" anchor="t">
            <a:spAutoFit/>
          </a:bodyPr>
          <a:lstStyle/>
          <a:p>
            <a:pPr algn="l">
              <a:lnSpc>
                <a:spcPct val="93000"/>
              </a:lnSpc>
              <a:spcAft>
                <a:spcPts val="0"/>
              </a:spcAft>
            </a:pPr>
            <a:r>
              <a:rPr sz="1260" b="1">
                <a:solidFill>
                  <a:srgbClr val="183D70"/>
                </a:solidFill>
                <a:latin typeface="Arial"/>
              </a:rPr>
              <a:t>TutorBench: A Benchmark To Assess Tutoring Capabilities Of Large Language Models</a:t>
            </a:r>
          </a:p>
        </p:txBody>
      </p:sp>
      <p:sp>
        <p:nvSpPr>
          <p:cNvPr id="17" name="TextBox 16"/>
          <p:cNvSpPr txBox="1"/>
          <p:nvPr/>
        </p:nvSpPr>
        <p:spPr>
          <a:xfrm>
            <a:off x="8284464" y="2761488"/>
            <a:ext cx="3136392" cy="2816352"/>
          </a:xfrm>
          <a:prstGeom prst="rect">
            <a:avLst/>
          </a:prstGeom>
          <a:noFill/>
        </p:spPr>
        <p:txBody>
          <a:bodyPr wrap="square" lIns="54864" rIns="54864" tIns="18288" bIns="18288" anchor="t">
            <a:spAutoFit/>
          </a:bodyPr>
          <a:lstStyle/>
          <a:p>
            <a:pPr algn="l">
              <a:lnSpc>
                <a:spcPct val="100000"/>
              </a:lnSpc>
              <a:spcAft>
                <a:spcPts val="0"/>
              </a:spcAft>
            </a:pPr>
            <a:r>
              <a:rPr sz="1320" b="0">
                <a:solidFill>
                  <a:srgbClr val="232D38"/>
                </a:solidFill>
                <a:latin typeface="Arial"/>
              </a:rPr>
              <a:t>Chấm phản hồi cuối trong bối cảnh đã định sẵn.
Phản hồi lý tưởng giúp chuyên gia xây tiêu chí chấm riêng cho mẫu.
Không dùng độ giống văn bản làm tiêu chí chính.</a:t>
            </a:r>
          </a:p>
        </p:txBody>
      </p:sp>
      <p:sp>
        <p:nvSpPr>
          <p:cNvPr id="18" name="TextBox 17"/>
          <p:cNvSpPr txBox="1"/>
          <p:nvPr/>
        </p:nvSpPr>
        <p:spPr>
          <a:xfrm>
            <a:off x="960120" y="5852160"/>
            <a:ext cx="10241280" cy="274320"/>
          </a:xfrm>
          <a:prstGeom prst="rect">
            <a:avLst/>
          </a:prstGeom>
          <a:noFill/>
        </p:spPr>
        <p:txBody>
          <a:bodyPr wrap="square" lIns="54864" rIns="54864" tIns="54864" bIns="54864" anchor="t">
            <a:spAutoFit/>
          </a:bodyPr>
          <a:lstStyle/>
          <a:p>
            <a:pPr algn="ctr">
              <a:lnSpc>
                <a:spcPct val="100000"/>
              </a:lnSpc>
            </a:pPr>
            <a:r>
              <a:rPr sz="1330" b="1">
                <a:solidFill>
                  <a:srgbClr val="183D70"/>
                </a:solidFill>
                <a:latin typeface="Arial"/>
              </a:rPr>
              <a:t>Điểm chung: phản hồi phải được đánh giá trong bối cảnh và theo chất lượng sư phạm, không chỉ theo đáp 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12064"/>
            <a:ext cx="7955279" cy="256032"/>
          </a:xfrm>
          <a:prstGeom prst="rect">
            <a:avLst/>
          </a:prstGeom>
          <a:noFill/>
        </p:spPr>
        <p:txBody>
          <a:bodyPr wrap="square" lIns="54864" rIns="54864" tIns="54864" bIns="54864" anchor="t">
            <a:spAutoFit/>
          </a:bodyPr>
          <a:lstStyle/>
          <a:p>
            <a:pPr algn="l">
              <a:lnSpc>
                <a:spcPct val="100000"/>
              </a:lnSpc>
            </a:pPr>
            <a:r>
              <a:rPr sz="950" b="1">
                <a:solidFill>
                  <a:srgbClr val="008B93"/>
                </a:solidFill>
                <a:latin typeface="Arial"/>
              </a:rPr>
              <a:t>ĐỀ XUẤT THẢO LUẬN TỐI NAY</a:t>
            </a:r>
          </a:p>
        </p:txBody>
      </p:sp>
      <p:sp>
        <p:nvSpPr>
          <p:cNvPr id="3" name="TextBox 2"/>
          <p:cNvSpPr txBox="1"/>
          <p:nvPr/>
        </p:nvSpPr>
        <p:spPr>
          <a:xfrm>
            <a:off x="640080" y="749808"/>
            <a:ext cx="10469880" cy="512064"/>
          </a:xfrm>
          <a:prstGeom prst="rect">
            <a:avLst/>
          </a:prstGeom>
          <a:noFill/>
        </p:spPr>
        <p:txBody>
          <a:bodyPr wrap="square" lIns="54864" rIns="54864" tIns="54864" bIns="54864" anchor="ctr">
            <a:spAutoFit/>
          </a:bodyPr>
          <a:lstStyle/>
          <a:p>
            <a:pPr algn="l">
              <a:lnSpc>
                <a:spcPct val="100000"/>
              </a:lnSpc>
            </a:pPr>
            <a:r>
              <a:rPr sz="2600" b="1">
                <a:solidFill>
                  <a:srgbClr val="183D70"/>
                </a:solidFill>
                <a:latin typeface="Arial"/>
              </a:rPr>
              <a:t>Lộ trình thực hiện và nội dung cần thống nhất</a:t>
            </a:r>
          </a:p>
        </p:txBody>
      </p:sp>
      <p:sp>
        <p:nvSpPr>
          <p:cNvPr id="4" name="Rectangle 3"/>
          <p:cNvSpPr/>
          <p:nvPr/>
        </p:nvSpPr>
        <p:spPr>
          <a:xfrm>
            <a:off x="658368" y="1298448"/>
            <a:ext cx="1051560" cy="50292"/>
          </a:xfrm>
          <a:prstGeom prst="rect">
            <a:avLst/>
          </a:prstGeom>
          <a:solidFill>
            <a:srgbClr val="18B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9960" y="640080"/>
            <a:ext cx="393192" cy="256032"/>
          </a:xfrm>
          <a:prstGeom prst="rect">
            <a:avLst/>
          </a:prstGeom>
          <a:noFill/>
        </p:spPr>
        <p:txBody>
          <a:bodyPr wrap="square" lIns="54864" rIns="54864" tIns="54864" bIns="54864" anchor="t">
            <a:spAutoFit/>
          </a:bodyPr>
          <a:lstStyle/>
          <a:p>
            <a:pPr algn="ctr">
              <a:lnSpc>
                <a:spcPct val="100000"/>
              </a:lnSpc>
            </a:pPr>
            <a:r>
              <a:rPr sz="1000" b="1">
                <a:solidFill>
                  <a:srgbClr val="586573"/>
                </a:solidFill>
                <a:latin typeface="Arial"/>
              </a:rPr>
              <a:t>11</a:t>
            </a:r>
          </a:p>
        </p:txBody>
      </p:sp>
      <p:sp>
        <p:nvSpPr>
          <p:cNvPr id="6" name="Oval 5"/>
          <p:cNvSpPr/>
          <p:nvPr/>
        </p:nvSpPr>
        <p:spPr>
          <a:xfrm>
            <a:off x="758952" y="1481328"/>
            <a:ext cx="493776" cy="493776"/>
          </a:xfrm>
          <a:prstGeom prst="ellipse">
            <a:avLst/>
          </a:prstGeom>
          <a:solidFill>
            <a:srgbClr val="379B5C"/>
          </a:solidFill>
          <a:ln>
            <a:solidFill>
              <a:srgbClr val="379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481328"/>
            <a:ext cx="493776" cy="49377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1</a:t>
            </a:r>
          </a:p>
        </p:txBody>
      </p:sp>
      <p:sp>
        <p:nvSpPr>
          <p:cNvPr id="8" name="TextBox 7"/>
          <p:cNvSpPr txBox="1"/>
          <p:nvPr/>
        </p:nvSpPr>
        <p:spPr>
          <a:xfrm>
            <a:off x="1417320" y="1463040"/>
            <a:ext cx="2240280" cy="274320"/>
          </a:xfrm>
          <a:prstGeom prst="rect">
            <a:avLst/>
          </a:prstGeom>
          <a:noFill/>
        </p:spPr>
        <p:txBody>
          <a:bodyPr wrap="square" lIns="36576" rIns="36576" tIns="36576" bIns="36576" anchor="t">
            <a:spAutoFit/>
          </a:bodyPr>
          <a:lstStyle/>
          <a:p>
            <a:pPr algn="l">
              <a:lnSpc>
                <a:spcPct val="100000"/>
              </a:lnSpc>
            </a:pPr>
            <a:r>
              <a:rPr sz="1420" b="1">
                <a:solidFill>
                  <a:srgbClr val="183D70"/>
                </a:solidFill>
                <a:latin typeface="Arial"/>
              </a:rPr>
              <a:t>Chốt &amp; tách dữ liệu nguồn</a:t>
            </a:r>
          </a:p>
        </p:txBody>
      </p:sp>
      <p:sp>
        <p:nvSpPr>
          <p:cNvPr id="9" name="TextBox 8"/>
          <p:cNvSpPr txBox="1"/>
          <p:nvPr/>
        </p:nvSpPr>
        <p:spPr>
          <a:xfrm>
            <a:off x="3657600" y="1463040"/>
            <a:ext cx="4846320" cy="438912"/>
          </a:xfrm>
          <a:prstGeom prst="rect">
            <a:avLst/>
          </a:prstGeom>
          <a:noFill/>
        </p:spPr>
        <p:txBody>
          <a:bodyPr wrap="square" lIns="36576" rIns="36576" tIns="36576" bIns="36576" anchor="t">
            <a:spAutoFit/>
          </a:bodyPr>
          <a:lstStyle/>
          <a:p>
            <a:pPr algn="l">
              <a:lnSpc>
                <a:spcPct val="100000"/>
              </a:lnSpc>
            </a:pPr>
            <a:r>
              <a:rPr sz="1270" b="0">
                <a:solidFill>
                  <a:srgbClr val="232D38"/>
                </a:solidFill>
                <a:latin typeface="Arial"/>
              </a:rPr>
              <a:t>Trường nguồn, lượt hội thoại, vị trí và quy tắc không sửa nội dung</a:t>
            </a:r>
          </a:p>
        </p:txBody>
      </p:sp>
      <p:sp>
        <p:nvSpPr>
          <p:cNvPr id="10" name="Oval 9"/>
          <p:cNvSpPr/>
          <p:nvPr/>
        </p:nvSpPr>
        <p:spPr>
          <a:xfrm>
            <a:off x="758952" y="2304288"/>
            <a:ext cx="493776" cy="493776"/>
          </a:xfrm>
          <a:prstGeom prst="ellipse">
            <a:avLst/>
          </a:prstGeom>
          <a:solidFill>
            <a:srgbClr val="0091CF"/>
          </a:solidFill>
          <a:ln>
            <a:solidFill>
              <a:srgbClr val="0091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304288"/>
            <a:ext cx="493776" cy="49377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2</a:t>
            </a:r>
          </a:p>
        </p:txBody>
      </p:sp>
      <p:sp>
        <p:nvSpPr>
          <p:cNvPr id="12" name="TextBox 11"/>
          <p:cNvSpPr txBox="1"/>
          <p:nvPr/>
        </p:nvSpPr>
        <p:spPr>
          <a:xfrm>
            <a:off x="1417320" y="2286000"/>
            <a:ext cx="2240280" cy="274320"/>
          </a:xfrm>
          <a:prstGeom prst="rect">
            <a:avLst/>
          </a:prstGeom>
          <a:noFill/>
        </p:spPr>
        <p:txBody>
          <a:bodyPr wrap="square" lIns="36576" rIns="36576" tIns="36576" bIns="36576" anchor="t">
            <a:spAutoFit/>
          </a:bodyPr>
          <a:lstStyle/>
          <a:p>
            <a:pPr algn="l">
              <a:lnSpc>
                <a:spcPct val="100000"/>
              </a:lnSpc>
            </a:pPr>
            <a:r>
              <a:rPr sz="1420" b="1">
                <a:solidFill>
                  <a:srgbClr val="183D70"/>
                </a:solidFill>
                <a:latin typeface="Arial"/>
              </a:rPr>
              <a:t>Tạo ứng viên mẫu</a:t>
            </a:r>
          </a:p>
        </p:txBody>
      </p:sp>
      <p:sp>
        <p:nvSpPr>
          <p:cNvPr id="13" name="TextBox 12"/>
          <p:cNvSpPr txBox="1"/>
          <p:nvPr/>
        </p:nvSpPr>
        <p:spPr>
          <a:xfrm>
            <a:off x="3657600" y="2286000"/>
            <a:ext cx="4846320" cy="438912"/>
          </a:xfrm>
          <a:prstGeom prst="rect">
            <a:avLst/>
          </a:prstGeom>
          <a:noFill/>
        </p:spPr>
        <p:txBody>
          <a:bodyPr wrap="square" lIns="36576" rIns="36576" tIns="36576" bIns="36576" anchor="t">
            <a:spAutoFit/>
          </a:bodyPr>
          <a:lstStyle/>
          <a:p>
            <a:pPr algn="l">
              <a:lnSpc>
                <a:spcPct val="100000"/>
              </a:lnSpc>
            </a:pPr>
            <a:r>
              <a:rPr sz="1270" b="0">
                <a:solidFill>
                  <a:srgbClr val="232D38"/>
                </a:solidFill>
                <a:latin typeface="Arial"/>
              </a:rPr>
              <a:t>Cắt lịch sử trước từng lượt gia sư có giá trị đánh giá</a:t>
            </a:r>
          </a:p>
        </p:txBody>
      </p:sp>
      <p:sp>
        <p:nvSpPr>
          <p:cNvPr id="14" name="Oval 13"/>
          <p:cNvSpPr/>
          <p:nvPr/>
        </p:nvSpPr>
        <p:spPr>
          <a:xfrm>
            <a:off x="758952" y="3127248"/>
            <a:ext cx="493776" cy="493776"/>
          </a:xfrm>
          <a:prstGeom prst="ellipse">
            <a:avLst/>
          </a:prstGeom>
          <a:solidFill>
            <a:srgbClr val="008B93"/>
          </a:solidFill>
          <a:ln>
            <a:solidFill>
              <a:srgbClr val="008B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127248"/>
            <a:ext cx="493776" cy="49377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3</a:t>
            </a:r>
          </a:p>
        </p:txBody>
      </p:sp>
      <p:sp>
        <p:nvSpPr>
          <p:cNvPr id="16" name="TextBox 15"/>
          <p:cNvSpPr txBox="1"/>
          <p:nvPr/>
        </p:nvSpPr>
        <p:spPr>
          <a:xfrm>
            <a:off x="1417320" y="3108960"/>
            <a:ext cx="2240280" cy="274320"/>
          </a:xfrm>
          <a:prstGeom prst="rect">
            <a:avLst/>
          </a:prstGeom>
          <a:noFill/>
        </p:spPr>
        <p:txBody>
          <a:bodyPr wrap="square" lIns="36576" rIns="36576" tIns="36576" bIns="36576" anchor="t">
            <a:spAutoFit/>
          </a:bodyPr>
          <a:lstStyle/>
          <a:p>
            <a:pPr algn="l">
              <a:lnSpc>
                <a:spcPct val="100000"/>
              </a:lnSpc>
            </a:pPr>
            <a:r>
              <a:rPr sz="1420" b="1">
                <a:solidFill>
                  <a:srgbClr val="183D70"/>
                </a:solidFill>
                <a:latin typeface="Arial"/>
              </a:rPr>
              <a:t>Agent đề xuất nhiệm vụ</a:t>
            </a:r>
          </a:p>
        </p:txBody>
      </p:sp>
      <p:sp>
        <p:nvSpPr>
          <p:cNvPr id="17" name="TextBox 16"/>
          <p:cNvSpPr txBox="1"/>
          <p:nvPr/>
        </p:nvSpPr>
        <p:spPr>
          <a:xfrm>
            <a:off x="3657600" y="3108960"/>
            <a:ext cx="4846320" cy="438912"/>
          </a:xfrm>
          <a:prstGeom prst="rect">
            <a:avLst/>
          </a:prstGeom>
          <a:noFill/>
        </p:spPr>
        <p:txBody>
          <a:bodyPr wrap="square" lIns="36576" rIns="36576" tIns="36576" bIns="36576" anchor="t">
            <a:spAutoFit/>
          </a:bodyPr>
          <a:lstStyle/>
          <a:p>
            <a:pPr algn="l">
              <a:lnSpc>
                <a:spcPct val="100000"/>
              </a:lnSpc>
            </a:pPr>
            <a:r>
              <a:rPr sz="1270" b="0">
                <a:solidFill>
                  <a:srgbClr val="232D38"/>
                </a:solidFill>
                <a:latin typeface="Arial"/>
              </a:rPr>
              <a:t>Luận giải, bằng chứng, độ tin cậy; UET/HNMU duyệt</a:t>
            </a:r>
          </a:p>
        </p:txBody>
      </p:sp>
      <p:sp>
        <p:nvSpPr>
          <p:cNvPr id="18" name="Oval 17"/>
          <p:cNvSpPr/>
          <p:nvPr/>
        </p:nvSpPr>
        <p:spPr>
          <a:xfrm>
            <a:off x="758952" y="3950208"/>
            <a:ext cx="493776" cy="493776"/>
          </a:xfrm>
          <a:prstGeom prst="ellipse">
            <a:avLst/>
          </a:prstGeom>
          <a:solidFill>
            <a:srgbClr val="6D53A4"/>
          </a:solidFill>
          <a:ln>
            <a:solidFill>
              <a:srgbClr val="6D5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950208"/>
            <a:ext cx="493776" cy="49377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4</a:t>
            </a:r>
          </a:p>
        </p:txBody>
      </p:sp>
      <p:sp>
        <p:nvSpPr>
          <p:cNvPr id="20" name="TextBox 19"/>
          <p:cNvSpPr txBox="1"/>
          <p:nvPr/>
        </p:nvSpPr>
        <p:spPr>
          <a:xfrm>
            <a:off x="1417320" y="3931920"/>
            <a:ext cx="2240280" cy="274320"/>
          </a:xfrm>
          <a:prstGeom prst="rect">
            <a:avLst/>
          </a:prstGeom>
          <a:noFill/>
        </p:spPr>
        <p:txBody>
          <a:bodyPr wrap="square" lIns="36576" rIns="36576" tIns="36576" bIns="36576" anchor="t">
            <a:spAutoFit/>
          </a:bodyPr>
          <a:lstStyle/>
          <a:p>
            <a:pPr algn="l">
              <a:lnSpc>
                <a:spcPct val="100000"/>
              </a:lnSpc>
            </a:pPr>
            <a:r>
              <a:rPr sz="1420" b="1">
                <a:solidFill>
                  <a:srgbClr val="183D70"/>
                </a:solidFill>
                <a:latin typeface="Arial"/>
              </a:rPr>
              <a:t>Hoàn thiện &amp; kiểm tra mẫu</a:t>
            </a:r>
          </a:p>
        </p:txBody>
      </p:sp>
      <p:sp>
        <p:nvSpPr>
          <p:cNvPr id="21" name="TextBox 20"/>
          <p:cNvSpPr txBox="1"/>
          <p:nvPr/>
        </p:nvSpPr>
        <p:spPr>
          <a:xfrm>
            <a:off x="3657600" y="3931920"/>
            <a:ext cx="4846320" cy="438912"/>
          </a:xfrm>
          <a:prstGeom prst="rect">
            <a:avLst/>
          </a:prstGeom>
          <a:noFill/>
        </p:spPr>
        <p:txBody>
          <a:bodyPr wrap="square" lIns="36576" rIns="36576" tIns="36576" bIns="36576" anchor="t">
            <a:spAutoFit/>
          </a:bodyPr>
          <a:lstStyle/>
          <a:p>
            <a:pPr algn="l">
              <a:lnSpc>
                <a:spcPct val="100000"/>
              </a:lnSpc>
            </a:pPr>
            <a:r>
              <a:rPr sz="1270" b="0">
                <a:solidFill>
                  <a:srgbClr val="232D38"/>
                </a:solidFill>
                <a:latin typeface="Arial"/>
              </a:rPr>
              <a:t>Điền phiếu tác giả, thêm Đáp án, kiểm tra truy vết và rò rỉ</a:t>
            </a:r>
          </a:p>
        </p:txBody>
      </p:sp>
      <p:sp>
        <p:nvSpPr>
          <p:cNvPr id="22" name="Oval 21"/>
          <p:cNvSpPr/>
          <p:nvPr/>
        </p:nvSpPr>
        <p:spPr>
          <a:xfrm>
            <a:off x="758952" y="4773168"/>
            <a:ext cx="493776" cy="493776"/>
          </a:xfrm>
          <a:prstGeom prst="ellipse">
            <a:avLst/>
          </a:prstGeom>
          <a:solidFill>
            <a:srgbClr val="EB8E2E"/>
          </a:solidFill>
          <a:ln>
            <a:solidFill>
              <a:srgbClr val="EB8E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73168"/>
            <a:ext cx="493776" cy="493776"/>
          </a:xfrm>
          <a:prstGeom prst="rect">
            <a:avLst/>
          </a:prstGeom>
          <a:noFill/>
        </p:spPr>
        <p:txBody>
          <a:bodyPr wrap="square" lIns="0" rIns="0" tIns="0" bIns="0" anchor="ctr">
            <a:spAutoFit/>
          </a:bodyPr>
          <a:lstStyle/>
          <a:p>
            <a:pPr algn="ctr">
              <a:lnSpc>
                <a:spcPct val="100000"/>
              </a:lnSpc>
            </a:pPr>
            <a:r>
              <a:rPr sz="1300" b="1">
                <a:solidFill>
                  <a:srgbClr val="FFFFFF"/>
                </a:solidFill>
                <a:latin typeface="Arial"/>
              </a:rPr>
              <a:t>5</a:t>
            </a:r>
          </a:p>
        </p:txBody>
      </p:sp>
      <p:sp>
        <p:nvSpPr>
          <p:cNvPr id="24" name="TextBox 23"/>
          <p:cNvSpPr txBox="1"/>
          <p:nvPr/>
        </p:nvSpPr>
        <p:spPr>
          <a:xfrm>
            <a:off x="1417320" y="4754880"/>
            <a:ext cx="2240280" cy="274320"/>
          </a:xfrm>
          <a:prstGeom prst="rect">
            <a:avLst/>
          </a:prstGeom>
          <a:noFill/>
        </p:spPr>
        <p:txBody>
          <a:bodyPr wrap="square" lIns="36576" rIns="36576" tIns="36576" bIns="36576" anchor="t">
            <a:spAutoFit/>
          </a:bodyPr>
          <a:lstStyle/>
          <a:p>
            <a:pPr algn="l">
              <a:lnSpc>
                <a:spcPct val="100000"/>
              </a:lnSpc>
            </a:pPr>
            <a:r>
              <a:rPr sz="1420" b="1">
                <a:solidFill>
                  <a:srgbClr val="183D70"/>
                </a:solidFill>
                <a:latin typeface="Arial"/>
              </a:rPr>
              <a:t>Chạy thử nghiệm nhỏ</a:t>
            </a:r>
          </a:p>
        </p:txBody>
      </p:sp>
      <p:sp>
        <p:nvSpPr>
          <p:cNvPr id="25" name="TextBox 24"/>
          <p:cNvSpPr txBox="1"/>
          <p:nvPr/>
        </p:nvSpPr>
        <p:spPr>
          <a:xfrm>
            <a:off x="3657600" y="4754880"/>
            <a:ext cx="4846320" cy="438912"/>
          </a:xfrm>
          <a:prstGeom prst="rect">
            <a:avLst/>
          </a:prstGeom>
          <a:noFill/>
        </p:spPr>
        <p:txBody>
          <a:bodyPr wrap="square" lIns="36576" rIns="36576" tIns="36576" bIns="36576" anchor="t">
            <a:spAutoFit/>
          </a:bodyPr>
          <a:lstStyle/>
          <a:p>
            <a:pPr algn="l">
              <a:lnSpc>
                <a:spcPct val="100000"/>
              </a:lnSpc>
            </a:pPr>
            <a:r>
              <a:rPr sz="1270" b="0">
                <a:solidFill>
                  <a:srgbClr val="232D38"/>
                </a:solidFill>
                <a:latin typeface="Arial"/>
              </a:rPr>
              <a:t>Chọn mô hình, số lần chạy, cách chấm và kiểm tra ổn định</a:t>
            </a:r>
          </a:p>
        </p:txBody>
      </p:sp>
      <p:sp>
        <p:nvSpPr>
          <p:cNvPr id="26" name="Rounded Rectangle 25"/>
          <p:cNvSpPr/>
          <p:nvPr/>
        </p:nvSpPr>
        <p:spPr>
          <a:xfrm>
            <a:off x="8732520" y="1508760"/>
            <a:ext cx="2651760" cy="4096512"/>
          </a:xfrm>
          <a:prstGeom prst="roundRect">
            <a:avLst/>
          </a:prstGeom>
          <a:solidFill>
            <a:srgbClr val="FDF2E0"/>
          </a:solidFill>
          <a:ln w="12700">
            <a:solidFill>
              <a:srgbClr val="B9C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32520" y="1508760"/>
            <a:ext cx="91440" cy="4096512"/>
          </a:xfrm>
          <a:prstGeom prst="rect">
            <a:avLst/>
          </a:prstGeom>
          <a:solidFill>
            <a:srgbClr val="EB8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33688" y="1618488"/>
            <a:ext cx="2331720" cy="384048"/>
          </a:xfrm>
          <a:prstGeom prst="rect">
            <a:avLst/>
          </a:prstGeom>
          <a:noFill/>
        </p:spPr>
        <p:txBody>
          <a:bodyPr wrap="square" lIns="54864" rIns="54864" tIns="54864" bIns="54864" anchor="t">
            <a:spAutoFit/>
          </a:bodyPr>
          <a:lstStyle/>
          <a:p>
            <a:pPr algn="l">
              <a:lnSpc>
                <a:spcPct val="100000"/>
              </a:lnSpc>
            </a:pPr>
            <a:r>
              <a:rPr sz="1550" b="1">
                <a:solidFill>
                  <a:srgbClr val="183D70"/>
                </a:solidFill>
                <a:latin typeface="Arial"/>
              </a:rPr>
              <a:t>Cần thống nhất</a:t>
            </a:r>
          </a:p>
        </p:txBody>
      </p:sp>
      <p:sp>
        <p:nvSpPr>
          <p:cNvPr id="29" name="TextBox 28"/>
          <p:cNvSpPr txBox="1"/>
          <p:nvPr/>
        </p:nvSpPr>
        <p:spPr>
          <a:xfrm>
            <a:off x="8933688" y="2057400"/>
            <a:ext cx="2340864" cy="3438144"/>
          </a:xfrm>
          <a:prstGeom prst="rect">
            <a:avLst/>
          </a:prstGeom>
          <a:noFill/>
        </p:spPr>
        <p:txBody>
          <a:bodyPr wrap="square" lIns="36576" rIns="36576" tIns="36576" bIns="36576" anchor="t">
            <a:spAutoFit/>
          </a:bodyPr>
          <a:lstStyle/>
          <a:p>
            <a:pPr algn="l">
              <a:lnSpc>
                <a:spcPct val="100000"/>
              </a:lnSpc>
            </a:pPr>
            <a:r>
              <a:rPr sz="1300" b="0">
                <a:solidFill>
                  <a:srgbClr val="232D38"/>
                </a:solidFill>
                <a:latin typeface="Arial"/>
              </a:rPr>
              <a:t>• Mỗi mẫu giữ một nhiệm vụ chính và những nhãn phụ nào?
• Bao nhiêu ứng viên cần duyệt để hiệu chỉnh agent?
• Phần hình thức nào được phép chuẩn hóa?
• Có dùng so sánh cặp với phản hồi lý tưởng ngay từ lần đầu?</a:t>
            </a:r>
          </a:p>
        </p:txBody>
      </p:sp>
      <p:sp>
        <p:nvSpPr>
          <p:cNvPr id="30" name="Rounded Rectangle 29"/>
          <p:cNvSpPr/>
          <p:nvPr/>
        </p:nvSpPr>
        <p:spPr>
          <a:xfrm>
            <a:off x="768096" y="5733288"/>
            <a:ext cx="7726679" cy="384048"/>
          </a:xfrm>
          <a:prstGeom prst="roundRect">
            <a:avLst/>
          </a:prstGeom>
          <a:solidFill>
            <a:srgbClr val="FFFFFF"/>
          </a:solidFill>
          <a:ln>
            <a:solidFill>
              <a:srgbClr val="C43E3E"/>
            </a:solidFill>
          </a:ln>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lnSpc>
                <a:spcPct val="100000"/>
              </a:lnSpc>
            </a:pPr>
            <a:r>
              <a:rPr sz="1380" b="0">
                <a:solidFill>
                  <a:srgbClr val="232D38"/>
                </a:solidFill>
                <a:latin typeface="Arial"/>
              </a:rPr>
              <a:t>Ưu tiên trước mắt: chốt bộ tách cấu trúc, quy tắc tạo ứng viên và hợp đồng đầu ra của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0</Words>
  <Application>Microsoft Office PowerPoint</Application>
  <PresentationFormat>Widescreen</PresentationFormat>
  <Paragraphs>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Từ hội thoại kiểu mẫu của giáo viên đến benchmark gia sư AI</dc:title>
  <dc:creator>Nhóm UET</dc:creator>
  <cp:lastModifiedBy>Harry Hiếu Nguyễn</cp:lastModifiedBy>
  <cp:revision>4</cp:revision>
  <dcterms:created xsi:type="dcterms:W3CDTF">2019-02-22T04:49:27Z</dcterms:created>
  <dcterms:modified xsi:type="dcterms:W3CDTF">2019-03-21T03:36:09Z</dcterms:modified>
  <dc:subject>Quy trình ánh xạ dữ liệu HNMU, bổ sung trường và đánh giá mô hình</dc:subject>
  <cp:keywords>benchmark, gia sư AI, HNMU, UET, hội thoại, rubric</cp:keywords>
  <dc:description>Tạo từ template UET do người dùng cung cấp; không sử dụng mã nội bộ trong nội dung trình bày.</dc:description>
</cp:coreProperties>
</file>