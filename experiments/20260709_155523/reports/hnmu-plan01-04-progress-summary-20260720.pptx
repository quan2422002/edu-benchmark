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987552"/>
            <a:ext cx="8412480" cy="8412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B4F8A"/>
                </a:solidFill>
                <a:latin typeface="Aptos Display"/>
              </a:rPr>
              <a:t>Từ dữ liệu thô HNMU đến dữ liệu đã kiểm toán V0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7772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162B45"/>
                </a:solidFill>
                <a:latin typeface="Aptos"/>
              </a:rPr>
              <a:t>Tổng hợp công việc từ lúc nhận dữ liệu thô đến kiểm định lớp 6–9
Giai đoạn: nghiên cứu nền tảng → học liệu truy xuất → checklist → kiểm toán dữ liệu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880360"/>
            <a:ext cx="1874519" cy="384048"/>
          </a:xfrm>
          <a:prstGeom prst="round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916936"/>
            <a:ext cx="1783079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Cập nhật 20/07/2026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880360"/>
            <a:ext cx="2606040" cy="384048"/>
          </a:xfrm>
          <a:prstGeom prst="roundRect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2916936"/>
            <a:ext cx="25146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Phục vụ trao đổi UET–HNMU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03320"/>
            <a:ext cx="84124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62B45"/>
                </a:solidFill>
                <a:latin typeface="Aptos"/>
              </a:rPr>
              <a:t>Trọng tâm: dữ liệu thô do giáo viên HNMU xây dựng đã được tổ chức, gắn học liệu SGK/SGV, kiểm tra bằng code và kiểm toán ngữ nghĩa/sư phạm bằng agent theo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1. Tóm tắt nhanh kết quả đã đạt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Từ dữ liệu thô HNMU tới gói kết quả audit có thể review và truy vết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148840" cy="1143000"/>
          </a:xfrm>
          <a:prstGeom prst="roundRect">
            <a:avLst/>
          </a:prstGeom>
          <a:solidFill>
            <a:srgbClr val="E9F6FE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92807"/>
            <a:ext cx="1874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Dữ liệu thô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874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4 file Excel lớp 6–9
1.050 mẫu hội thoại đã chuẩn hóa thành bảng dẫn xuất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783080"/>
            <a:ext cx="2148840" cy="1143000"/>
          </a:xfrm>
          <a:prstGeom prst="roundRect">
            <a:avLst/>
          </a:prstGeom>
          <a:solidFill>
            <a:srgbClr val="EAFAF3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892807"/>
            <a:ext cx="1874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Học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1874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SGK/SGV Tin học 6–9
154 đơn vị OCR Markdown
2.750 fragment truy xuất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783080"/>
            <a:ext cx="214884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892807"/>
            <a:ext cx="1874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Công cụ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94560"/>
            <a:ext cx="1874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SQLite full-text search
Hàm truy xuất fragment
Code thống kê và kiểm cơ học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783080"/>
            <a:ext cx="2148840" cy="1143000"/>
          </a:xfrm>
          <a:prstGeom prst="roundRect">
            <a:avLst/>
          </a:prstGeom>
          <a:solidFill>
            <a:srgbClr val="FFF6E8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892807"/>
            <a:ext cx="1874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Kiểm định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1874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18 tiêu chí/mẫu
18.900 dòng checklist
385 mẫu cần HNMU/UET xem lại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005840" y="3429000"/>
          <a:ext cx="86868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Nhóm lớp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Số mẫu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Đạt sơ bộ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Cần xem lại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Không đạt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Lớp 6–7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Lớp 8–9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588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427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160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Tổng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1.050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60120" y="5074920"/>
            <a:ext cx="9235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280"/>
                </a:solidFill>
                <a:latin typeface="Aptos"/>
              </a:rPr>
              <a:t>Lưu ý: “Đạt sơ bộ” không có nghĩa là đã thành mẫu benchmark cuối cùng. Đây là kết quả kiểm toán V0 để ưu tiên review và chuẩn bị chuyển đổi.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B4F8A"/>
                </a:solidFill>
                <a:latin typeface="Aptos Display"/>
              </a:rPr>
              <a:t>2. Flow tổng thể đã xây dựng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Dòng chảy từ dữ liệu giáo viên gửi tới gói kết quả có thể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965960" cy="841248"/>
          </a:xfrm>
          <a:prstGeom prst="roundRect">
            <a:avLst/>
          </a:prstGeom>
          <a:solidFill>
            <a:srgbClr val="E9F6FE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4F8A"/>
                </a:solidFill>
                <a:latin typeface="Aptos"/>
              </a:rPr>
              <a:t>1. Nhận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1746504" cy="4297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19" b="0">
                <a:solidFill>
                  <a:srgbClr val="162B45"/>
                </a:solidFill>
                <a:latin typeface="Aptos"/>
              </a:rPr>
              <a:t>Excel hội thoại
lớp 6–9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203704"/>
            <a:ext cx="338328" cy="0"/>
          </a:xfrm>
          <a:prstGeom prst="line">
            <a:avLst/>
          </a:prstGeom>
          <a:ln w="2667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1783080"/>
            <a:ext cx="1965960" cy="841248"/>
          </a:xfrm>
          <a:prstGeom prst="roundRect">
            <a:avLst/>
          </a:prstGeom>
          <a:solidFill>
            <a:srgbClr val="E9F6FE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874519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4F8A"/>
                </a:solidFill>
                <a:latin typeface="Aptos"/>
              </a:rPr>
              <a:t>2. Chuẩn hóa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148840"/>
            <a:ext cx="1746504" cy="4297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19" b="0">
                <a:solidFill>
                  <a:srgbClr val="162B45"/>
                </a:solidFill>
                <a:latin typeface="Aptos"/>
              </a:rPr>
              <a:t>Bảng dẫn xuất
có truy vết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2203704"/>
            <a:ext cx="338328" cy="0"/>
          </a:xfrm>
          <a:prstGeom prst="line">
            <a:avLst/>
          </a:prstGeom>
          <a:ln w="2667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32120" y="1783080"/>
            <a:ext cx="1965960" cy="841248"/>
          </a:xfrm>
          <a:prstGeom prst="roundRect">
            <a:avLst/>
          </a:prstGeom>
          <a:solidFill>
            <a:srgbClr val="EAFAF3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1848" y="1874519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4F8A"/>
                </a:solidFill>
                <a:latin typeface="Aptos"/>
              </a:rPr>
              <a:t>3. Gắn học liệu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2148840"/>
            <a:ext cx="1746504" cy="4297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19" b="0">
                <a:solidFill>
                  <a:srgbClr val="162B45"/>
                </a:solidFill>
                <a:latin typeface="Aptos"/>
              </a:rPr>
              <a:t>SGK/SGV → OCR
Markdown + fragment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2203704"/>
            <a:ext cx="338329" cy="0"/>
          </a:xfrm>
          <a:prstGeom prst="line">
            <a:avLst/>
          </a:prstGeom>
          <a:ln w="2667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09560" y="1783080"/>
            <a:ext cx="1965960" cy="841248"/>
          </a:xfrm>
          <a:prstGeom prst="roundRect">
            <a:avLst/>
          </a:prstGeom>
          <a:solidFill>
            <a:srgbClr val="EAFAF3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1874519"/>
            <a:ext cx="1746504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4F8A"/>
                </a:solidFill>
                <a:latin typeface="Aptos"/>
              </a:rPr>
              <a:t>4. Tìm căn cứ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2148840"/>
            <a:ext cx="1746504" cy="4297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19" b="0">
                <a:solidFill>
                  <a:srgbClr val="162B45"/>
                </a:solidFill>
                <a:latin typeface="Aptos"/>
              </a:rPr>
              <a:t>SQLite full-text
search theo từ khóa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754112" y="2624328"/>
            <a:ext cx="1133856" cy="548640"/>
          </a:xfrm>
          <a:prstGeom prst="line">
            <a:avLst/>
          </a:prstGeom>
          <a:ln w="2667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74519" y="3182112"/>
            <a:ext cx="2057400" cy="841248"/>
          </a:xfrm>
          <a:prstGeom prst="roundRect">
            <a:avLst/>
          </a:prstGeom>
          <a:solidFill>
            <a:srgbClr val="FFF6E8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84248" y="3273552"/>
            <a:ext cx="1837943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4F8A"/>
                </a:solidFill>
                <a:latin typeface="Aptos"/>
              </a:rPr>
              <a:t>5. Áp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4248" y="3547872"/>
            <a:ext cx="1837943" cy="4297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19" b="0">
                <a:solidFill>
                  <a:srgbClr val="162B45"/>
                </a:solidFill>
                <a:latin typeface="Aptos"/>
              </a:rPr>
              <a:t>Độ phủ, cấu trúc,
nhất quán, dàn giáo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3602736"/>
            <a:ext cx="338328" cy="0"/>
          </a:xfrm>
          <a:prstGeom prst="line">
            <a:avLst/>
          </a:prstGeom>
          <a:ln w="2667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43400" y="3182112"/>
            <a:ext cx="2057400" cy="841248"/>
          </a:xfrm>
          <a:prstGeom prst="roundRect">
            <a:avLst/>
          </a:prstGeom>
          <a:solidFill>
            <a:srgbClr val="F4F7FF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273552"/>
            <a:ext cx="1837943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4F8A"/>
                </a:solidFill>
                <a:latin typeface="Aptos"/>
              </a:rPr>
              <a:t>6. Kiểm toán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547872"/>
            <a:ext cx="1837943" cy="4297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19" b="0">
                <a:solidFill>
                  <a:srgbClr val="162B45"/>
                </a:solidFill>
                <a:latin typeface="Aptos"/>
              </a:rPr>
              <a:t>Code kiểm cơ học
Agent kiểm nội dung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3602736"/>
            <a:ext cx="338328" cy="0"/>
          </a:xfrm>
          <a:prstGeom prst="line">
            <a:avLst/>
          </a:prstGeom>
          <a:ln w="2667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12280" y="3182112"/>
            <a:ext cx="2057400" cy="841248"/>
          </a:xfrm>
          <a:prstGeom prst="roundRect">
            <a:avLst/>
          </a:prstGeom>
          <a:solidFill>
            <a:srgbClr val="F3F8FB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8" y="3273552"/>
            <a:ext cx="1837943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4F8A"/>
                </a:solidFill>
                <a:latin typeface="Aptos"/>
              </a:rPr>
              <a:t>7. Xuất kết quả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3547872"/>
            <a:ext cx="1837943" cy="4297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19" b="0">
                <a:solidFill>
                  <a:srgbClr val="162B45"/>
                </a:solidFill>
                <a:latin typeface="Aptos"/>
              </a:rPr>
              <a:t>Đạt sơ bộ / review
/ không đạt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07408"/>
            <a:ext cx="19202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4F8A"/>
                </a:solidFill>
                <a:latin typeface="Aptos"/>
              </a:rPr>
              <a:t>Ý nghĩa của 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718304"/>
            <a:ext cx="4206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4864608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Dữ liệu gốc không bị sửa; mọi xử lý đều tạo bản dẫn xuất có truy vết.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Kết luận của agent luôn phải dựa trên checklist và học liệu SGK/SGV khi có thể.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9240" y="4718304"/>
            <a:ext cx="4480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50407" y="4864608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Code xử lý phần đếm/thiếu/trùng; agent xử lý phần cần hiểu nội dung.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HNMU/UET là nơi xác nhận chuyên môn cuối cùng cho các mẫu cần 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3. Nền tảng kiểm định: dữ liệu phải được đánh giá trước khi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Tổng hợp từ các bài báo benchmark và điều chỉnh cho dữ liệu HNMU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246120" cy="2423160"/>
          </a:xfrm>
          <a:prstGeom prst="roundRect">
            <a:avLst/>
          </a:prstGeom>
          <a:solidFill>
            <a:srgbClr val="F4F8FB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10512"/>
            <a:ext cx="291693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Nguồn tham khảo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30552"/>
            <a:ext cx="293522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MathTutorBench: cách xây benchmark gia sư toán và vai trò kiểm tra bởi con người.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KMP-Bench: flow dùng LLM hỗ trợ sinh/verify nhưng vẫn cần kiểm soát chất lượng.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TutorBench: đánh giá phản hồi gia sư theo ngữ cảnh hội thoại.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V-Legal: nhấn mạnh truy vết nguồn và kiểm chất lượng dữ liệu tiếng Việt.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5577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10512"/>
            <a:ext cx="524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Checklist V0 gồm 5 nhóm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130552"/>
            <a:ext cx="526694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Độ phủ: lớp, chủ đề, bài học, mức nhận thức, dạng câu hỏi/bài tập.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Cấu trúc dữ liệu: đủ trường, có nhãn lượt nói, truy vết dòng gốc.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Nhất quán: câu hỏi ↔ bài/vị trí ↔ đáp án SGV ↔ hội thoại ↔ học liệu.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Sư phạm: dàn giáo, không lộ đáp án quá sớm, trình tự hợp lý, phù hợp THCS.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Trùng/gần trùng: phát hiện mẫu lặp hoặc biến thể quá tầm thường.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4F8A"/>
                </a:solidFill>
                <a:latin typeface="Aptos"/>
              </a:rPr>
              <a:t>Kết quả cụ thể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892040"/>
            <a:ext cx="2057400" cy="411480"/>
          </a:xfrm>
          <a:prstGeom prst="roundRect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28616"/>
            <a:ext cx="19659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18 tiêu chí / mẫu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4892040"/>
            <a:ext cx="2926080" cy="411480"/>
          </a:xfrm>
          <a:prstGeom prst="round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928616"/>
            <a:ext cx="283464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Tách checklist dữ liệu thô và benchmark candidate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892040"/>
            <a:ext cx="2743200" cy="411480"/>
          </a:xfrm>
          <a:prstGeom prst="roundRect">
            <a:avLst/>
          </a:prstGeom>
          <a:solidFill>
            <a:srgbClr val="2EA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928616"/>
            <a:ext cx="26517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Quy tắc tổng hợp đạt / review / không đạt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4. Tổ chức dữ liệu: tách rõ dữ liệu gốc, học liệu và code dùng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Việc này giúp tránh sửa nhầm, tránh lẫn output thử nghiệm với kết quả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2880360" cy="2606040"/>
          </a:xfrm>
          <a:prstGeom prst="roundRect">
            <a:avLst/>
          </a:prstGeom>
          <a:solidFill>
            <a:srgbClr val="E9F6FE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64792"/>
            <a:ext cx="2551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Dữ liệu thô HNMU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25694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Đặt trong thư mục dùng chung, không nằm rải trong experiment.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File Excel gốc được giữ nguyên; mọi xử lý tạo bản dẫn xuất.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Mỗi mẫu có mã mẫu, lớp, bài, dòng nguồn để truy vết.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645920"/>
            <a:ext cx="2880360" cy="2606040"/>
          </a:xfrm>
          <a:prstGeom prst="roundRect">
            <a:avLst/>
          </a:prstGeom>
          <a:solidFill>
            <a:srgbClr val="EAFAF3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764792"/>
            <a:ext cx="2551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Học liệu SGK/SGV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084832"/>
            <a:ext cx="25694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Ảnh/PDF/OCR đặt trong vùng học liệu dùng chung.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Dữ liệu OCR Markdown của Nguyên được dùng làm nguồn chính cho lớp 6–9.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SGK dùng kiểm câu hỏi/chủ đề/bài; SGV dùng kiểm đáp án và căn cứ giải thích.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645920"/>
            <a:ext cx="2880360" cy="2606040"/>
          </a:xfrm>
          <a:prstGeom prst="roundRect">
            <a:avLst/>
          </a:prstGeom>
          <a:solidFill>
            <a:srgbClr val="FFF6E8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1764792"/>
            <a:ext cx="2551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Code và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2084832"/>
            <a:ext cx="25694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Code dùng chung đặt trong `src/`, không nhét vào experiment.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Output audit nằm riêng theo batch lớp 6–7 và lớp 8–9.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Gói final có `README_final.md` ở từng tầng để đọc đúng file chính.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9144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62B45"/>
                </a:solidFill>
                <a:latin typeface="Aptos"/>
              </a:rPr>
              <a:t>Thông điệp chính: hệ thống giờ đã có cấu trúc để lặp lại cho batch mới mà không làm loạn dữ liệu gốc.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5. Học liệu SGK/SGV đã được biến thành nguồn truy xuất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Từ Markdown OCR tới fragment và công cụ tìm kiếm học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965960" cy="1143000"/>
          </a:xfrm>
          <a:prstGeom prst="roundRect">
            <a:avLst/>
          </a:prstGeom>
          <a:solidFill>
            <a:srgbClr val="EAFAF3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16916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OCR Markdown
SGK/SGV 6–9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16916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154 đơn vị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377440"/>
            <a:ext cx="320040" cy="0"/>
          </a:xfrm>
          <a:prstGeom prst="line">
            <a:avLst/>
          </a:prstGeom>
          <a:ln w="2794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79" y="1828800"/>
            <a:ext cx="1965960" cy="1143000"/>
          </a:xfrm>
          <a:prstGeom prst="roundRect">
            <a:avLst/>
          </a:prstGeom>
          <a:solidFill>
            <a:srgbClr val="EAFAF3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1938528"/>
            <a:ext cx="16916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Tách fragment
theo bài/mục/trang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2240280"/>
            <a:ext cx="16916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2.750 đoạn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2377440"/>
            <a:ext cx="320039" cy="0"/>
          </a:xfrm>
          <a:prstGeom prst="line">
            <a:avLst/>
          </a:prstGeom>
          <a:ln w="2794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0" y="1828800"/>
            <a:ext cx="1965960" cy="1143000"/>
          </a:xfrm>
          <a:prstGeom prst="roundRect">
            <a:avLst/>
          </a:prstGeom>
          <a:solidFill>
            <a:srgbClr val="F4F7FF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938528"/>
            <a:ext cx="16916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Lập chỉ mục
full-text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240280"/>
            <a:ext cx="16916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SQLite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360" y="2377440"/>
            <a:ext cx="320040" cy="0"/>
          </a:xfrm>
          <a:prstGeom prst="line">
            <a:avLst/>
          </a:prstGeom>
          <a:ln w="27940">
            <a:solidFill>
              <a:srgbClr val="00A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18119" y="1828800"/>
            <a:ext cx="1965960" cy="1143000"/>
          </a:xfrm>
          <a:prstGeom prst="roundRect">
            <a:avLst/>
          </a:prstGeom>
          <a:solidFill>
            <a:srgbClr val="FFF6E8"/>
          </a:solidFill>
          <a:ln>
            <a:solidFill>
              <a:srgbClr val="B7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938528"/>
            <a:ext cx="16916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4F8A"/>
                </a:solidFill>
                <a:latin typeface="Aptos"/>
              </a:rPr>
              <a:t>Agent truy xuất
đoạn liên quan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40280"/>
            <a:ext cx="1691639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2B45"/>
                </a:solidFill>
                <a:latin typeface="Aptos"/>
              </a:rPr>
              <a:t>có căn cứ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657600"/>
            <a:ext cx="4297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776472"/>
            <a:ext cx="396849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Vì sao quan trọng?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096512"/>
            <a:ext cx="39867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Nếu không có học liệu truy xuất, agent dễ đánh giá bằng cảm tính.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Fragment giúp kiểm câu hỏi/đáp án/hội thoại dựa trên đoạn SGK/SGV cụ thể.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Full-text search phù hợp giai đoạn này vì dễ kiểm soát hơn vector search.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657600"/>
            <a:ext cx="4297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2431" y="3776472"/>
            <a:ext cx="396849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Trạng thái hiện tại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7" y="4096512"/>
            <a:ext cx="39867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Đủ dùng cho kiểm toán V0 lớp 6–9.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Học liệu vẫn ở trạng thái nháp, chưa thay thế xác nhận chuyên môn của HNMU/UET.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Có thể mở rộng thành cơ sở dữ liệu học liệu trong giai đoạn sau.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6. Kiểm bằng code: phần nào đếm được thì để máy đếm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Code xử lý các bước cơ học, thống kê và truy vết trước khi agent đọc nội dung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91640"/>
          <a:ext cx="9326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  <a:gridCol w="2331720"/>
                <a:gridCol w="2331720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Nhóm kiểm tra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Lớp 6–7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Lớp 8–9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Ý nghĩa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Số mẫu đã chuẩn 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Dữ liệu thô được đưa về bảng dẫn xuất có truy vết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Độ phủ theo chủ đề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6 nhóm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11 nhóm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Cho biết dữ liệu đang tập trung ở vùng kiến thức nào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Độ phủ theo bài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33 bài theo lớp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42 bài theo lớp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Bài học luôn gắn với lớp, không xem như nhãn độc lập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Thiếu trường/lỗi cơ học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2 dòng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20 dòng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Tín hiệu cần kiểm lại trước khi chuyển đổi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Trùng/gần trùng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0 cặp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1 cặp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62B45"/>
                          </a:solidFill>
                          <a:latin typeface="Aptos"/>
                        </a:rPr>
                        <a:t>Giảm rủi ro nhiều mẫu nhưng ít đa dạng thật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251960"/>
            <a:ext cx="425196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370832"/>
            <a:ext cx="39227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Các trục coverage hiện đã thống kê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690872"/>
            <a:ext cx="3941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Lớp, chủ đề SGK/SGV, bài học theo lớp, mức nhận thức, file nguồn.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Trục dạng câu hỏi/bài tập chưa có file final riêng; cần bổ sung sau nếu HNMU/UET chốt nhãn dạng bài.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251960"/>
            <a:ext cx="4343400" cy="1143000"/>
          </a:xfrm>
          <a:prstGeom prst="roundRect">
            <a:avLst/>
          </a:prstGeom>
          <a:solidFill>
            <a:srgbClr val="FFF6E8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4370832"/>
            <a:ext cx="40142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Điều code không tự kết luận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4690872"/>
            <a:ext cx="4032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Câu hỏi có thực sự khớp học liệu không?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Hội thoại có dàn giáo tốt không?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Đáp án SGV có đủ/đúng theo ngữ cảnh không?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7. Kiểm bằng agent: đọc từng mẫu theo checklist và học liệu liên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Agent đóng vai trò trợ lý kiểm toán, không thay thế phán quyết chuyên môn của HNMU/UET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508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0B4F8A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84832"/>
            <a:ext cx="1600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62B45"/>
                </a:solidFill>
                <a:latin typeface="Aptos"/>
              </a:rPr>
              <a:t>tiêu chí cho mỗi mẫu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691640"/>
            <a:ext cx="1508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00A7C8"/>
                </a:solidFill>
                <a:latin typeface="Aptos"/>
              </a:rPr>
              <a:t>18.900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84832"/>
            <a:ext cx="1600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62B45"/>
                </a:solidFill>
                <a:latin typeface="Aptos"/>
              </a:rPr>
              <a:t>dòng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691640"/>
            <a:ext cx="1508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2A720"/>
                </a:solidFill>
                <a:latin typeface="Aptos"/>
              </a:rPr>
              <a:t>385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84832"/>
            <a:ext cx="1600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62B45"/>
                </a:solidFill>
                <a:latin typeface="Aptos"/>
              </a:rPr>
              <a:t>mẫu cần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691640"/>
            <a:ext cx="1508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2EA44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84832"/>
            <a:ext cx="1600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62B45"/>
                </a:solidFill>
                <a:latin typeface="Aptos"/>
              </a:rPr>
              <a:t>lớp đã kiểm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971800"/>
            <a:ext cx="4434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090672"/>
            <a:ext cx="4105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Agent kiểm những gì?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410712"/>
            <a:ext cx="4123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Câu hỏi có khớp bài/vị trí trong SGK/SGV không.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Đáp án SGV có khớp câu hỏi không.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Hội thoại có bám câu hỏi và đáp án không.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Mức nhận thức có hợp lý không.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Có dấu hiệu dàn giáo, không lộ đáp án quá sớm, ngôn ngữ phù hợp THCS không.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2971800"/>
            <a:ext cx="4434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96712" y="3090672"/>
            <a:ext cx="4105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Cách agent đưa ra kết luận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410712"/>
            <a:ext cx="41239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Mỗi tiêu chí có quyết định: đạt, không đạt, chưa chắc, hoặc không áp dụng.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Nếu một tiêu chí không đạt → mẫu tổng thể là không đạt.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Nếu chưa có lỗi rõ nhưng còn tiêu chí chưa chắc → đưa vào hàng đợi HNMU/UET xem lại.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Mỗi kết luận giữ lại lý do và bằng chứng học liệu nếu tìm được.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8. Kết quả kiểm toán V0 — dữ liệu lớp 6–7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462 mẫu, đã kiểm cả bằng code và checklist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4206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Kết luận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Số mẫu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Tỉ lệ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Đạt sơ bộ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51.5%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Cần HNMU/UET xem lại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222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48.1%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Không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0" y="1691640"/>
            <a:ext cx="43434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50992" y="1810512"/>
            <a:ext cx="40142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Điểm đáng chú 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2130552"/>
            <a:ext cx="40325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Không phát hiện cặp trùng/gần trùng trong gói kết quả chính.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Có 2 dòng thiếu trường/lỗi cơ học cần xem lại.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Hàng đợi review sau agent: 224 mẫu.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4526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913632"/>
            <a:ext cx="419709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Cách đọc kết quả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33672"/>
            <a:ext cx="4215384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File cấp mẫu chính: `quality_check_suggestions.csv`.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File lý do chi tiết: checklist 18 tiêu chí/mẫu.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Các mẫu cần xem lại không có nghĩa là sai; nhiều mẫu chỉ thiếu bằng chứng hoặc còn mơ hồ.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3794760"/>
            <a:ext cx="4206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3913632"/>
            <a:ext cx="38770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Thông điệp cho HNMU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4233672"/>
            <a:ext cx="3895344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Batch lớp 6–7 đã đủ cấu trúc để review có hệ thống.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Cần ưu tiên xem 224 mẫu trong hàng đợi thay vì đọc lại toàn bộ 462 mẫu từ đầu.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9. Kết quả kiểm toán V0 — dữ liệu lớp 8–9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588 mẫu, đã sửa đồng bộ mapping bài học và chuẩn hóa kết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4206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Kết luận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Số mẫu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Tỉ lệ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Đạt sơ bộ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72.6%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Cần HNMU/UET xem lại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160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27.2%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Không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62B45"/>
                          </a:solidFill>
                          <a:latin typeface="Aptos"/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0" y="1691640"/>
            <a:ext cx="43434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50992" y="1810512"/>
            <a:ext cx="40142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Điểm đáng chú 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2130552"/>
            <a:ext cx="40325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Sau cập nhật mapping, không còn nhóm “Không rõ chủ đề” trong coverage.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Có 1 cặp ứng viên trùng/gần trùng.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Có 19 mẫu chưa rõ mức nhận thức trong thống kê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4526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913632"/>
            <a:ext cx="419709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Kết quả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33672"/>
            <a:ext cx="4215384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588 mẫu × 18 tiêu chí = 10.584 dòng checklist.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Hàng đợi review sau agent: 161 mẫu.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File chi tiết hiện hành là bản đã repair theo mapping bài học mới.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3794760"/>
            <a:ext cx="4206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3913632"/>
            <a:ext cx="38770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Thông điệp cho HNMU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4233672"/>
            <a:ext cx="3895344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Phần lớn mẫu lớp 8–9 đạt sơ bộ.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Các mẫu cần xem lại tập trung vào thiếu/mơ hồ bằng chứng, mức nhận thức hoặc nhất quán học liệu.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10. Gói kết quả hiện nên đọc như thế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Để tránh lẫn output thử nghiệm/debug với kết quả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95097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3169920"/>
                <a:gridCol w="3169920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Nhu cầu đọc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File/thư mục chính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ptos"/>
                        </a:rPr>
                        <a:t>Ý nghĩa</a:t>
                      </a:r>
                    </a:p>
                  </a:txBody>
                  <a:tcPr>
                    <a:solidFill>
                      <a:srgbClr val="0B4F8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Xem kết luận từng mẫu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quality_check_suggestions.csv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Mẫu đạt sơ bộ, cần HNMU/UET xem lại, hay không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Xem lý do chi tiết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raw_dialogue_checklist_results*.csv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Một dòng cho mỗi mẫu + tiêu chí; có lý do và bằng chứng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Xem mẫu cần hỏi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hnmu_review_queue_suggestions.csv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Danh sách ưu tiên gửi HNMU/UET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Xem độ phủ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coverage_summary.csv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Phân bố theo lớp, chủ đề, bài học, mức nhận thức, nguồn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Xem thiếu/trùng cơ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missing_field_report.csv; duplicate_candidates.csv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Lỗi cơ học và ứng viên trùng/gần trùng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Đọc hướng dẫn trong thư mục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README_final.md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>
                          <a:solidFill>
                            <a:srgbClr val="162B45"/>
                          </a:solidFill>
                          <a:latin typeface="Aptos"/>
                        </a:rPr>
                        <a:t>Chỉ mô tả file kết quả chính; không tính file bị ignore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434840"/>
            <a:ext cx="9052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2B45"/>
                </a:solidFill>
                <a:latin typeface="Aptos"/>
              </a:rPr>
              <a:t>Quy ước mới: `README.md` có thể mô tả lịch sử/toàn cảnh; `README_final.md` chỉ mô tả gói kết quả chính hiện hành.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Hai batch được giữ tách biệt: lớp 6–7 và lớp 8–9. Điều này giúp tránh ghi đè, đồng thời vẫn có thể tổng hợp ở báo cáo gửi HNMU.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_benchmark_slide_templa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76072"/>
            <a:ext cx="90525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B4F8A"/>
                </a:solidFill>
                <a:latin typeface="Aptos Display"/>
              </a:rPr>
              <a:t>11. Việc tiếp theo cần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33271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Từ audit dữ liệu thô sang mẫu benchmark có thể dùng để đánh giá gia sư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1143000" cy="41148"/>
          </a:xfrm>
          <a:prstGeom prst="rect">
            <a:avLst/>
          </a:prstGeom>
          <a:solidFill>
            <a:srgbClr val="00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2880360" cy="2331720"/>
          </a:xfrm>
          <a:prstGeom prst="roundRect">
            <a:avLst/>
          </a:prstGeom>
          <a:solidFill>
            <a:srgbClr val="FFF6E8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64792"/>
            <a:ext cx="2551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1. HNMU/UET review có trọng tâm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25694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Không đọc lại toàn bộ từ đầu.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Ưu tiên các mẫu trong hàng đợi review.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Xác nhận các điểm mơ hồ về đáp án SGV, bài học, mức nhận thức và dàn giáo.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645920"/>
            <a:ext cx="2880360" cy="2331720"/>
          </a:xfrm>
          <a:prstGeom prst="roundRect">
            <a:avLst/>
          </a:prstGeom>
          <a:solidFill>
            <a:srgbClr val="E9F6FE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764792"/>
            <a:ext cx="2551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2. Chuyển đổi thành mẫu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084832"/>
            <a:ext cx="25694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Tách thành yêu cầu ban đầu, lịch sử hội thoại, câu trả lời mong muốn của gia sư.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Giữ riêng trường Đáp án.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Gán task/rubric sau khi có đủ căn cứ và truy vết.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645920"/>
            <a:ext cx="2880360" cy="2331720"/>
          </a:xfrm>
          <a:prstGeom prst="roundRect">
            <a:avLst/>
          </a:prstGeom>
          <a:solidFill>
            <a:srgbClr val="EAFAF3"/>
          </a:solidFill>
          <a:ln>
            <a:solidFill>
              <a:srgbClr val="C7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1764792"/>
            <a:ext cx="2551176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4F8A"/>
                </a:solidFill>
                <a:latin typeface="Aptos"/>
              </a:rPr>
              <a:t>3. Đánh giá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2084832"/>
            <a:ext cx="25694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Kiểm tra benchmark có phân biệt được gia sư tốt, trung bình, kém không.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Bổ sung trục dạng câu hỏi/bài tập nếu được chốt.</a:t>
            </a:r>
          </a:p>
          <a:p>
            <a:pPr>
              <a:spcAft>
                <a:spcPts val="300"/>
              </a:spcAft>
              <a:defRPr sz="1050">
                <a:solidFill>
                  <a:srgbClr val="162B45"/>
                </a:solidFill>
                <a:latin typeface="Aptos"/>
              </a:defRPr>
            </a:pPr>
            <a:r>
              <a:t>Mở rộng học liệu thành hệ thống truy xuất ổn định hơn.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4F8A"/>
                </a:solidFill>
                <a:latin typeface="Aptos"/>
              </a:rPr>
              <a:t>Kết luận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73168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162B45"/>
                </a:solidFill>
                <a:latin typeface="Aptos"/>
              </a:rPr>
              <a:t>Đến hiện tại, nhóm đã có một pipeline V0 tương đối đầy đủ: dữ liệu thô → học liệu truy xuất → checklist → code audit → agent audit → gói kết quả review. Bước quan trọng tiếp theo là dùng gói review này để chỉnh dữ liệu và chuyển thành mẫu benchmark hoàn chỉnh.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