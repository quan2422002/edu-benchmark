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13232" y="987552"/>
            <a:ext cx="8412480" cy="841248"/>
          </a:xfrm>
          <a:prstGeom prst="rect">
            <a:avLst/>
          </a:prstGeom>
          <a:noFill/>
        </p:spPr>
        <p:txBody>
          <a:bodyPr wrap="square" lIns="45720" rIns="45720" tIns="27432" bIns="27432" anchor="t">
            <a:spAutoFit/>
          </a:bodyPr>
          <a:lstStyle/>
          <a:p>
            <a:pPr algn="l">
              <a:lnSpc>
                <a:spcPct val="105000"/>
              </a:lnSpc>
            </a:pPr>
            <a:r>
              <a:rPr sz="3000" b="1">
                <a:solidFill>
                  <a:srgbClr val="0B4F8A"/>
                </a:solidFill>
                <a:latin typeface="Aptos Display"/>
              </a:rPr>
              <a:t>Từ dữ liệu thô HNMU đến dữ liệu đã kiểm toán V0</a:t>
            </a:r>
          </a:p>
        </p:txBody>
      </p:sp>
      <p:sp>
        <p:nvSpPr>
          <p:cNvPr id="4" name="TextBox 3"/>
          <p:cNvSpPr txBox="1"/>
          <p:nvPr/>
        </p:nvSpPr>
        <p:spPr>
          <a:xfrm>
            <a:off x="749808" y="1874519"/>
            <a:ext cx="7772400" cy="731520"/>
          </a:xfrm>
          <a:prstGeom prst="rect">
            <a:avLst/>
          </a:prstGeom>
          <a:noFill/>
        </p:spPr>
        <p:txBody>
          <a:bodyPr wrap="square" lIns="45720" rIns="45720" tIns="27432" bIns="27432" anchor="t">
            <a:spAutoFit/>
          </a:bodyPr>
          <a:lstStyle/>
          <a:p>
            <a:pPr algn="l">
              <a:lnSpc>
                <a:spcPct val="105000"/>
              </a:lnSpc>
            </a:pPr>
            <a:r>
              <a:rPr sz="1450" b="0">
                <a:solidFill>
                  <a:srgbClr val="162B45"/>
                </a:solidFill>
                <a:latin typeface="Aptos"/>
              </a:rPr>
              <a:t>Tổng hợp công việc từ lúc nhận dữ liệu thô đến kiểm định lớp 6–9
Giai đoạn: nghiên cứu nền tảng → học liệu truy xuất → checklist → kiểm toán dữ liệu</a:t>
            </a:r>
          </a:p>
        </p:txBody>
      </p:sp>
      <p:sp>
        <p:nvSpPr>
          <p:cNvPr id="5" name="Rounded Rectangle 4"/>
          <p:cNvSpPr/>
          <p:nvPr/>
        </p:nvSpPr>
        <p:spPr>
          <a:xfrm>
            <a:off x="749808" y="2880360"/>
            <a:ext cx="1874519" cy="384048"/>
          </a:xfrm>
          <a:prstGeom prst="round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916936"/>
            <a:ext cx="1783079" cy="310896"/>
          </a:xfrm>
          <a:prstGeom prst="rect">
            <a:avLst/>
          </a:prstGeom>
          <a:noFill/>
        </p:spPr>
        <p:txBody>
          <a:bodyPr wrap="square" lIns="45720" rIns="45720" tIns="27432" bIns="27432" anchor="ctr">
            <a:spAutoFit/>
          </a:bodyPr>
          <a:lstStyle/>
          <a:p>
            <a:pPr algn="ctr">
              <a:lnSpc>
                <a:spcPct val="105000"/>
              </a:lnSpc>
            </a:pPr>
            <a:r>
              <a:rPr sz="1100" b="1">
                <a:solidFill>
                  <a:srgbClr val="FFFFFF"/>
                </a:solidFill>
                <a:latin typeface="Aptos"/>
              </a:rPr>
              <a:t>Cập nhật 20/07/2026</a:t>
            </a:r>
          </a:p>
        </p:txBody>
      </p:sp>
      <p:sp>
        <p:nvSpPr>
          <p:cNvPr id="7" name="Rounded Rectangle 6"/>
          <p:cNvSpPr/>
          <p:nvPr/>
        </p:nvSpPr>
        <p:spPr>
          <a:xfrm>
            <a:off x="2788920" y="2880360"/>
            <a:ext cx="2606040" cy="384048"/>
          </a:xfrm>
          <a:prstGeom prst="round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39" y="2916936"/>
            <a:ext cx="2514600" cy="310896"/>
          </a:xfrm>
          <a:prstGeom prst="rect">
            <a:avLst/>
          </a:prstGeom>
          <a:noFill/>
        </p:spPr>
        <p:txBody>
          <a:bodyPr wrap="square" lIns="45720" rIns="45720" tIns="27432" bIns="27432" anchor="ctr">
            <a:spAutoFit/>
          </a:bodyPr>
          <a:lstStyle/>
          <a:p>
            <a:pPr algn="ctr">
              <a:lnSpc>
                <a:spcPct val="105000"/>
              </a:lnSpc>
            </a:pPr>
            <a:r>
              <a:rPr sz="1100" b="1">
                <a:solidFill>
                  <a:srgbClr val="FFFFFF"/>
                </a:solidFill>
                <a:latin typeface="Aptos"/>
              </a:rPr>
              <a:t>Phục vụ trao đổi UET–HNMU</a:t>
            </a:r>
          </a:p>
        </p:txBody>
      </p:sp>
      <p:sp>
        <p:nvSpPr>
          <p:cNvPr id="9" name="TextBox 8"/>
          <p:cNvSpPr txBox="1"/>
          <p:nvPr/>
        </p:nvSpPr>
        <p:spPr>
          <a:xfrm>
            <a:off x="749808" y="3703320"/>
            <a:ext cx="8412480" cy="822960"/>
          </a:xfrm>
          <a:prstGeom prst="rect">
            <a:avLst/>
          </a:prstGeom>
          <a:noFill/>
        </p:spPr>
        <p:txBody>
          <a:bodyPr wrap="square" lIns="45720" rIns="45720" tIns="27432" bIns="27432" anchor="t">
            <a:spAutoFit/>
          </a:bodyPr>
          <a:lstStyle/>
          <a:p>
            <a:pPr algn="l">
              <a:lnSpc>
                <a:spcPct val="105000"/>
              </a:lnSpc>
            </a:pPr>
            <a:r>
              <a:rPr sz="1500" b="0">
                <a:solidFill>
                  <a:srgbClr val="162B45"/>
                </a:solidFill>
                <a:latin typeface="Aptos"/>
              </a:rPr>
              <a:t>Trọng tâm: dữ liệu thô do giáo viên HNMU xây dựng đã được tổ chức, gắn học liệu SGK/SGV, kiểm tra bằng code và kiểm toán ngữ nghĩa/sư phạm bằng agent theo checklist.</a:t>
            </a:r>
          </a:p>
        </p:txBody>
      </p:sp>
      <p:sp>
        <p:nvSpPr>
          <p:cNvPr id="10" name="TextBox 9"/>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1. Tóm tắt nhanh kết quả đã đạt</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Từ dữ liệu thô HNMU tới gói kết quả audit có thể review và truy vết</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783080"/>
            <a:ext cx="2148840" cy="1143000"/>
          </a:xfrm>
          <a:prstGeom prst="roundRect">
            <a:avLst/>
          </a:prstGeom>
          <a:solidFill>
            <a:srgbClr val="E9F6FE"/>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7"/>
            <a:ext cx="1874520"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Dữ liệu thô</a:t>
            </a:r>
          </a:p>
        </p:txBody>
      </p:sp>
      <p:sp>
        <p:nvSpPr>
          <p:cNvPr id="8" name="TextBox 7"/>
          <p:cNvSpPr txBox="1"/>
          <p:nvPr/>
        </p:nvSpPr>
        <p:spPr>
          <a:xfrm>
            <a:off x="822960" y="2194560"/>
            <a:ext cx="1874520"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4 file Excel lớp 6–9
1.050 mẫu hội thoại đã chuẩn hóa thành bảng dẫn xuất</a:t>
            </a:r>
          </a:p>
        </p:txBody>
      </p:sp>
      <p:sp>
        <p:nvSpPr>
          <p:cNvPr id="9" name="Rounded Rectangle 8"/>
          <p:cNvSpPr/>
          <p:nvPr/>
        </p:nvSpPr>
        <p:spPr>
          <a:xfrm>
            <a:off x="3063240" y="1783080"/>
            <a:ext cx="2148840" cy="1143000"/>
          </a:xfrm>
          <a:prstGeom prst="roundRect">
            <a:avLst/>
          </a:prstGeom>
          <a:solidFill>
            <a:srgbClr val="EAFAF3"/>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892807"/>
            <a:ext cx="1874520"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Học liệu</a:t>
            </a:r>
          </a:p>
        </p:txBody>
      </p:sp>
      <p:sp>
        <p:nvSpPr>
          <p:cNvPr id="11" name="TextBox 10"/>
          <p:cNvSpPr txBox="1"/>
          <p:nvPr/>
        </p:nvSpPr>
        <p:spPr>
          <a:xfrm>
            <a:off x="3200400" y="2194560"/>
            <a:ext cx="1874520"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SGK/SGV Tin học 6–9
154 đơn vị OCR Markdown
2.750 fragment truy xuất</a:t>
            </a:r>
          </a:p>
        </p:txBody>
      </p:sp>
      <p:sp>
        <p:nvSpPr>
          <p:cNvPr id="12" name="Rounded Rectangle 11"/>
          <p:cNvSpPr/>
          <p:nvPr/>
        </p:nvSpPr>
        <p:spPr>
          <a:xfrm>
            <a:off x="5440680" y="1783080"/>
            <a:ext cx="2148840" cy="1143000"/>
          </a:xfrm>
          <a:prstGeom prst="roundRect">
            <a:avLst/>
          </a:prstGeom>
          <a:solidFill>
            <a:srgbClr val="F4F7FF"/>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1892807"/>
            <a:ext cx="1874520"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Công cụ</a:t>
            </a:r>
          </a:p>
        </p:txBody>
      </p:sp>
      <p:sp>
        <p:nvSpPr>
          <p:cNvPr id="14" name="TextBox 13"/>
          <p:cNvSpPr txBox="1"/>
          <p:nvPr/>
        </p:nvSpPr>
        <p:spPr>
          <a:xfrm>
            <a:off x="5577840" y="2194560"/>
            <a:ext cx="1874520"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SQLite full-text search
Hàm truy xuất fragment
Code thống kê và kiểm cơ học</a:t>
            </a:r>
          </a:p>
        </p:txBody>
      </p:sp>
      <p:sp>
        <p:nvSpPr>
          <p:cNvPr id="15" name="Rounded Rectangle 14"/>
          <p:cNvSpPr/>
          <p:nvPr/>
        </p:nvSpPr>
        <p:spPr>
          <a:xfrm>
            <a:off x="7818120" y="1783080"/>
            <a:ext cx="2148840" cy="1143000"/>
          </a:xfrm>
          <a:prstGeom prst="roundRect">
            <a:avLst/>
          </a:prstGeom>
          <a:solidFill>
            <a:srgbClr val="FFF6E8"/>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892807"/>
            <a:ext cx="1874520"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Kiểm định</a:t>
            </a:r>
          </a:p>
        </p:txBody>
      </p:sp>
      <p:sp>
        <p:nvSpPr>
          <p:cNvPr id="17" name="TextBox 16"/>
          <p:cNvSpPr txBox="1"/>
          <p:nvPr/>
        </p:nvSpPr>
        <p:spPr>
          <a:xfrm>
            <a:off x="7955280" y="2194560"/>
            <a:ext cx="1874520"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18 tiêu chí/mẫu
18.900 dòng checklist
385 mẫu cần HNMU/UET xem lại</a:t>
            </a:r>
          </a:p>
        </p:txBody>
      </p:sp>
      <p:graphicFrame>
        <p:nvGraphicFramePr>
          <p:cNvPr id="18" name="Table 17"/>
          <p:cNvGraphicFramePr>
            <a:graphicFrameLocks noGrp="1"/>
          </p:cNvGraphicFramePr>
          <p:nvPr/>
        </p:nvGraphicFramePr>
        <p:xfrm>
          <a:off x="1005840" y="3429000"/>
          <a:ext cx="8686800" cy="1325880"/>
        </p:xfrm>
        <a:graphic>
          <a:graphicData uri="http://schemas.openxmlformats.org/drawingml/2006/table">
            <a:tbl>
              <a:tblPr firstRow="1" bandRow="1">
                <a:tableStyleId>{5C22544A-7EE6-4342-B048-85BDC9FD1C3A}</a:tableStyleId>
              </a:tblPr>
              <a:tblGrid>
                <a:gridCol w="1737360"/>
                <a:gridCol w="1737360"/>
                <a:gridCol w="1737360"/>
                <a:gridCol w="1737360"/>
                <a:gridCol w="1737360"/>
              </a:tblGrid>
              <a:tr h="331470">
                <a:tc>
                  <a:txBody>
                    <a:bodyPr/>
                    <a:lstStyle/>
                    <a:p>
                      <a:pPr algn="ctr"/>
                      <a:r>
                        <a:rPr sz="1200" b="1">
                          <a:solidFill>
                            <a:srgbClr val="FFFFFF"/>
                          </a:solidFill>
                          <a:latin typeface="Aptos"/>
                        </a:rPr>
                        <a:t>Nhóm lớp</a:t>
                      </a:r>
                    </a:p>
                  </a:txBody>
                  <a:tcPr>
                    <a:solidFill>
                      <a:srgbClr val="0B4F8A"/>
                    </a:solidFill>
                  </a:tcPr>
                </a:tc>
                <a:tc>
                  <a:txBody>
                    <a:bodyPr/>
                    <a:lstStyle/>
                    <a:p>
                      <a:pPr algn="ctr"/>
                      <a:r>
                        <a:rPr sz="1200" b="1">
                          <a:solidFill>
                            <a:srgbClr val="FFFFFF"/>
                          </a:solidFill>
                          <a:latin typeface="Aptos"/>
                        </a:rPr>
                        <a:t>Số mẫu</a:t>
                      </a:r>
                    </a:p>
                  </a:txBody>
                  <a:tcPr>
                    <a:solidFill>
                      <a:srgbClr val="0B4F8A"/>
                    </a:solidFill>
                  </a:tcPr>
                </a:tc>
                <a:tc>
                  <a:txBody>
                    <a:bodyPr/>
                    <a:lstStyle/>
                    <a:p>
                      <a:pPr algn="ctr"/>
                      <a:r>
                        <a:rPr sz="1200" b="1">
                          <a:solidFill>
                            <a:srgbClr val="FFFFFF"/>
                          </a:solidFill>
                          <a:latin typeface="Aptos"/>
                        </a:rPr>
                        <a:t>Đạt sơ bộ</a:t>
                      </a:r>
                    </a:p>
                  </a:txBody>
                  <a:tcPr>
                    <a:solidFill>
                      <a:srgbClr val="0B4F8A"/>
                    </a:solidFill>
                  </a:tcPr>
                </a:tc>
                <a:tc>
                  <a:txBody>
                    <a:bodyPr/>
                    <a:lstStyle/>
                    <a:p>
                      <a:pPr algn="ctr"/>
                      <a:r>
                        <a:rPr sz="1200" b="1">
                          <a:solidFill>
                            <a:srgbClr val="FFFFFF"/>
                          </a:solidFill>
                          <a:latin typeface="Aptos"/>
                        </a:rPr>
                        <a:t>Cần xem lại</a:t>
                      </a:r>
                    </a:p>
                  </a:txBody>
                  <a:tcPr>
                    <a:solidFill>
                      <a:srgbClr val="0B4F8A"/>
                    </a:solidFill>
                  </a:tcPr>
                </a:tc>
                <a:tc>
                  <a:txBody>
                    <a:bodyPr/>
                    <a:lstStyle/>
                    <a:p>
                      <a:pPr algn="ctr"/>
                      <a:r>
                        <a:rPr sz="1200" b="1">
                          <a:solidFill>
                            <a:srgbClr val="FFFFFF"/>
                          </a:solidFill>
                          <a:latin typeface="Aptos"/>
                        </a:rPr>
                        <a:t>Không đạt</a:t>
                      </a:r>
                    </a:p>
                  </a:txBody>
                  <a:tcPr>
                    <a:solidFill>
                      <a:srgbClr val="0B4F8A"/>
                    </a:solidFill>
                  </a:tcPr>
                </a:tc>
              </a:tr>
              <a:tr h="331470">
                <a:tc>
                  <a:txBody>
                    <a:bodyPr/>
                    <a:lstStyle/>
                    <a:p>
                      <a:pPr algn="l"/>
                      <a:r>
                        <a:rPr sz="1200">
                          <a:solidFill>
                            <a:srgbClr val="162B45"/>
                          </a:solidFill>
                          <a:latin typeface="Aptos"/>
                        </a:rPr>
                        <a:t>Lớp 6–7</a:t>
                      </a:r>
                    </a:p>
                  </a:txBody>
                  <a:tcPr>
                    <a:solidFill>
                      <a:srgbClr val="FFFFFF"/>
                    </a:solidFill>
                  </a:tcPr>
                </a:tc>
                <a:tc>
                  <a:txBody>
                    <a:bodyPr/>
                    <a:lstStyle/>
                    <a:p>
                      <a:pPr algn="ctr"/>
                      <a:r>
                        <a:rPr sz="1200">
                          <a:solidFill>
                            <a:srgbClr val="162B45"/>
                          </a:solidFill>
                          <a:latin typeface="Aptos"/>
                        </a:rPr>
                        <a:t>462</a:t>
                      </a:r>
                    </a:p>
                  </a:txBody>
                  <a:tcPr>
                    <a:solidFill>
                      <a:srgbClr val="FFFFFF"/>
                    </a:solidFill>
                  </a:tcPr>
                </a:tc>
                <a:tc>
                  <a:txBody>
                    <a:bodyPr/>
                    <a:lstStyle/>
                    <a:p>
                      <a:pPr algn="ctr"/>
                      <a:r>
                        <a:rPr sz="1200">
                          <a:solidFill>
                            <a:srgbClr val="162B45"/>
                          </a:solidFill>
                          <a:latin typeface="Aptos"/>
                        </a:rPr>
                        <a:t>238</a:t>
                      </a:r>
                    </a:p>
                  </a:txBody>
                  <a:tcPr>
                    <a:solidFill>
                      <a:srgbClr val="FFFFFF"/>
                    </a:solidFill>
                  </a:tcPr>
                </a:tc>
                <a:tc>
                  <a:txBody>
                    <a:bodyPr/>
                    <a:lstStyle/>
                    <a:p>
                      <a:pPr algn="ctr"/>
                      <a:r>
                        <a:rPr sz="1200">
                          <a:solidFill>
                            <a:srgbClr val="162B45"/>
                          </a:solidFill>
                          <a:latin typeface="Aptos"/>
                        </a:rPr>
                        <a:t>222</a:t>
                      </a:r>
                    </a:p>
                  </a:txBody>
                  <a:tcPr>
                    <a:solidFill>
                      <a:srgbClr val="FFFFFF"/>
                    </a:solidFill>
                  </a:tcPr>
                </a:tc>
                <a:tc>
                  <a:txBody>
                    <a:bodyPr/>
                    <a:lstStyle/>
                    <a:p>
                      <a:pPr algn="ctr"/>
                      <a:r>
                        <a:rPr sz="1200">
                          <a:solidFill>
                            <a:srgbClr val="162B45"/>
                          </a:solidFill>
                          <a:latin typeface="Aptos"/>
                        </a:rPr>
                        <a:t>2</a:t>
                      </a:r>
                    </a:p>
                  </a:txBody>
                  <a:tcPr>
                    <a:solidFill>
                      <a:srgbClr val="FFFFFF"/>
                    </a:solidFill>
                  </a:tcPr>
                </a:tc>
              </a:tr>
              <a:tr h="331470">
                <a:tc>
                  <a:txBody>
                    <a:bodyPr/>
                    <a:lstStyle/>
                    <a:p>
                      <a:pPr algn="l"/>
                      <a:r>
                        <a:rPr sz="1200">
                          <a:solidFill>
                            <a:srgbClr val="162B45"/>
                          </a:solidFill>
                          <a:latin typeface="Aptos"/>
                        </a:rPr>
                        <a:t>Lớp 8–9</a:t>
                      </a:r>
                    </a:p>
                  </a:txBody>
                  <a:tcPr>
                    <a:solidFill>
                      <a:srgbClr val="F4F8FB"/>
                    </a:solidFill>
                  </a:tcPr>
                </a:tc>
                <a:tc>
                  <a:txBody>
                    <a:bodyPr/>
                    <a:lstStyle/>
                    <a:p>
                      <a:pPr algn="ctr"/>
                      <a:r>
                        <a:rPr sz="1200">
                          <a:solidFill>
                            <a:srgbClr val="162B45"/>
                          </a:solidFill>
                          <a:latin typeface="Aptos"/>
                        </a:rPr>
                        <a:t>588</a:t>
                      </a:r>
                    </a:p>
                  </a:txBody>
                  <a:tcPr>
                    <a:solidFill>
                      <a:srgbClr val="F4F8FB"/>
                    </a:solidFill>
                  </a:tcPr>
                </a:tc>
                <a:tc>
                  <a:txBody>
                    <a:bodyPr/>
                    <a:lstStyle/>
                    <a:p>
                      <a:pPr algn="ctr"/>
                      <a:r>
                        <a:rPr sz="1200">
                          <a:solidFill>
                            <a:srgbClr val="162B45"/>
                          </a:solidFill>
                          <a:latin typeface="Aptos"/>
                        </a:rPr>
                        <a:t>427</a:t>
                      </a:r>
                    </a:p>
                  </a:txBody>
                  <a:tcPr>
                    <a:solidFill>
                      <a:srgbClr val="F4F8FB"/>
                    </a:solidFill>
                  </a:tcPr>
                </a:tc>
                <a:tc>
                  <a:txBody>
                    <a:bodyPr/>
                    <a:lstStyle/>
                    <a:p>
                      <a:pPr algn="ctr"/>
                      <a:r>
                        <a:rPr sz="1200">
                          <a:solidFill>
                            <a:srgbClr val="162B45"/>
                          </a:solidFill>
                          <a:latin typeface="Aptos"/>
                        </a:rPr>
                        <a:t>160</a:t>
                      </a:r>
                    </a:p>
                  </a:txBody>
                  <a:tcPr>
                    <a:solidFill>
                      <a:srgbClr val="F4F8FB"/>
                    </a:solidFill>
                  </a:tcPr>
                </a:tc>
                <a:tc>
                  <a:txBody>
                    <a:bodyPr/>
                    <a:lstStyle/>
                    <a:p>
                      <a:pPr algn="ctr"/>
                      <a:r>
                        <a:rPr sz="1200">
                          <a:solidFill>
                            <a:srgbClr val="162B45"/>
                          </a:solidFill>
                          <a:latin typeface="Aptos"/>
                        </a:rPr>
                        <a:t>1</a:t>
                      </a:r>
                    </a:p>
                  </a:txBody>
                  <a:tcPr>
                    <a:solidFill>
                      <a:srgbClr val="F4F8FB"/>
                    </a:solidFill>
                  </a:tcPr>
                </a:tc>
              </a:tr>
              <a:tr h="331470">
                <a:tc>
                  <a:txBody>
                    <a:bodyPr/>
                    <a:lstStyle/>
                    <a:p>
                      <a:pPr algn="l"/>
                      <a:r>
                        <a:rPr sz="1200">
                          <a:solidFill>
                            <a:srgbClr val="162B45"/>
                          </a:solidFill>
                          <a:latin typeface="Aptos"/>
                        </a:rPr>
                        <a:t>Tổng</a:t>
                      </a:r>
                    </a:p>
                  </a:txBody>
                  <a:tcPr>
                    <a:solidFill>
                      <a:srgbClr val="FFFFFF"/>
                    </a:solidFill>
                  </a:tcPr>
                </a:tc>
                <a:tc>
                  <a:txBody>
                    <a:bodyPr/>
                    <a:lstStyle/>
                    <a:p>
                      <a:pPr algn="ctr"/>
                      <a:r>
                        <a:rPr sz="1200">
                          <a:solidFill>
                            <a:srgbClr val="162B45"/>
                          </a:solidFill>
                          <a:latin typeface="Aptos"/>
                        </a:rPr>
                        <a:t>1.050</a:t>
                      </a:r>
                    </a:p>
                  </a:txBody>
                  <a:tcPr>
                    <a:solidFill>
                      <a:srgbClr val="FFFFFF"/>
                    </a:solidFill>
                  </a:tcPr>
                </a:tc>
                <a:tc>
                  <a:txBody>
                    <a:bodyPr/>
                    <a:lstStyle/>
                    <a:p>
                      <a:pPr algn="ctr"/>
                      <a:r>
                        <a:rPr sz="1200">
                          <a:solidFill>
                            <a:srgbClr val="162B45"/>
                          </a:solidFill>
                          <a:latin typeface="Aptos"/>
                        </a:rPr>
                        <a:t>665</a:t>
                      </a:r>
                    </a:p>
                  </a:txBody>
                  <a:tcPr>
                    <a:solidFill>
                      <a:srgbClr val="FFFFFF"/>
                    </a:solidFill>
                  </a:tcPr>
                </a:tc>
                <a:tc>
                  <a:txBody>
                    <a:bodyPr/>
                    <a:lstStyle/>
                    <a:p>
                      <a:pPr algn="ctr"/>
                      <a:r>
                        <a:rPr sz="1200">
                          <a:solidFill>
                            <a:srgbClr val="162B45"/>
                          </a:solidFill>
                          <a:latin typeface="Aptos"/>
                        </a:rPr>
                        <a:t>382</a:t>
                      </a:r>
                    </a:p>
                  </a:txBody>
                  <a:tcPr>
                    <a:solidFill>
                      <a:srgbClr val="FFFFFF"/>
                    </a:solidFill>
                  </a:tcPr>
                </a:tc>
                <a:tc>
                  <a:txBody>
                    <a:bodyPr/>
                    <a:lstStyle/>
                    <a:p>
                      <a:pPr algn="ctr"/>
                      <a:r>
                        <a:rPr sz="1200">
                          <a:solidFill>
                            <a:srgbClr val="162B45"/>
                          </a:solidFill>
                          <a:latin typeface="Aptos"/>
                        </a:rPr>
                        <a:t>3</a:t>
                      </a:r>
                    </a:p>
                  </a:txBody>
                  <a:tcPr>
                    <a:solidFill>
                      <a:srgbClr val="FFFFFF"/>
                    </a:solidFill>
                  </a:tcPr>
                </a:tc>
              </a:tr>
            </a:tbl>
          </a:graphicData>
        </a:graphic>
      </p:graphicFrame>
      <p:sp>
        <p:nvSpPr>
          <p:cNvPr id="19" name="TextBox 18"/>
          <p:cNvSpPr txBox="1"/>
          <p:nvPr/>
        </p:nvSpPr>
        <p:spPr>
          <a:xfrm>
            <a:off x="960120" y="5074920"/>
            <a:ext cx="9235440" cy="502920"/>
          </a:xfrm>
          <a:prstGeom prst="rect">
            <a:avLst/>
          </a:prstGeom>
          <a:noFill/>
        </p:spPr>
        <p:txBody>
          <a:bodyPr wrap="square" lIns="45720" rIns="45720" tIns="27432" bIns="27432" anchor="t">
            <a:spAutoFit/>
          </a:bodyPr>
          <a:lstStyle/>
          <a:p>
            <a:pPr algn="l">
              <a:lnSpc>
                <a:spcPct val="105000"/>
              </a:lnSpc>
            </a:pPr>
            <a:r>
              <a:rPr sz="1200" b="0">
                <a:solidFill>
                  <a:srgbClr val="6B7280"/>
                </a:solidFill>
                <a:latin typeface="Aptos"/>
              </a:rPr>
              <a:t>Lưu ý: “Đạt sơ bộ” không có nghĩa là đã thành mẫu benchmark cuối cùng. Đây là kết quả kiểm toán V0 để ưu tiên review và chuẩn bị chuyển đổi.</a:t>
            </a:r>
          </a:p>
        </p:txBody>
      </p:sp>
      <p:sp>
        <p:nvSpPr>
          <p:cNvPr id="20" name="TextBox 19"/>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anchor="t" lIns="45720" rIns="45720" tIns="18288" bIns="18288">
            <a:spAutoFit/>
          </a:bodyPr>
          <a:lstStyle/>
          <a:p>
            <a:pPr algn="l"/>
            <a:r>
              <a:rPr sz="2600" b="1">
                <a:solidFill>
                  <a:srgbClr val="0B4F8A"/>
                </a:solidFill>
                <a:latin typeface="Aptos Display"/>
              </a:rPr>
              <a:t>2. Flow tổng thể đã xây dựng</a:t>
            </a:r>
          </a:p>
        </p:txBody>
      </p:sp>
      <p:sp>
        <p:nvSpPr>
          <p:cNvPr id="4" name="TextBox 3"/>
          <p:cNvSpPr txBox="1"/>
          <p:nvPr/>
        </p:nvSpPr>
        <p:spPr>
          <a:xfrm>
            <a:off x="713232" y="1033271"/>
            <a:ext cx="8595360" cy="320040"/>
          </a:xfrm>
          <a:prstGeom prst="rect">
            <a:avLst/>
          </a:prstGeom>
          <a:noFill/>
        </p:spPr>
        <p:txBody>
          <a:bodyPr wrap="square" anchor="t" lIns="45720" rIns="45720" tIns="18288" bIns="18288">
            <a:spAutoFit/>
          </a:bodyPr>
          <a:lstStyle/>
          <a:p>
            <a:pPr algn="l"/>
            <a:r>
              <a:rPr sz="1150" b="0">
                <a:solidFill>
                  <a:srgbClr val="6B7280"/>
                </a:solidFill>
                <a:latin typeface="Aptos"/>
              </a:rPr>
              <a:t>Dòng chảy từ dữ liệu giáo viên gửi tới gói kết quả có thể review</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783080"/>
            <a:ext cx="1965960" cy="841248"/>
          </a:xfrm>
          <a:prstGeom prst="roundRect">
            <a:avLst/>
          </a:prstGeom>
          <a:solidFill>
            <a:srgbClr val="E9F6FE"/>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874519"/>
            <a:ext cx="1746504" cy="228600"/>
          </a:xfrm>
          <a:prstGeom prst="rect">
            <a:avLst/>
          </a:prstGeom>
          <a:noFill/>
        </p:spPr>
        <p:txBody>
          <a:bodyPr wrap="square" anchor="t" lIns="45720" rIns="45720" tIns="18288" bIns="18288">
            <a:spAutoFit/>
          </a:bodyPr>
          <a:lstStyle/>
          <a:p>
            <a:pPr algn="l"/>
            <a:r>
              <a:rPr sz="1200" b="1">
                <a:solidFill>
                  <a:srgbClr val="0B4F8A"/>
                </a:solidFill>
                <a:latin typeface="Aptos"/>
              </a:rPr>
              <a:t>1. Nhận dữ liệu</a:t>
            </a:r>
          </a:p>
        </p:txBody>
      </p:sp>
      <p:sp>
        <p:nvSpPr>
          <p:cNvPr id="8" name="TextBox 7"/>
          <p:cNvSpPr txBox="1"/>
          <p:nvPr/>
        </p:nvSpPr>
        <p:spPr>
          <a:xfrm>
            <a:off x="886968" y="2148840"/>
            <a:ext cx="1746504" cy="429768"/>
          </a:xfrm>
          <a:prstGeom prst="rect">
            <a:avLst/>
          </a:prstGeom>
          <a:noFill/>
        </p:spPr>
        <p:txBody>
          <a:bodyPr wrap="square" anchor="t" lIns="45720" rIns="45720" tIns="18288" bIns="18288">
            <a:spAutoFit/>
          </a:bodyPr>
          <a:lstStyle/>
          <a:p>
            <a:pPr algn="l"/>
            <a:r>
              <a:rPr sz="919" b="0">
                <a:solidFill>
                  <a:srgbClr val="162B45"/>
                </a:solidFill>
                <a:latin typeface="Aptos"/>
              </a:rPr>
              <a:t>Excel hội thoại
lớp 6–9</a:t>
            </a:r>
          </a:p>
        </p:txBody>
      </p:sp>
      <p:cxnSp>
        <p:nvCxnSpPr>
          <p:cNvPr id="9" name="Connector 8"/>
          <p:cNvCxnSpPr/>
          <p:nvPr/>
        </p:nvCxnSpPr>
        <p:spPr>
          <a:xfrm>
            <a:off x="2743200" y="2203704"/>
            <a:ext cx="338328" cy="0"/>
          </a:xfrm>
          <a:prstGeom prst="line">
            <a:avLst/>
          </a:prstGeom>
          <a:ln w="26670">
            <a:solidFill>
              <a:srgbClr val="00A7C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154680" y="1783080"/>
            <a:ext cx="1965960" cy="841248"/>
          </a:xfrm>
          <a:prstGeom prst="roundRect">
            <a:avLst/>
          </a:prstGeom>
          <a:solidFill>
            <a:srgbClr val="E9F6FE"/>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874519"/>
            <a:ext cx="1746504" cy="228600"/>
          </a:xfrm>
          <a:prstGeom prst="rect">
            <a:avLst/>
          </a:prstGeom>
          <a:noFill/>
        </p:spPr>
        <p:txBody>
          <a:bodyPr wrap="square" anchor="t" lIns="45720" rIns="45720" tIns="18288" bIns="18288">
            <a:spAutoFit/>
          </a:bodyPr>
          <a:lstStyle/>
          <a:p>
            <a:pPr algn="l"/>
            <a:r>
              <a:rPr sz="1200" b="1">
                <a:solidFill>
                  <a:srgbClr val="0B4F8A"/>
                </a:solidFill>
                <a:latin typeface="Aptos"/>
              </a:rPr>
              <a:t>2. Chuẩn hóa</a:t>
            </a:r>
          </a:p>
        </p:txBody>
      </p:sp>
      <p:sp>
        <p:nvSpPr>
          <p:cNvPr id="12" name="TextBox 11"/>
          <p:cNvSpPr txBox="1"/>
          <p:nvPr/>
        </p:nvSpPr>
        <p:spPr>
          <a:xfrm>
            <a:off x="3264408" y="2148840"/>
            <a:ext cx="1746504" cy="429768"/>
          </a:xfrm>
          <a:prstGeom prst="rect">
            <a:avLst/>
          </a:prstGeom>
          <a:noFill/>
        </p:spPr>
        <p:txBody>
          <a:bodyPr wrap="square" anchor="t" lIns="45720" rIns="45720" tIns="18288" bIns="18288">
            <a:spAutoFit/>
          </a:bodyPr>
          <a:lstStyle/>
          <a:p>
            <a:pPr algn="l"/>
            <a:r>
              <a:rPr sz="919" b="0">
                <a:solidFill>
                  <a:srgbClr val="162B45"/>
                </a:solidFill>
                <a:latin typeface="Aptos"/>
              </a:rPr>
              <a:t>Bảng dẫn xuất
có truy vết</a:t>
            </a:r>
          </a:p>
        </p:txBody>
      </p:sp>
      <p:cxnSp>
        <p:nvCxnSpPr>
          <p:cNvPr id="13" name="Connector 12"/>
          <p:cNvCxnSpPr/>
          <p:nvPr/>
        </p:nvCxnSpPr>
        <p:spPr>
          <a:xfrm>
            <a:off x="5120640" y="2203704"/>
            <a:ext cx="338328" cy="0"/>
          </a:xfrm>
          <a:prstGeom prst="line">
            <a:avLst/>
          </a:prstGeom>
          <a:ln w="26670">
            <a:solidFill>
              <a:srgbClr val="00A7C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32120" y="1783080"/>
            <a:ext cx="1965960" cy="841248"/>
          </a:xfrm>
          <a:prstGeom prst="roundRect">
            <a:avLst/>
          </a:prstGeom>
          <a:solidFill>
            <a:srgbClr val="EAFAF3"/>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41848" y="1874519"/>
            <a:ext cx="1746504" cy="228600"/>
          </a:xfrm>
          <a:prstGeom prst="rect">
            <a:avLst/>
          </a:prstGeom>
          <a:noFill/>
        </p:spPr>
        <p:txBody>
          <a:bodyPr wrap="square" anchor="t" lIns="45720" rIns="45720" tIns="18288" bIns="18288">
            <a:spAutoFit/>
          </a:bodyPr>
          <a:lstStyle/>
          <a:p>
            <a:pPr algn="l"/>
            <a:r>
              <a:rPr sz="1200" b="1">
                <a:solidFill>
                  <a:srgbClr val="0B4F8A"/>
                </a:solidFill>
                <a:latin typeface="Aptos"/>
              </a:rPr>
              <a:t>3. Gắn học liệu</a:t>
            </a:r>
          </a:p>
        </p:txBody>
      </p:sp>
      <p:sp>
        <p:nvSpPr>
          <p:cNvPr id="16" name="TextBox 15"/>
          <p:cNvSpPr txBox="1"/>
          <p:nvPr/>
        </p:nvSpPr>
        <p:spPr>
          <a:xfrm>
            <a:off x="5641848" y="2148840"/>
            <a:ext cx="1746504" cy="429768"/>
          </a:xfrm>
          <a:prstGeom prst="rect">
            <a:avLst/>
          </a:prstGeom>
          <a:noFill/>
        </p:spPr>
        <p:txBody>
          <a:bodyPr wrap="square" anchor="t" lIns="45720" rIns="45720" tIns="18288" bIns="18288">
            <a:spAutoFit/>
          </a:bodyPr>
          <a:lstStyle/>
          <a:p>
            <a:pPr algn="l"/>
            <a:r>
              <a:rPr sz="919" b="0">
                <a:solidFill>
                  <a:srgbClr val="162B45"/>
                </a:solidFill>
                <a:latin typeface="Aptos"/>
              </a:rPr>
              <a:t>SGK/SGV → OCR
Markdown + fragment</a:t>
            </a:r>
          </a:p>
        </p:txBody>
      </p:sp>
      <p:cxnSp>
        <p:nvCxnSpPr>
          <p:cNvPr id="17" name="Connector 16"/>
          <p:cNvCxnSpPr/>
          <p:nvPr/>
        </p:nvCxnSpPr>
        <p:spPr>
          <a:xfrm>
            <a:off x="7498079" y="2203704"/>
            <a:ext cx="338329" cy="0"/>
          </a:xfrm>
          <a:prstGeom prst="line">
            <a:avLst/>
          </a:prstGeom>
          <a:ln w="26670">
            <a:solidFill>
              <a:srgbClr val="00A7C8"/>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909560" y="1783080"/>
            <a:ext cx="1965960" cy="841248"/>
          </a:xfrm>
          <a:prstGeom prst="roundRect">
            <a:avLst/>
          </a:prstGeom>
          <a:solidFill>
            <a:srgbClr val="EAFAF3"/>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19288" y="1874519"/>
            <a:ext cx="1746504" cy="228600"/>
          </a:xfrm>
          <a:prstGeom prst="rect">
            <a:avLst/>
          </a:prstGeom>
          <a:noFill/>
        </p:spPr>
        <p:txBody>
          <a:bodyPr wrap="square" anchor="t" lIns="45720" rIns="45720" tIns="18288" bIns="18288">
            <a:spAutoFit/>
          </a:bodyPr>
          <a:lstStyle/>
          <a:p>
            <a:pPr algn="l"/>
            <a:r>
              <a:rPr sz="1200" b="1">
                <a:solidFill>
                  <a:srgbClr val="0B4F8A"/>
                </a:solidFill>
                <a:latin typeface="Aptos"/>
              </a:rPr>
              <a:t>4. Tìm căn cứ</a:t>
            </a:r>
          </a:p>
        </p:txBody>
      </p:sp>
      <p:sp>
        <p:nvSpPr>
          <p:cNvPr id="20" name="TextBox 19"/>
          <p:cNvSpPr txBox="1"/>
          <p:nvPr/>
        </p:nvSpPr>
        <p:spPr>
          <a:xfrm>
            <a:off x="8019288" y="2148840"/>
            <a:ext cx="1746504" cy="429768"/>
          </a:xfrm>
          <a:prstGeom prst="rect">
            <a:avLst/>
          </a:prstGeom>
          <a:noFill/>
        </p:spPr>
        <p:txBody>
          <a:bodyPr wrap="square" anchor="t" lIns="45720" rIns="45720" tIns="18288" bIns="18288">
            <a:spAutoFit/>
          </a:bodyPr>
          <a:lstStyle/>
          <a:p>
            <a:pPr algn="l"/>
            <a:r>
              <a:rPr sz="919" b="0">
                <a:solidFill>
                  <a:srgbClr val="162B45"/>
                </a:solidFill>
                <a:latin typeface="Aptos"/>
              </a:rPr>
              <a:t>SQLite full-text
search theo từ khóa</a:t>
            </a:r>
          </a:p>
        </p:txBody>
      </p:sp>
      <p:cxnSp>
        <p:nvCxnSpPr>
          <p:cNvPr id="21" name="Connector 20"/>
          <p:cNvCxnSpPr/>
          <p:nvPr/>
        </p:nvCxnSpPr>
        <p:spPr>
          <a:xfrm flipH="1">
            <a:off x="7754112" y="2624328"/>
            <a:ext cx="1133856" cy="548640"/>
          </a:xfrm>
          <a:prstGeom prst="line">
            <a:avLst/>
          </a:prstGeom>
          <a:ln w="26670">
            <a:solidFill>
              <a:srgbClr val="00A7C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874519" y="3182112"/>
            <a:ext cx="2057400" cy="841248"/>
          </a:xfrm>
          <a:prstGeom prst="roundRect">
            <a:avLst/>
          </a:prstGeom>
          <a:solidFill>
            <a:srgbClr val="FFF6E8"/>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84248" y="3273552"/>
            <a:ext cx="1837943" cy="228600"/>
          </a:xfrm>
          <a:prstGeom prst="rect">
            <a:avLst/>
          </a:prstGeom>
          <a:noFill/>
        </p:spPr>
        <p:txBody>
          <a:bodyPr wrap="square" anchor="t" lIns="45720" rIns="45720" tIns="18288" bIns="18288">
            <a:spAutoFit/>
          </a:bodyPr>
          <a:lstStyle/>
          <a:p>
            <a:pPr algn="l"/>
            <a:r>
              <a:rPr sz="1200" b="1">
                <a:solidFill>
                  <a:srgbClr val="0B4F8A"/>
                </a:solidFill>
                <a:latin typeface="Aptos"/>
              </a:rPr>
              <a:t>5. Áp checklist</a:t>
            </a:r>
          </a:p>
        </p:txBody>
      </p:sp>
      <p:sp>
        <p:nvSpPr>
          <p:cNvPr id="24" name="TextBox 23"/>
          <p:cNvSpPr txBox="1"/>
          <p:nvPr/>
        </p:nvSpPr>
        <p:spPr>
          <a:xfrm>
            <a:off x="1984248" y="3547872"/>
            <a:ext cx="1837943" cy="429768"/>
          </a:xfrm>
          <a:prstGeom prst="rect">
            <a:avLst/>
          </a:prstGeom>
          <a:noFill/>
        </p:spPr>
        <p:txBody>
          <a:bodyPr wrap="square" anchor="t" lIns="45720" rIns="45720" tIns="18288" bIns="18288">
            <a:spAutoFit/>
          </a:bodyPr>
          <a:lstStyle/>
          <a:p>
            <a:pPr algn="l"/>
            <a:r>
              <a:rPr sz="919" b="0">
                <a:solidFill>
                  <a:srgbClr val="162B45"/>
                </a:solidFill>
                <a:latin typeface="Aptos"/>
              </a:rPr>
              <a:t>Độ phủ, cấu trúc,
nhất quán, dàn giáo</a:t>
            </a:r>
          </a:p>
        </p:txBody>
      </p:sp>
      <p:cxnSp>
        <p:nvCxnSpPr>
          <p:cNvPr id="25" name="Connector 24"/>
          <p:cNvCxnSpPr/>
          <p:nvPr/>
        </p:nvCxnSpPr>
        <p:spPr>
          <a:xfrm>
            <a:off x="3931920" y="3602736"/>
            <a:ext cx="338328" cy="0"/>
          </a:xfrm>
          <a:prstGeom prst="line">
            <a:avLst/>
          </a:prstGeom>
          <a:ln w="26670">
            <a:solidFill>
              <a:srgbClr val="00A7C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43400" y="3182112"/>
            <a:ext cx="2057400" cy="841248"/>
          </a:xfrm>
          <a:prstGeom prst="roundRect">
            <a:avLst/>
          </a:prstGeom>
          <a:solidFill>
            <a:srgbClr val="F4F7FF"/>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53128" y="3273552"/>
            <a:ext cx="1837943" cy="228600"/>
          </a:xfrm>
          <a:prstGeom prst="rect">
            <a:avLst/>
          </a:prstGeom>
          <a:noFill/>
        </p:spPr>
        <p:txBody>
          <a:bodyPr wrap="square" anchor="t" lIns="45720" rIns="45720" tIns="18288" bIns="18288">
            <a:spAutoFit/>
          </a:bodyPr>
          <a:lstStyle/>
          <a:p>
            <a:pPr algn="l"/>
            <a:r>
              <a:rPr sz="1200" b="1">
                <a:solidFill>
                  <a:srgbClr val="0B4F8A"/>
                </a:solidFill>
                <a:latin typeface="Aptos"/>
              </a:rPr>
              <a:t>6. Kiểm toán</a:t>
            </a:r>
          </a:p>
        </p:txBody>
      </p:sp>
      <p:sp>
        <p:nvSpPr>
          <p:cNvPr id="28" name="TextBox 27"/>
          <p:cNvSpPr txBox="1"/>
          <p:nvPr/>
        </p:nvSpPr>
        <p:spPr>
          <a:xfrm>
            <a:off x="4453128" y="3547872"/>
            <a:ext cx="1837943" cy="429768"/>
          </a:xfrm>
          <a:prstGeom prst="rect">
            <a:avLst/>
          </a:prstGeom>
          <a:noFill/>
        </p:spPr>
        <p:txBody>
          <a:bodyPr wrap="square" anchor="t" lIns="45720" rIns="45720" tIns="18288" bIns="18288">
            <a:spAutoFit/>
          </a:bodyPr>
          <a:lstStyle/>
          <a:p>
            <a:pPr algn="l"/>
            <a:r>
              <a:rPr sz="919" b="0">
                <a:solidFill>
                  <a:srgbClr val="162B45"/>
                </a:solidFill>
                <a:latin typeface="Aptos"/>
              </a:rPr>
              <a:t>Code kiểm cơ học
Agent kiểm nội dung</a:t>
            </a:r>
          </a:p>
        </p:txBody>
      </p:sp>
      <p:cxnSp>
        <p:nvCxnSpPr>
          <p:cNvPr id="29" name="Connector 28"/>
          <p:cNvCxnSpPr/>
          <p:nvPr/>
        </p:nvCxnSpPr>
        <p:spPr>
          <a:xfrm>
            <a:off x="6400800" y="3602736"/>
            <a:ext cx="338328" cy="0"/>
          </a:xfrm>
          <a:prstGeom prst="line">
            <a:avLst/>
          </a:prstGeom>
          <a:ln w="26670">
            <a:solidFill>
              <a:srgbClr val="00A7C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812280" y="3182112"/>
            <a:ext cx="2057400" cy="841248"/>
          </a:xfrm>
          <a:prstGeom prst="roundRect">
            <a:avLst/>
          </a:prstGeom>
          <a:solidFill>
            <a:srgbClr val="F3F8FB"/>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22008" y="3273552"/>
            <a:ext cx="1837943" cy="228600"/>
          </a:xfrm>
          <a:prstGeom prst="rect">
            <a:avLst/>
          </a:prstGeom>
          <a:noFill/>
        </p:spPr>
        <p:txBody>
          <a:bodyPr wrap="square" anchor="t" lIns="45720" rIns="45720" tIns="18288" bIns="18288">
            <a:spAutoFit/>
          </a:bodyPr>
          <a:lstStyle/>
          <a:p>
            <a:pPr algn="l"/>
            <a:r>
              <a:rPr sz="1200" b="1">
                <a:solidFill>
                  <a:srgbClr val="0B4F8A"/>
                </a:solidFill>
                <a:latin typeface="Aptos"/>
              </a:rPr>
              <a:t>7. Xuất kết quả</a:t>
            </a:r>
          </a:p>
        </p:txBody>
      </p:sp>
      <p:sp>
        <p:nvSpPr>
          <p:cNvPr id="32" name="TextBox 31"/>
          <p:cNvSpPr txBox="1"/>
          <p:nvPr/>
        </p:nvSpPr>
        <p:spPr>
          <a:xfrm>
            <a:off x="6922008" y="3547872"/>
            <a:ext cx="1837943" cy="429768"/>
          </a:xfrm>
          <a:prstGeom prst="rect">
            <a:avLst/>
          </a:prstGeom>
          <a:noFill/>
        </p:spPr>
        <p:txBody>
          <a:bodyPr wrap="square" anchor="t" lIns="45720" rIns="45720" tIns="18288" bIns="18288">
            <a:spAutoFit/>
          </a:bodyPr>
          <a:lstStyle/>
          <a:p>
            <a:pPr algn="l"/>
            <a:r>
              <a:rPr sz="919" b="0">
                <a:solidFill>
                  <a:srgbClr val="162B45"/>
                </a:solidFill>
                <a:latin typeface="Aptos"/>
              </a:rPr>
              <a:t>Đạt sơ bộ / review
/ không đạt</a:t>
            </a:r>
          </a:p>
        </p:txBody>
      </p:sp>
      <p:sp>
        <p:nvSpPr>
          <p:cNvPr id="33" name="TextBox 32"/>
          <p:cNvSpPr txBox="1"/>
          <p:nvPr/>
        </p:nvSpPr>
        <p:spPr>
          <a:xfrm>
            <a:off x="822960" y="4407408"/>
            <a:ext cx="1920240" cy="256032"/>
          </a:xfrm>
          <a:prstGeom prst="rect">
            <a:avLst/>
          </a:prstGeom>
          <a:noFill/>
        </p:spPr>
        <p:txBody>
          <a:bodyPr wrap="square" anchor="t" lIns="45720" rIns="45720" tIns="18288" bIns="18288">
            <a:spAutoFit/>
          </a:bodyPr>
          <a:lstStyle/>
          <a:p>
            <a:pPr algn="l"/>
            <a:r>
              <a:rPr sz="1500" b="1">
                <a:solidFill>
                  <a:srgbClr val="0B4F8A"/>
                </a:solidFill>
                <a:latin typeface="Aptos"/>
              </a:rPr>
              <a:t>Ý nghĩa của flow</a:t>
            </a:r>
          </a:p>
        </p:txBody>
      </p:sp>
      <p:sp>
        <p:nvSpPr>
          <p:cNvPr id="34" name="Rounded Rectangle 33"/>
          <p:cNvSpPr/>
          <p:nvPr/>
        </p:nvSpPr>
        <p:spPr>
          <a:xfrm>
            <a:off x="822960" y="4718304"/>
            <a:ext cx="4206240" cy="96012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 y="4864608"/>
            <a:ext cx="3886200" cy="731520"/>
          </a:xfrm>
          <a:prstGeom prst="rect">
            <a:avLst/>
          </a:prstGeom>
          <a:noFill/>
        </p:spPr>
        <p:txBody>
          <a:bodyPr wrap="square">
            <a:spAutoFit/>
          </a:bodyPr>
          <a:lstStyle/>
          <a:p>
            <a:pPr>
              <a:spcAft>
                <a:spcPts val="300"/>
              </a:spcAft>
              <a:defRPr sz="1050">
                <a:solidFill>
                  <a:srgbClr val="162B45"/>
                </a:solidFill>
                <a:latin typeface="Aptos"/>
              </a:defRPr>
            </a:pPr>
            <a:r>
              <a:t>Dữ liệu gốc không bị sửa; mọi xử lý đều tạo bản dẫn xuất có truy vết.</a:t>
            </a:r>
          </a:p>
          <a:p>
            <a:pPr>
              <a:spcAft>
                <a:spcPts val="300"/>
              </a:spcAft>
              <a:defRPr sz="1050">
                <a:solidFill>
                  <a:srgbClr val="162B45"/>
                </a:solidFill>
                <a:latin typeface="Aptos"/>
              </a:defRPr>
            </a:pPr>
            <a:r>
              <a:t>Kết luận của agent luôn phải dựa trên checklist và học liệu SGK/SGV khi có thể.</a:t>
            </a:r>
          </a:p>
        </p:txBody>
      </p:sp>
      <p:sp>
        <p:nvSpPr>
          <p:cNvPr id="36" name="Rounded Rectangle 35"/>
          <p:cNvSpPr/>
          <p:nvPr/>
        </p:nvSpPr>
        <p:spPr>
          <a:xfrm>
            <a:off x="5349240" y="4718304"/>
            <a:ext cx="4480560" cy="96012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0407" y="4864608"/>
            <a:ext cx="4160520" cy="731520"/>
          </a:xfrm>
          <a:prstGeom prst="rect">
            <a:avLst/>
          </a:prstGeom>
          <a:noFill/>
        </p:spPr>
        <p:txBody>
          <a:bodyPr wrap="square">
            <a:spAutoFit/>
          </a:bodyPr>
          <a:lstStyle/>
          <a:p>
            <a:pPr>
              <a:spcAft>
                <a:spcPts val="300"/>
              </a:spcAft>
              <a:defRPr sz="1050">
                <a:solidFill>
                  <a:srgbClr val="162B45"/>
                </a:solidFill>
                <a:latin typeface="Aptos"/>
              </a:defRPr>
            </a:pPr>
            <a:r>
              <a:t>Code xử lý phần đếm/thiếu/trùng; agent xử lý phần cần hiểu nội dung.</a:t>
            </a:r>
          </a:p>
          <a:p>
            <a:pPr>
              <a:spcAft>
                <a:spcPts val="300"/>
              </a:spcAft>
              <a:defRPr sz="1050">
                <a:solidFill>
                  <a:srgbClr val="162B45"/>
                </a:solidFill>
                <a:latin typeface="Aptos"/>
              </a:defRPr>
            </a:pPr>
            <a:r>
              <a:t>HNMU/UET là nơi xác nhận chuyên môn cuối cùng cho các mẫu cần review.</a:t>
            </a:r>
          </a:p>
        </p:txBody>
      </p:sp>
      <p:sp>
        <p:nvSpPr>
          <p:cNvPr id="38" name="TextBox 37"/>
          <p:cNvSpPr txBox="1"/>
          <p:nvPr/>
        </p:nvSpPr>
        <p:spPr>
          <a:xfrm>
            <a:off x="11155680" y="6446520"/>
            <a:ext cx="320040" cy="182880"/>
          </a:xfrm>
          <a:prstGeom prst="rect">
            <a:avLst/>
          </a:prstGeom>
          <a:noFill/>
        </p:spPr>
        <p:txBody>
          <a:bodyPr wrap="square" anchor="t" lIns="45720" rIns="45720" tIns="18288" bIns="18288">
            <a:spAutoFit/>
          </a:bodyPr>
          <a:lstStyle/>
          <a:p>
            <a:pPr algn="r"/>
            <a:r>
              <a:rPr sz="850" b="0">
                <a:solidFill>
                  <a:srgbClr val="FFFFFF"/>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3. Nền tảng kiểm định: dữ liệu phải được đánh giá trước khi dùng</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Tổng hợp từ các bài báo benchmark và điều chỉnh cho dữ liệu HNMU</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691640"/>
            <a:ext cx="3246120" cy="2423160"/>
          </a:xfrm>
          <a:prstGeom prst="roundRect">
            <a:avLst/>
          </a:prstGeom>
          <a:solidFill>
            <a:srgbClr val="F4F8FB"/>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291693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Nguồn tham khảo chính</a:t>
            </a:r>
          </a:p>
        </p:txBody>
      </p:sp>
      <p:sp>
        <p:nvSpPr>
          <p:cNvPr id="8" name="TextBox 7"/>
          <p:cNvSpPr txBox="1"/>
          <p:nvPr/>
        </p:nvSpPr>
        <p:spPr>
          <a:xfrm>
            <a:off x="978408" y="2130552"/>
            <a:ext cx="2935224" cy="1920239"/>
          </a:xfrm>
          <a:prstGeom prst="rect">
            <a:avLst/>
          </a:prstGeom>
          <a:noFill/>
        </p:spPr>
        <p:txBody>
          <a:bodyPr wrap="square">
            <a:spAutoFit/>
          </a:bodyPr>
          <a:lstStyle/>
          <a:p>
            <a:pPr>
              <a:spcAft>
                <a:spcPts val="300"/>
              </a:spcAft>
              <a:defRPr sz="1050">
                <a:solidFill>
                  <a:srgbClr val="162B45"/>
                </a:solidFill>
                <a:latin typeface="Aptos"/>
              </a:defRPr>
            </a:pPr>
            <a:r>
              <a:t>MathTutorBench: cách xây benchmark gia sư toán và vai trò kiểm tra bởi con người.</a:t>
            </a:r>
          </a:p>
          <a:p>
            <a:pPr>
              <a:spcAft>
                <a:spcPts val="300"/>
              </a:spcAft>
              <a:defRPr sz="1050">
                <a:solidFill>
                  <a:srgbClr val="162B45"/>
                </a:solidFill>
                <a:latin typeface="Aptos"/>
              </a:defRPr>
            </a:pPr>
            <a:r>
              <a:t>KMP-Bench: flow dùng LLM hỗ trợ sinh/verify nhưng vẫn cần kiểm soát chất lượng.</a:t>
            </a:r>
          </a:p>
          <a:p>
            <a:pPr>
              <a:spcAft>
                <a:spcPts val="300"/>
              </a:spcAft>
              <a:defRPr sz="1050">
                <a:solidFill>
                  <a:srgbClr val="162B45"/>
                </a:solidFill>
                <a:latin typeface="Aptos"/>
              </a:defRPr>
            </a:pPr>
            <a:r>
              <a:t>TutorBench: đánh giá phản hồi gia sư theo ngữ cảnh hội thoại.</a:t>
            </a:r>
          </a:p>
          <a:p>
            <a:pPr>
              <a:spcAft>
                <a:spcPts val="300"/>
              </a:spcAft>
              <a:defRPr sz="1050">
                <a:solidFill>
                  <a:srgbClr val="162B45"/>
                </a:solidFill>
                <a:latin typeface="Aptos"/>
              </a:defRPr>
            </a:pPr>
            <a:r>
              <a:t>V-Legal: nhấn mạnh truy vết nguồn và kiểm chất lượng dữ liệu tiếng Việt.</a:t>
            </a:r>
          </a:p>
        </p:txBody>
      </p:sp>
      <p:sp>
        <p:nvSpPr>
          <p:cNvPr id="9" name="Rounded Rectangle 8"/>
          <p:cNvSpPr/>
          <p:nvPr/>
        </p:nvSpPr>
        <p:spPr>
          <a:xfrm>
            <a:off x="4343400" y="1691640"/>
            <a:ext cx="5577840" cy="242316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810512"/>
            <a:ext cx="524865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Checklist V0 gồm 5 nhóm</a:t>
            </a:r>
          </a:p>
        </p:txBody>
      </p:sp>
      <p:sp>
        <p:nvSpPr>
          <p:cNvPr id="11" name="TextBox 10"/>
          <p:cNvSpPr txBox="1"/>
          <p:nvPr/>
        </p:nvSpPr>
        <p:spPr>
          <a:xfrm>
            <a:off x="4544568" y="2130552"/>
            <a:ext cx="5266944" cy="1920239"/>
          </a:xfrm>
          <a:prstGeom prst="rect">
            <a:avLst/>
          </a:prstGeom>
          <a:noFill/>
        </p:spPr>
        <p:txBody>
          <a:bodyPr wrap="square">
            <a:spAutoFit/>
          </a:bodyPr>
          <a:lstStyle/>
          <a:p>
            <a:pPr>
              <a:spcAft>
                <a:spcPts val="300"/>
              </a:spcAft>
              <a:defRPr sz="1050">
                <a:solidFill>
                  <a:srgbClr val="162B45"/>
                </a:solidFill>
                <a:latin typeface="Aptos"/>
              </a:defRPr>
            </a:pPr>
            <a:r>
              <a:t>Độ phủ: lớp, chủ đề, bài học, mức nhận thức, dạng câu hỏi/bài tập.</a:t>
            </a:r>
          </a:p>
          <a:p>
            <a:pPr>
              <a:spcAft>
                <a:spcPts val="300"/>
              </a:spcAft>
              <a:defRPr sz="1050">
                <a:solidFill>
                  <a:srgbClr val="162B45"/>
                </a:solidFill>
                <a:latin typeface="Aptos"/>
              </a:defRPr>
            </a:pPr>
            <a:r>
              <a:t>Cấu trúc dữ liệu: đủ trường, có nhãn lượt nói, truy vết dòng gốc.</a:t>
            </a:r>
          </a:p>
          <a:p>
            <a:pPr>
              <a:spcAft>
                <a:spcPts val="300"/>
              </a:spcAft>
              <a:defRPr sz="1050">
                <a:solidFill>
                  <a:srgbClr val="162B45"/>
                </a:solidFill>
                <a:latin typeface="Aptos"/>
              </a:defRPr>
            </a:pPr>
            <a:r>
              <a:t>Nhất quán: câu hỏi ↔ bài/vị trí ↔ đáp án SGV ↔ hội thoại ↔ học liệu.</a:t>
            </a:r>
          </a:p>
          <a:p>
            <a:pPr>
              <a:spcAft>
                <a:spcPts val="300"/>
              </a:spcAft>
              <a:defRPr sz="1050">
                <a:solidFill>
                  <a:srgbClr val="162B45"/>
                </a:solidFill>
                <a:latin typeface="Aptos"/>
              </a:defRPr>
            </a:pPr>
            <a:r>
              <a:t>Sư phạm: dàn giáo, không lộ đáp án quá sớm, trình tự hợp lý, phù hợp THCS.</a:t>
            </a:r>
          </a:p>
          <a:p>
            <a:pPr>
              <a:spcAft>
                <a:spcPts val="300"/>
              </a:spcAft>
              <a:defRPr sz="1050">
                <a:solidFill>
                  <a:srgbClr val="162B45"/>
                </a:solidFill>
                <a:latin typeface="Aptos"/>
              </a:defRPr>
            </a:pPr>
            <a:r>
              <a:t>Trùng/gần trùng: phát hiện mẫu lặp hoặc biến thể quá tầm thường.</a:t>
            </a:r>
          </a:p>
        </p:txBody>
      </p:sp>
      <p:sp>
        <p:nvSpPr>
          <p:cNvPr id="12" name="TextBox 11"/>
          <p:cNvSpPr txBox="1"/>
          <p:nvPr/>
        </p:nvSpPr>
        <p:spPr>
          <a:xfrm>
            <a:off x="868680" y="4526280"/>
            <a:ext cx="1828800" cy="274320"/>
          </a:xfrm>
          <a:prstGeom prst="rect">
            <a:avLst/>
          </a:prstGeom>
          <a:noFill/>
        </p:spPr>
        <p:txBody>
          <a:bodyPr wrap="square" lIns="45720" rIns="45720" tIns="27432" bIns="27432" anchor="t">
            <a:spAutoFit/>
          </a:bodyPr>
          <a:lstStyle/>
          <a:p>
            <a:pPr algn="l">
              <a:lnSpc>
                <a:spcPct val="105000"/>
              </a:lnSpc>
            </a:pPr>
            <a:r>
              <a:rPr sz="1500" b="1">
                <a:solidFill>
                  <a:srgbClr val="0B4F8A"/>
                </a:solidFill>
                <a:latin typeface="Aptos"/>
              </a:rPr>
              <a:t>Kết quả cụ thể</a:t>
            </a:r>
          </a:p>
        </p:txBody>
      </p:sp>
      <p:sp>
        <p:nvSpPr>
          <p:cNvPr id="13" name="Rounded Rectangle 12"/>
          <p:cNvSpPr/>
          <p:nvPr/>
        </p:nvSpPr>
        <p:spPr>
          <a:xfrm>
            <a:off x="868680" y="4892040"/>
            <a:ext cx="2057400" cy="411480"/>
          </a:xfrm>
          <a:prstGeom prst="round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28616"/>
            <a:ext cx="1965960" cy="338328"/>
          </a:xfrm>
          <a:prstGeom prst="rect">
            <a:avLst/>
          </a:prstGeom>
          <a:noFill/>
        </p:spPr>
        <p:txBody>
          <a:bodyPr wrap="square" lIns="45720" rIns="45720" tIns="27432" bIns="27432" anchor="ctr">
            <a:spAutoFit/>
          </a:bodyPr>
          <a:lstStyle/>
          <a:p>
            <a:pPr algn="ctr">
              <a:lnSpc>
                <a:spcPct val="105000"/>
              </a:lnSpc>
            </a:pPr>
            <a:r>
              <a:rPr sz="1100" b="1">
                <a:solidFill>
                  <a:srgbClr val="FFFFFF"/>
                </a:solidFill>
                <a:latin typeface="Aptos"/>
              </a:rPr>
              <a:t>18 tiêu chí / mẫu</a:t>
            </a:r>
          </a:p>
        </p:txBody>
      </p:sp>
      <p:sp>
        <p:nvSpPr>
          <p:cNvPr id="15" name="Rounded Rectangle 14"/>
          <p:cNvSpPr/>
          <p:nvPr/>
        </p:nvSpPr>
        <p:spPr>
          <a:xfrm>
            <a:off x="3154680" y="4892040"/>
            <a:ext cx="2926080" cy="411480"/>
          </a:xfrm>
          <a:prstGeom prst="round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4928616"/>
            <a:ext cx="2834640" cy="338328"/>
          </a:xfrm>
          <a:prstGeom prst="rect">
            <a:avLst/>
          </a:prstGeom>
          <a:noFill/>
        </p:spPr>
        <p:txBody>
          <a:bodyPr wrap="square" lIns="45720" rIns="45720" tIns="27432" bIns="27432" anchor="ctr">
            <a:spAutoFit/>
          </a:bodyPr>
          <a:lstStyle/>
          <a:p>
            <a:pPr algn="ctr">
              <a:lnSpc>
                <a:spcPct val="105000"/>
              </a:lnSpc>
            </a:pPr>
            <a:r>
              <a:rPr sz="1000" b="1">
                <a:solidFill>
                  <a:srgbClr val="FFFFFF"/>
                </a:solidFill>
                <a:latin typeface="Aptos"/>
              </a:rPr>
              <a:t>Tách checklist dữ liệu thô và benchmark candidate</a:t>
            </a:r>
          </a:p>
        </p:txBody>
      </p:sp>
      <p:sp>
        <p:nvSpPr>
          <p:cNvPr id="17" name="Rounded Rectangle 16"/>
          <p:cNvSpPr/>
          <p:nvPr/>
        </p:nvSpPr>
        <p:spPr>
          <a:xfrm>
            <a:off x="6355080" y="4892040"/>
            <a:ext cx="2743200" cy="411480"/>
          </a:xfrm>
          <a:prstGeom prst="roundRect">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928616"/>
            <a:ext cx="2651760" cy="338328"/>
          </a:xfrm>
          <a:prstGeom prst="rect">
            <a:avLst/>
          </a:prstGeom>
          <a:noFill/>
        </p:spPr>
        <p:txBody>
          <a:bodyPr wrap="square" lIns="45720" rIns="45720" tIns="27432" bIns="27432" anchor="ctr">
            <a:spAutoFit/>
          </a:bodyPr>
          <a:lstStyle/>
          <a:p>
            <a:pPr algn="ctr">
              <a:lnSpc>
                <a:spcPct val="105000"/>
              </a:lnSpc>
            </a:pPr>
            <a:r>
              <a:rPr sz="1000" b="1">
                <a:solidFill>
                  <a:srgbClr val="FFFFFF"/>
                </a:solidFill>
                <a:latin typeface="Aptos"/>
              </a:rPr>
              <a:t>Quy tắc tổng hợp đạt / review / không đạt</a:t>
            </a:r>
          </a:p>
        </p:txBody>
      </p:sp>
      <p:sp>
        <p:nvSpPr>
          <p:cNvPr id="19" name="TextBox 18"/>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4. Tổ chức dữ liệu: tách rõ dữ liệu gốc, học liệu và code dùng chung</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Việc này giúp tránh sửa nhầm, tránh lẫn output thử nghiệm với kết quả chính</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645920"/>
            <a:ext cx="2880360" cy="2606040"/>
          </a:xfrm>
          <a:prstGeom prst="roundRect">
            <a:avLst/>
          </a:prstGeom>
          <a:solidFill>
            <a:srgbClr val="E9F6FE"/>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764792"/>
            <a:ext cx="25511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Dữ liệu thô HNMU</a:t>
            </a:r>
          </a:p>
        </p:txBody>
      </p:sp>
      <p:sp>
        <p:nvSpPr>
          <p:cNvPr id="8" name="TextBox 7"/>
          <p:cNvSpPr txBox="1"/>
          <p:nvPr/>
        </p:nvSpPr>
        <p:spPr>
          <a:xfrm>
            <a:off x="978408" y="2084832"/>
            <a:ext cx="2569464" cy="2103120"/>
          </a:xfrm>
          <a:prstGeom prst="rect">
            <a:avLst/>
          </a:prstGeom>
          <a:noFill/>
        </p:spPr>
        <p:txBody>
          <a:bodyPr wrap="square">
            <a:spAutoFit/>
          </a:bodyPr>
          <a:lstStyle/>
          <a:p>
            <a:pPr>
              <a:spcAft>
                <a:spcPts val="300"/>
              </a:spcAft>
              <a:defRPr sz="1050">
                <a:solidFill>
                  <a:srgbClr val="162B45"/>
                </a:solidFill>
                <a:latin typeface="Aptos"/>
              </a:defRPr>
            </a:pPr>
            <a:r>
              <a:t>Đặt trong thư mục dùng chung, không nằm rải trong experiment.</a:t>
            </a:r>
          </a:p>
          <a:p>
            <a:pPr>
              <a:spcAft>
                <a:spcPts val="300"/>
              </a:spcAft>
              <a:defRPr sz="1050">
                <a:solidFill>
                  <a:srgbClr val="162B45"/>
                </a:solidFill>
                <a:latin typeface="Aptos"/>
              </a:defRPr>
            </a:pPr>
            <a:r>
              <a:t>File Excel gốc được giữ nguyên; mọi xử lý tạo bản dẫn xuất.</a:t>
            </a:r>
          </a:p>
          <a:p>
            <a:pPr>
              <a:spcAft>
                <a:spcPts val="300"/>
              </a:spcAft>
              <a:defRPr sz="1050">
                <a:solidFill>
                  <a:srgbClr val="162B45"/>
                </a:solidFill>
                <a:latin typeface="Aptos"/>
              </a:defRPr>
            </a:pPr>
            <a:r>
              <a:t>Mỗi mẫu có mã mẫu, lớp, bài, dòng nguồn để truy vết.</a:t>
            </a:r>
          </a:p>
        </p:txBody>
      </p:sp>
      <p:sp>
        <p:nvSpPr>
          <p:cNvPr id="9" name="Rounded Rectangle 8"/>
          <p:cNvSpPr/>
          <p:nvPr/>
        </p:nvSpPr>
        <p:spPr>
          <a:xfrm>
            <a:off x="3886200" y="1645920"/>
            <a:ext cx="2880360" cy="2606040"/>
          </a:xfrm>
          <a:prstGeom prst="roundRect">
            <a:avLst/>
          </a:prstGeom>
          <a:solidFill>
            <a:srgbClr val="EAFAF3"/>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50791" y="1764792"/>
            <a:ext cx="25511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Học liệu SGK/SGV</a:t>
            </a:r>
          </a:p>
        </p:txBody>
      </p:sp>
      <p:sp>
        <p:nvSpPr>
          <p:cNvPr id="11" name="TextBox 10"/>
          <p:cNvSpPr txBox="1"/>
          <p:nvPr/>
        </p:nvSpPr>
        <p:spPr>
          <a:xfrm>
            <a:off x="4087368" y="2084832"/>
            <a:ext cx="2569464" cy="2103120"/>
          </a:xfrm>
          <a:prstGeom prst="rect">
            <a:avLst/>
          </a:prstGeom>
          <a:noFill/>
        </p:spPr>
        <p:txBody>
          <a:bodyPr wrap="square">
            <a:spAutoFit/>
          </a:bodyPr>
          <a:lstStyle/>
          <a:p>
            <a:pPr>
              <a:spcAft>
                <a:spcPts val="300"/>
              </a:spcAft>
              <a:defRPr sz="1050">
                <a:solidFill>
                  <a:srgbClr val="162B45"/>
                </a:solidFill>
                <a:latin typeface="Aptos"/>
              </a:defRPr>
            </a:pPr>
            <a:r>
              <a:t>Ảnh/PDF/OCR đặt trong vùng học liệu dùng chung.</a:t>
            </a:r>
          </a:p>
          <a:p>
            <a:pPr>
              <a:spcAft>
                <a:spcPts val="300"/>
              </a:spcAft>
              <a:defRPr sz="1050">
                <a:solidFill>
                  <a:srgbClr val="162B45"/>
                </a:solidFill>
                <a:latin typeface="Aptos"/>
              </a:defRPr>
            </a:pPr>
            <a:r>
              <a:t>Dữ liệu OCR Markdown của Nguyên được dùng làm nguồn chính cho lớp 6–9.</a:t>
            </a:r>
          </a:p>
          <a:p>
            <a:pPr>
              <a:spcAft>
                <a:spcPts val="300"/>
              </a:spcAft>
              <a:defRPr sz="1050">
                <a:solidFill>
                  <a:srgbClr val="162B45"/>
                </a:solidFill>
                <a:latin typeface="Aptos"/>
              </a:defRPr>
            </a:pPr>
            <a:r>
              <a:t>SGK dùng kiểm câu hỏi/chủ đề/bài; SGV dùng kiểm đáp án và căn cứ giải thích.</a:t>
            </a:r>
          </a:p>
        </p:txBody>
      </p:sp>
      <p:sp>
        <p:nvSpPr>
          <p:cNvPr id="12" name="Rounded Rectangle 11"/>
          <p:cNvSpPr/>
          <p:nvPr/>
        </p:nvSpPr>
        <p:spPr>
          <a:xfrm>
            <a:off x="6995160" y="1645920"/>
            <a:ext cx="2880360" cy="2606040"/>
          </a:xfrm>
          <a:prstGeom prst="roundRect">
            <a:avLst/>
          </a:prstGeom>
          <a:solidFill>
            <a:srgbClr val="FFF6E8"/>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59752" y="1764792"/>
            <a:ext cx="25511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Code và output</a:t>
            </a:r>
          </a:p>
        </p:txBody>
      </p:sp>
      <p:sp>
        <p:nvSpPr>
          <p:cNvPr id="14" name="TextBox 13"/>
          <p:cNvSpPr txBox="1"/>
          <p:nvPr/>
        </p:nvSpPr>
        <p:spPr>
          <a:xfrm>
            <a:off x="7196328" y="2084832"/>
            <a:ext cx="2569464" cy="2103120"/>
          </a:xfrm>
          <a:prstGeom prst="rect">
            <a:avLst/>
          </a:prstGeom>
          <a:noFill/>
        </p:spPr>
        <p:txBody>
          <a:bodyPr wrap="square">
            <a:spAutoFit/>
          </a:bodyPr>
          <a:lstStyle/>
          <a:p>
            <a:pPr>
              <a:spcAft>
                <a:spcPts val="300"/>
              </a:spcAft>
              <a:defRPr sz="1050">
                <a:solidFill>
                  <a:srgbClr val="162B45"/>
                </a:solidFill>
                <a:latin typeface="Aptos"/>
              </a:defRPr>
            </a:pPr>
            <a:r>
              <a:t>Code dùng chung đặt trong `src/`, không nhét vào experiment.</a:t>
            </a:r>
          </a:p>
          <a:p>
            <a:pPr>
              <a:spcAft>
                <a:spcPts val="300"/>
              </a:spcAft>
              <a:defRPr sz="1050">
                <a:solidFill>
                  <a:srgbClr val="162B45"/>
                </a:solidFill>
                <a:latin typeface="Aptos"/>
              </a:defRPr>
            </a:pPr>
            <a:r>
              <a:t>Output audit nằm riêng theo batch lớp 6–7 và lớp 8–9.</a:t>
            </a:r>
          </a:p>
          <a:p>
            <a:pPr>
              <a:spcAft>
                <a:spcPts val="300"/>
              </a:spcAft>
              <a:defRPr sz="1050">
                <a:solidFill>
                  <a:srgbClr val="162B45"/>
                </a:solidFill>
                <a:latin typeface="Aptos"/>
              </a:defRPr>
            </a:pPr>
            <a:r>
              <a:t>Gói final có `README_final.md` ở từng tầng để đọc đúng file chính.</a:t>
            </a:r>
          </a:p>
        </p:txBody>
      </p:sp>
      <p:sp>
        <p:nvSpPr>
          <p:cNvPr id="15" name="TextBox 14"/>
          <p:cNvSpPr txBox="1"/>
          <p:nvPr/>
        </p:nvSpPr>
        <p:spPr>
          <a:xfrm>
            <a:off x="868680" y="4892040"/>
            <a:ext cx="9144000" cy="457200"/>
          </a:xfrm>
          <a:prstGeom prst="rect">
            <a:avLst/>
          </a:prstGeom>
          <a:noFill/>
        </p:spPr>
        <p:txBody>
          <a:bodyPr wrap="square" lIns="45720" rIns="45720" tIns="27432" bIns="27432" anchor="t">
            <a:spAutoFit/>
          </a:bodyPr>
          <a:lstStyle/>
          <a:p>
            <a:pPr algn="l">
              <a:lnSpc>
                <a:spcPct val="105000"/>
              </a:lnSpc>
            </a:pPr>
            <a:r>
              <a:rPr sz="1300" b="1">
                <a:solidFill>
                  <a:srgbClr val="162B45"/>
                </a:solidFill>
                <a:latin typeface="Aptos"/>
              </a:rPr>
              <a:t>Thông điệp chính: hệ thống giờ đã có cấu trúc để lặp lại cho batch mới mà không làm loạn dữ liệu gốc.</a:t>
            </a:r>
          </a:p>
        </p:txBody>
      </p:sp>
      <p:sp>
        <p:nvSpPr>
          <p:cNvPr id="16" name="TextBox 15"/>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5. Học liệu SGK/SGV đã được biến thành nguồn truy xuất được</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Từ Markdown OCR tới fragment và công cụ tìm kiếm học liệu</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1965960" cy="1143000"/>
          </a:xfrm>
          <a:prstGeom prst="roundRect">
            <a:avLst/>
          </a:prstGeom>
          <a:solidFill>
            <a:srgbClr val="EAFAF3"/>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38528"/>
            <a:ext cx="1691639"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OCR Markdown
SGK/SGV 6–9</a:t>
            </a:r>
          </a:p>
        </p:txBody>
      </p:sp>
      <p:sp>
        <p:nvSpPr>
          <p:cNvPr id="8" name="TextBox 7"/>
          <p:cNvSpPr txBox="1"/>
          <p:nvPr/>
        </p:nvSpPr>
        <p:spPr>
          <a:xfrm>
            <a:off x="960120" y="2240280"/>
            <a:ext cx="1691639"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154 đơn vị</a:t>
            </a:r>
          </a:p>
        </p:txBody>
      </p:sp>
      <p:cxnSp>
        <p:nvCxnSpPr>
          <p:cNvPr id="9" name="Connector 8"/>
          <p:cNvCxnSpPr/>
          <p:nvPr/>
        </p:nvCxnSpPr>
        <p:spPr>
          <a:xfrm>
            <a:off x="2788920" y="2377440"/>
            <a:ext cx="320040" cy="0"/>
          </a:xfrm>
          <a:prstGeom prst="line">
            <a:avLst/>
          </a:prstGeom>
          <a:ln w="27940">
            <a:solidFill>
              <a:srgbClr val="00A7C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154679" y="1828800"/>
            <a:ext cx="1965960" cy="1143000"/>
          </a:xfrm>
          <a:prstGeom prst="roundRect">
            <a:avLst/>
          </a:prstGeom>
          <a:solidFill>
            <a:srgbClr val="EAFAF3"/>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39" y="1938528"/>
            <a:ext cx="1691639"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Tách fragment
theo bài/mục/trang</a:t>
            </a:r>
          </a:p>
        </p:txBody>
      </p:sp>
      <p:sp>
        <p:nvSpPr>
          <p:cNvPr id="12" name="TextBox 11"/>
          <p:cNvSpPr txBox="1"/>
          <p:nvPr/>
        </p:nvSpPr>
        <p:spPr>
          <a:xfrm>
            <a:off x="3291839" y="2240280"/>
            <a:ext cx="1691639"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2.750 đoạn</a:t>
            </a:r>
          </a:p>
        </p:txBody>
      </p:sp>
      <p:cxnSp>
        <p:nvCxnSpPr>
          <p:cNvPr id="13" name="Connector 12"/>
          <p:cNvCxnSpPr/>
          <p:nvPr/>
        </p:nvCxnSpPr>
        <p:spPr>
          <a:xfrm>
            <a:off x="5120640" y="2377440"/>
            <a:ext cx="320039" cy="0"/>
          </a:xfrm>
          <a:prstGeom prst="line">
            <a:avLst/>
          </a:prstGeom>
          <a:ln w="27940">
            <a:solidFill>
              <a:srgbClr val="00A7C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1828800"/>
            <a:ext cx="1965960" cy="1143000"/>
          </a:xfrm>
          <a:prstGeom prst="roundRect">
            <a:avLst/>
          </a:prstGeom>
          <a:solidFill>
            <a:srgbClr val="F4F7FF"/>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3560" y="1938528"/>
            <a:ext cx="1691639"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Lập chỉ mục
full-text search</a:t>
            </a:r>
          </a:p>
        </p:txBody>
      </p:sp>
      <p:sp>
        <p:nvSpPr>
          <p:cNvPr id="16" name="TextBox 15"/>
          <p:cNvSpPr txBox="1"/>
          <p:nvPr/>
        </p:nvSpPr>
        <p:spPr>
          <a:xfrm>
            <a:off x="5623560" y="2240280"/>
            <a:ext cx="1691639"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SQLite</a:t>
            </a:r>
          </a:p>
        </p:txBody>
      </p:sp>
      <p:cxnSp>
        <p:nvCxnSpPr>
          <p:cNvPr id="17" name="Connector 16"/>
          <p:cNvCxnSpPr/>
          <p:nvPr/>
        </p:nvCxnSpPr>
        <p:spPr>
          <a:xfrm>
            <a:off x="7452360" y="2377440"/>
            <a:ext cx="320040" cy="0"/>
          </a:xfrm>
          <a:prstGeom prst="line">
            <a:avLst/>
          </a:prstGeom>
          <a:ln w="27940">
            <a:solidFill>
              <a:srgbClr val="00A7C8"/>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818119" y="1828800"/>
            <a:ext cx="1965960" cy="1143000"/>
          </a:xfrm>
          <a:prstGeom prst="roundRect">
            <a:avLst/>
          </a:prstGeom>
          <a:solidFill>
            <a:srgbClr val="FFF6E8"/>
          </a:solidFill>
          <a:ln>
            <a:solidFill>
              <a:srgbClr val="B7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79" y="1938528"/>
            <a:ext cx="1691639" cy="256032"/>
          </a:xfrm>
          <a:prstGeom prst="rect">
            <a:avLst/>
          </a:prstGeom>
          <a:noFill/>
        </p:spPr>
        <p:txBody>
          <a:bodyPr wrap="square" lIns="45720" rIns="45720" tIns="27432" bIns="27432" anchor="t">
            <a:spAutoFit/>
          </a:bodyPr>
          <a:lstStyle/>
          <a:p>
            <a:pPr algn="l">
              <a:lnSpc>
                <a:spcPct val="105000"/>
              </a:lnSpc>
            </a:pPr>
            <a:r>
              <a:rPr sz="1300" b="1">
                <a:solidFill>
                  <a:srgbClr val="0B4F8A"/>
                </a:solidFill>
                <a:latin typeface="Aptos"/>
              </a:rPr>
              <a:t>Agent truy xuất
đoạn liên quan</a:t>
            </a:r>
          </a:p>
        </p:txBody>
      </p:sp>
      <p:sp>
        <p:nvSpPr>
          <p:cNvPr id="20" name="TextBox 19"/>
          <p:cNvSpPr txBox="1"/>
          <p:nvPr/>
        </p:nvSpPr>
        <p:spPr>
          <a:xfrm>
            <a:off x="7955279" y="2240280"/>
            <a:ext cx="1691639" cy="640080"/>
          </a:xfrm>
          <a:prstGeom prst="rect">
            <a:avLst/>
          </a:prstGeom>
          <a:noFill/>
        </p:spPr>
        <p:txBody>
          <a:bodyPr wrap="square" lIns="45720" rIns="45720" tIns="27432" bIns="27432" anchor="t">
            <a:spAutoFit/>
          </a:bodyPr>
          <a:lstStyle/>
          <a:p>
            <a:pPr algn="l">
              <a:lnSpc>
                <a:spcPct val="105000"/>
              </a:lnSpc>
            </a:pPr>
            <a:r>
              <a:rPr sz="1100" b="0">
                <a:solidFill>
                  <a:srgbClr val="162B45"/>
                </a:solidFill>
                <a:latin typeface="Aptos"/>
              </a:rPr>
              <a:t>có căn cứ</a:t>
            </a:r>
          </a:p>
        </p:txBody>
      </p:sp>
      <p:sp>
        <p:nvSpPr>
          <p:cNvPr id="21" name="Rounded Rectangle 20"/>
          <p:cNvSpPr/>
          <p:nvPr/>
        </p:nvSpPr>
        <p:spPr>
          <a:xfrm>
            <a:off x="914400" y="3657600"/>
            <a:ext cx="4297680" cy="141732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3776472"/>
            <a:ext cx="396849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Vì sao quan trọng?</a:t>
            </a:r>
          </a:p>
        </p:txBody>
      </p:sp>
      <p:sp>
        <p:nvSpPr>
          <p:cNvPr id="23" name="TextBox 22"/>
          <p:cNvSpPr txBox="1"/>
          <p:nvPr/>
        </p:nvSpPr>
        <p:spPr>
          <a:xfrm>
            <a:off x="1115568" y="4096512"/>
            <a:ext cx="3986784" cy="914400"/>
          </a:xfrm>
          <a:prstGeom prst="rect">
            <a:avLst/>
          </a:prstGeom>
          <a:noFill/>
        </p:spPr>
        <p:txBody>
          <a:bodyPr wrap="square">
            <a:spAutoFit/>
          </a:bodyPr>
          <a:lstStyle/>
          <a:p>
            <a:pPr>
              <a:spcAft>
                <a:spcPts val="300"/>
              </a:spcAft>
              <a:defRPr sz="1050">
                <a:solidFill>
                  <a:srgbClr val="162B45"/>
                </a:solidFill>
                <a:latin typeface="Aptos"/>
              </a:defRPr>
            </a:pPr>
            <a:r>
              <a:t>Nếu không có học liệu truy xuất, agent dễ đánh giá bằng cảm tính.</a:t>
            </a:r>
          </a:p>
          <a:p>
            <a:pPr>
              <a:spcAft>
                <a:spcPts val="300"/>
              </a:spcAft>
              <a:defRPr sz="1050">
                <a:solidFill>
                  <a:srgbClr val="162B45"/>
                </a:solidFill>
                <a:latin typeface="Aptos"/>
              </a:defRPr>
            </a:pPr>
            <a:r>
              <a:t>Fragment giúp kiểm câu hỏi/đáp án/hội thoại dựa trên đoạn SGK/SGV cụ thể.</a:t>
            </a:r>
          </a:p>
          <a:p>
            <a:pPr>
              <a:spcAft>
                <a:spcPts val="300"/>
              </a:spcAft>
              <a:defRPr sz="1050">
                <a:solidFill>
                  <a:srgbClr val="162B45"/>
                </a:solidFill>
                <a:latin typeface="Aptos"/>
              </a:defRPr>
            </a:pPr>
            <a:r>
              <a:t>Full-text search phù hợp giai đoạn này vì dễ kiểm soát hơn vector search.</a:t>
            </a:r>
          </a:p>
        </p:txBody>
      </p:sp>
      <p:sp>
        <p:nvSpPr>
          <p:cNvPr id="24" name="Rounded Rectangle 23"/>
          <p:cNvSpPr/>
          <p:nvPr/>
        </p:nvSpPr>
        <p:spPr>
          <a:xfrm>
            <a:off x="5577840" y="3657600"/>
            <a:ext cx="4297680" cy="141732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42431" y="3776472"/>
            <a:ext cx="396849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Trạng thái hiện tại</a:t>
            </a:r>
          </a:p>
        </p:txBody>
      </p:sp>
      <p:sp>
        <p:nvSpPr>
          <p:cNvPr id="26" name="TextBox 25"/>
          <p:cNvSpPr txBox="1"/>
          <p:nvPr/>
        </p:nvSpPr>
        <p:spPr>
          <a:xfrm>
            <a:off x="5779007" y="4096512"/>
            <a:ext cx="3986784" cy="914400"/>
          </a:xfrm>
          <a:prstGeom prst="rect">
            <a:avLst/>
          </a:prstGeom>
          <a:noFill/>
        </p:spPr>
        <p:txBody>
          <a:bodyPr wrap="square">
            <a:spAutoFit/>
          </a:bodyPr>
          <a:lstStyle/>
          <a:p>
            <a:pPr>
              <a:spcAft>
                <a:spcPts val="300"/>
              </a:spcAft>
              <a:defRPr sz="1050">
                <a:solidFill>
                  <a:srgbClr val="162B45"/>
                </a:solidFill>
                <a:latin typeface="Aptos"/>
              </a:defRPr>
            </a:pPr>
            <a:r>
              <a:t>Đủ dùng cho kiểm toán V0 lớp 6–9.</a:t>
            </a:r>
          </a:p>
          <a:p>
            <a:pPr>
              <a:spcAft>
                <a:spcPts val="300"/>
              </a:spcAft>
              <a:defRPr sz="1050">
                <a:solidFill>
                  <a:srgbClr val="162B45"/>
                </a:solidFill>
                <a:latin typeface="Aptos"/>
              </a:defRPr>
            </a:pPr>
            <a:r>
              <a:t>Học liệu vẫn ở trạng thái nháp, chưa thay thế xác nhận chuyên môn của HNMU/UET.</a:t>
            </a:r>
          </a:p>
          <a:p>
            <a:pPr>
              <a:spcAft>
                <a:spcPts val="300"/>
              </a:spcAft>
              <a:defRPr sz="1050">
                <a:solidFill>
                  <a:srgbClr val="162B45"/>
                </a:solidFill>
                <a:latin typeface="Aptos"/>
              </a:defRPr>
            </a:pPr>
            <a:r>
              <a:t>Có thể mở rộng thành cơ sở dữ liệu học liệu trong giai đoạn sau.</a:t>
            </a:r>
          </a:p>
        </p:txBody>
      </p:sp>
      <p:sp>
        <p:nvSpPr>
          <p:cNvPr id="27" name="TextBox 26"/>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6. Kiểm bằng code: phần nào đếm được thì để máy đếm</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Code xử lý các bước cơ học, thống kê và truy vết trước khi agent đọc nội dung</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77240" y="1691640"/>
          <a:ext cx="9326880" cy="1965960"/>
        </p:xfrm>
        <a:graphic>
          <a:graphicData uri="http://schemas.openxmlformats.org/drawingml/2006/table">
            <a:tbl>
              <a:tblPr firstRow="1" bandRow="1">
                <a:tableStyleId>{5C22544A-7EE6-4342-B048-85BDC9FD1C3A}</a:tableStyleId>
              </a:tblPr>
              <a:tblGrid>
                <a:gridCol w="2331720"/>
                <a:gridCol w="2331720"/>
                <a:gridCol w="2331720"/>
                <a:gridCol w="2331720"/>
              </a:tblGrid>
              <a:tr h="327660">
                <a:tc>
                  <a:txBody>
                    <a:bodyPr/>
                    <a:lstStyle/>
                    <a:p>
                      <a:pPr algn="ctr"/>
                      <a:r>
                        <a:rPr sz="919" b="1">
                          <a:solidFill>
                            <a:srgbClr val="FFFFFF"/>
                          </a:solidFill>
                          <a:latin typeface="Aptos"/>
                        </a:rPr>
                        <a:t>Nhóm kiểm tra</a:t>
                      </a:r>
                    </a:p>
                  </a:txBody>
                  <a:tcPr>
                    <a:solidFill>
                      <a:srgbClr val="0B4F8A"/>
                    </a:solidFill>
                  </a:tcPr>
                </a:tc>
                <a:tc>
                  <a:txBody>
                    <a:bodyPr/>
                    <a:lstStyle/>
                    <a:p>
                      <a:pPr algn="ctr"/>
                      <a:r>
                        <a:rPr sz="919" b="1">
                          <a:solidFill>
                            <a:srgbClr val="FFFFFF"/>
                          </a:solidFill>
                          <a:latin typeface="Aptos"/>
                        </a:rPr>
                        <a:t>Lớp 6–7</a:t>
                      </a:r>
                    </a:p>
                  </a:txBody>
                  <a:tcPr>
                    <a:solidFill>
                      <a:srgbClr val="0B4F8A"/>
                    </a:solidFill>
                  </a:tcPr>
                </a:tc>
                <a:tc>
                  <a:txBody>
                    <a:bodyPr/>
                    <a:lstStyle/>
                    <a:p>
                      <a:pPr algn="ctr"/>
                      <a:r>
                        <a:rPr sz="919" b="1">
                          <a:solidFill>
                            <a:srgbClr val="FFFFFF"/>
                          </a:solidFill>
                          <a:latin typeface="Aptos"/>
                        </a:rPr>
                        <a:t>Lớp 8–9</a:t>
                      </a:r>
                    </a:p>
                  </a:txBody>
                  <a:tcPr>
                    <a:solidFill>
                      <a:srgbClr val="0B4F8A"/>
                    </a:solidFill>
                  </a:tcPr>
                </a:tc>
                <a:tc>
                  <a:txBody>
                    <a:bodyPr/>
                    <a:lstStyle/>
                    <a:p>
                      <a:pPr algn="ctr"/>
                      <a:r>
                        <a:rPr sz="919" b="1">
                          <a:solidFill>
                            <a:srgbClr val="FFFFFF"/>
                          </a:solidFill>
                          <a:latin typeface="Aptos"/>
                        </a:rPr>
                        <a:t>Ý nghĩa</a:t>
                      </a:r>
                    </a:p>
                  </a:txBody>
                  <a:tcPr>
                    <a:solidFill>
                      <a:srgbClr val="0B4F8A"/>
                    </a:solidFill>
                  </a:tcPr>
                </a:tc>
              </a:tr>
              <a:tr h="327660">
                <a:tc>
                  <a:txBody>
                    <a:bodyPr/>
                    <a:lstStyle/>
                    <a:p>
                      <a:pPr algn="l"/>
                      <a:r>
                        <a:rPr sz="919">
                          <a:solidFill>
                            <a:srgbClr val="162B45"/>
                          </a:solidFill>
                          <a:latin typeface="Aptos"/>
                        </a:rPr>
                        <a:t>Số mẫu đã chuẩn hóa</a:t>
                      </a:r>
                    </a:p>
                  </a:txBody>
                  <a:tcPr>
                    <a:solidFill>
                      <a:srgbClr val="FFFFFF"/>
                    </a:solidFill>
                  </a:tcPr>
                </a:tc>
                <a:tc>
                  <a:txBody>
                    <a:bodyPr/>
                    <a:lstStyle/>
                    <a:p>
                      <a:pPr algn="ctr"/>
                      <a:r>
                        <a:rPr sz="919">
                          <a:solidFill>
                            <a:srgbClr val="162B45"/>
                          </a:solidFill>
                          <a:latin typeface="Aptos"/>
                        </a:rPr>
                        <a:t>462</a:t>
                      </a:r>
                    </a:p>
                  </a:txBody>
                  <a:tcPr>
                    <a:solidFill>
                      <a:srgbClr val="FFFFFF"/>
                    </a:solidFill>
                  </a:tcPr>
                </a:tc>
                <a:tc>
                  <a:txBody>
                    <a:bodyPr/>
                    <a:lstStyle/>
                    <a:p>
                      <a:pPr algn="ctr"/>
                      <a:r>
                        <a:rPr sz="919">
                          <a:solidFill>
                            <a:srgbClr val="162B45"/>
                          </a:solidFill>
                          <a:latin typeface="Aptos"/>
                        </a:rPr>
                        <a:t>588</a:t>
                      </a:r>
                    </a:p>
                  </a:txBody>
                  <a:tcPr>
                    <a:solidFill>
                      <a:srgbClr val="FFFFFF"/>
                    </a:solidFill>
                  </a:tcPr>
                </a:tc>
                <a:tc>
                  <a:txBody>
                    <a:bodyPr/>
                    <a:lstStyle/>
                    <a:p>
                      <a:pPr algn="ctr"/>
                      <a:r>
                        <a:rPr sz="919">
                          <a:solidFill>
                            <a:srgbClr val="162B45"/>
                          </a:solidFill>
                          <a:latin typeface="Aptos"/>
                        </a:rPr>
                        <a:t>Dữ liệu thô được đưa về bảng dẫn xuất có truy vết</a:t>
                      </a:r>
                    </a:p>
                  </a:txBody>
                  <a:tcPr>
                    <a:solidFill>
                      <a:srgbClr val="FFFFFF"/>
                    </a:solidFill>
                  </a:tcPr>
                </a:tc>
              </a:tr>
              <a:tr h="327660">
                <a:tc>
                  <a:txBody>
                    <a:bodyPr/>
                    <a:lstStyle/>
                    <a:p>
                      <a:pPr algn="l"/>
                      <a:r>
                        <a:rPr sz="919">
                          <a:solidFill>
                            <a:srgbClr val="162B45"/>
                          </a:solidFill>
                          <a:latin typeface="Aptos"/>
                        </a:rPr>
                        <a:t>Độ phủ theo chủ đề</a:t>
                      </a:r>
                    </a:p>
                  </a:txBody>
                  <a:tcPr>
                    <a:solidFill>
                      <a:srgbClr val="F4F8FB"/>
                    </a:solidFill>
                  </a:tcPr>
                </a:tc>
                <a:tc>
                  <a:txBody>
                    <a:bodyPr/>
                    <a:lstStyle/>
                    <a:p>
                      <a:pPr algn="ctr"/>
                      <a:r>
                        <a:rPr sz="919">
                          <a:solidFill>
                            <a:srgbClr val="162B45"/>
                          </a:solidFill>
                          <a:latin typeface="Aptos"/>
                        </a:rPr>
                        <a:t>6 nhóm</a:t>
                      </a:r>
                    </a:p>
                  </a:txBody>
                  <a:tcPr>
                    <a:solidFill>
                      <a:srgbClr val="F4F8FB"/>
                    </a:solidFill>
                  </a:tcPr>
                </a:tc>
                <a:tc>
                  <a:txBody>
                    <a:bodyPr/>
                    <a:lstStyle/>
                    <a:p>
                      <a:pPr algn="ctr"/>
                      <a:r>
                        <a:rPr sz="919">
                          <a:solidFill>
                            <a:srgbClr val="162B45"/>
                          </a:solidFill>
                          <a:latin typeface="Aptos"/>
                        </a:rPr>
                        <a:t>11 nhóm</a:t>
                      </a:r>
                    </a:p>
                  </a:txBody>
                  <a:tcPr>
                    <a:solidFill>
                      <a:srgbClr val="F4F8FB"/>
                    </a:solidFill>
                  </a:tcPr>
                </a:tc>
                <a:tc>
                  <a:txBody>
                    <a:bodyPr/>
                    <a:lstStyle/>
                    <a:p>
                      <a:pPr algn="ctr"/>
                      <a:r>
                        <a:rPr sz="919">
                          <a:solidFill>
                            <a:srgbClr val="162B45"/>
                          </a:solidFill>
                          <a:latin typeface="Aptos"/>
                        </a:rPr>
                        <a:t>Cho biết dữ liệu đang tập trung ở vùng kiến thức nào</a:t>
                      </a:r>
                    </a:p>
                  </a:txBody>
                  <a:tcPr>
                    <a:solidFill>
                      <a:srgbClr val="F4F8FB"/>
                    </a:solidFill>
                  </a:tcPr>
                </a:tc>
              </a:tr>
              <a:tr h="327660">
                <a:tc>
                  <a:txBody>
                    <a:bodyPr/>
                    <a:lstStyle/>
                    <a:p>
                      <a:pPr algn="l"/>
                      <a:r>
                        <a:rPr sz="919">
                          <a:solidFill>
                            <a:srgbClr val="162B45"/>
                          </a:solidFill>
                          <a:latin typeface="Aptos"/>
                        </a:rPr>
                        <a:t>Độ phủ theo bài học</a:t>
                      </a:r>
                    </a:p>
                  </a:txBody>
                  <a:tcPr>
                    <a:solidFill>
                      <a:srgbClr val="FFFFFF"/>
                    </a:solidFill>
                  </a:tcPr>
                </a:tc>
                <a:tc>
                  <a:txBody>
                    <a:bodyPr/>
                    <a:lstStyle/>
                    <a:p>
                      <a:pPr algn="ctr"/>
                      <a:r>
                        <a:rPr sz="919">
                          <a:solidFill>
                            <a:srgbClr val="162B45"/>
                          </a:solidFill>
                          <a:latin typeface="Aptos"/>
                        </a:rPr>
                        <a:t>33 bài theo lớp</a:t>
                      </a:r>
                    </a:p>
                  </a:txBody>
                  <a:tcPr>
                    <a:solidFill>
                      <a:srgbClr val="FFFFFF"/>
                    </a:solidFill>
                  </a:tcPr>
                </a:tc>
                <a:tc>
                  <a:txBody>
                    <a:bodyPr/>
                    <a:lstStyle/>
                    <a:p>
                      <a:pPr algn="ctr"/>
                      <a:r>
                        <a:rPr sz="919">
                          <a:solidFill>
                            <a:srgbClr val="162B45"/>
                          </a:solidFill>
                          <a:latin typeface="Aptos"/>
                        </a:rPr>
                        <a:t>42 bài theo lớp</a:t>
                      </a:r>
                    </a:p>
                  </a:txBody>
                  <a:tcPr>
                    <a:solidFill>
                      <a:srgbClr val="FFFFFF"/>
                    </a:solidFill>
                  </a:tcPr>
                </a:tc>
                <a:tc>
                  <a:txBody>
                    <a:bodyPr/>
                    <a:lstStyle/>
                    <a:p>
                      <a:pPr algn="ctr"/>
                      <a:r>
                        <a:rPr sz="919">
                          <a:solidFill>
                            <a:srgbClr val="162B45"/>
                          </a:solidFill>
                          <a:latin typeface="Aptos"/>
                        </a:rPr>
                        <a:t>Bài học luôn gắn với lớp, không xem như nhãn độc lập</a:t>
                      </a:r>
                    </a:p>
                  </a:txBody>
                  <a:tcPr>
                    <a:solidFill>
                      <a:srgbClr val="FFFFFF"/>
                    </a:solidFill>
                  </a:tcPr>
                </a:tc>
              </a:tr>
              <a:tr h="327660">
                <a:tc>
                  <a:txBody>
                    <a:bodyPr/>
                    <a:lstStyle/>
                    <a:p>
                      <a:pPr algn="l"/>
                      <a:r>
                        <a:rPr sz="919">
                          <a:solidFill>
                            <a:srgbClr val="162B45"/>
                          </a:solidFill>
                          <a:latin typeface="Aptos"/>
                        </a:rPr>
                        <a:t>Thiếu trường/lỗi cơ học</a:t>
                      </a:r>
                    </a:p>
                  </a:txBody>
                  <a:tcPr>
                    <a:solidFill>
                      <a:srgbClr val="F4F8FB"/>
                    </a:solidFill>
                  </a:tcPr>
                </a:tc>
                <a:tc>
                  <a:txBody>
                    <a:bodyPr/>
                    <a:lstStyle/>
                    <a:p>
                      <a:pPr algn="ctr"/>
                      <a:r>
                        <a:rPr sz="919">
                          <a:solidFill>
                            <a:srgbClr val="162B45"/>
                          </a:solidFill>
                          <a:latin typeface="Aptos"/>
                        </a:rPr>
                        <a:t>2 dòng</a:t>
                      </a:r>
                    </a:p>
                  </a:txBody>
                  <a:tcPr>
                    <a:solidFill>
                      <a:srgbClr val="F4F8FB"/>
                    </a:solidFill>
                  </a:tcPr>
                </a:tc>
                <a:tc>
                  <a:txBody>
                    <a:bodyPr/>
                    <a:lstStyle/>
                    <a:p>
                      <a:pPr algn="ctr"/>
                      <a:r>
                        <a:rPr sz="919">
                          <a:solidFill>
                            <a:srgbClr val="162B45"/>
                          </a:solidFill>
                          <a:latin typeface="Aptos"/>
                        </a:rPr>
                        <a:t>20 dòng</a:t>
                      </a:r>
                    </a:p>
                  </a:txBody>
                  <a:tcPr>
                    <a:solidFill>
                      <a:srgbClr val="F4F8FB"/>
                    </a:solidFill>
                  </a:tcPr>
                </a:tc>
                <a:tc>
                  <a:txBody>
                    <a:bodyPr/>
                    <a:lstStyle/>
                    <a:p>
                      <a:pPr algn="ctr"/>
                      <a:r>
                        <a:rPr sz="919">
                          <a:solidFill>
                            <a:srgbClr val="162B45"/>
                          </a:solidFill>
                          <a:latin typeface="Aptos"/>
                        </a:rPr>
                        <a:t>Tín hiệu cần kiểm lại trước khi chuyển đổi</a:t>
                      </a:r>
                    </a:p>
                  </a:txBody>
                  <a:tcPr>
                    <a:solidFill>
                      <a:srgbClr val="F4F8FB"/>
                    </a:solidFill>
                  </a:tcPr>
                </a:tc>
              </a:tr>
              <a:tr h="327660">
                <a:tc>
                  <a:txBody>
                    <a:bodyPr/>
                    <a:lstStyle/>
                    <a:p>
                      <a:pPr algn="l"/>
                      <a:r>
                        <a:rPr sz="919">
                          <a:solidFill>
                            <a:srgbClr val="162B45"/>
                          </a:solidFill>
                          <a:latin typeface="Aptos"/>
                        </a:rPr>
                        <a:t>Trùng/gần trùng</a:t>
                      </a:r>
                    </a:p>
                  </a:txBody>
                  <a:tcPr>
                    <a:solidFill>
                      <a:srgbClr val="FFFFFF"/>
                    </a:solidFill>
                  </a:tcPr>
                </a:tc>
                <a:tc>
                  <a:txBody>
                    <a:bodyPr/>
                    <a:lstStyle/>
                    <a:p>
                      <a:pPr algn="ctr"/>
                      <a:r>
                        <a:rPr sz="919">
                          <a:solidFill>
                            <a:srgbClr val="162B45"/>
                          </a:solidFill>
                          <a:latin typeface="Aptos"/>
                        </a:rPr>
                        <a:t>0 cặp</a:t>
                      </a:r>
                    </a:p>
                  </a:txBody>
                  <a:tcPr>
                    <a:solidFill>
                      <a:srgbClr val="FFFFFF"/>
                    </a:solidFill>
                  </a:tcPr>
                </a:tc>
                <a:tc>
                  <a:txBody>
                    <a:bodyPr/>
                    <a:lstStyle/>
                    <a:p>
                      <a:pPr algn="ctr"/>
                      <a:r>
                        <a:rPr sz="919">
                          <a:solidFill>
                            <a:srgbClr val="162B45"/>
                          </a:solidFill>
                          <a:latin typeface="Aptos"/>
                        </a:rPr>
                        <a:t>1 cặp</a:t>
                      </a:r>
                    </a:p>
                  </a:txBody>
                  <a:tcPr>
                    <a:solidFill>
                      <a:srgbClr val="FFFFFF"/>
                    </a:solidFill>
                  </a:tcPr>
                </a:tc>
                <a:tc>
                  <a:txBody>
                    <a:bodyPr/>
                    <a:lstStyle/>
                    <a:p>
                      <a:pPr algn="ctr"/>
                      <a:r>
                        <a:rPr sz="919">
                          <a:solidFill>
                            <a:srgbClr val="162B45"/>
                          </a:solidFill>
                          <a:latin typeface="Aptos"/>
                        </a:rPr>
                        <a:t>Giảm rủi ro nhiều mẫu nhưng ít đa dạng thật</a:t>
                      </a:r>
                    </a:p>
                  </a:txBody>
                  <a:tcPr>
                    <a:solidFill>
                      <a:srgbClr val="FFFFFF"/>
                    </a:solidFill>
                  </a:tcPr>
                </a:tc>
              </a:tr>
            </a:tbl>
          </a:graphicData>
        </a:graphic>
      </p:graphicFrame>
      <p:sp>
        <p:nvSpPr>
          <p:cNvPr id="7" name="Rounded Rectangle 6"/>
          <p:cNvSpPr/>
          <p:nvPr/>
        </p:nvSpPr>
        <p:spPr>
          <a:xfrm>
            <a:off x="914400" y="4251960"/>
            <a:ext cx="4251960" cy="1143000"/>
          </a:xfrm>
          <a:prstGeom prst="roundRect">
            <a:avLst/>
          </a:prstGeom>
          <a:solidFill>
            <a:srgbClr val="F4F8FB"/>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4370832"/>
            <a:ext cx="39227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Các trục coverage hiện đã thống kê</a:t>
            </a:r>
          </a:p>
        </p:txBody>
      </p:sp>
      <p:sp>
        <p:nvSpPr>
          <p:cNvPr id="9" name="TextBox 8"/>
          <p:cNvSpPr txBox="1"/>
          <p:nvPr/>
        </p:nvSpPr>
        <p:spPr>
          <a:xfrm>
            <a:off x="1115568" y="4690872"/>
            <a:ext cx="3941064" cy="640080"/>
          </a:xfrm>
          <a:prstGeom prst="rect">
            <a:avLst/>
          </a:prstGeom>
          <a:noFill/>
        </p:spPr>
        <p:txBody>
          <a:bodyPr wrap="square">
            <a:spAutoFit/>
          </a:bodyPr>
          <a:lstStyle/>
          <a:p>
            <a:pPr>
              <a:spcAft>
                <a:spcPts val="300"/>
              </a:spcAft>
              <a:defRPr sz="1050">
                <a:solidFill>
                  <a:srgbClr val="162B45"/>
                </a:solidFill>
                <a:latin typeface="Aptos"/>
              </a:defRPr>
            </a:pPr>
            <a:r>
              <a:t>Lớp, chủ đề SGK/SGV, bài học theo lớp, mức nhận thức, file nguồn.</a:t>
            </a:r>
          </a:p>
          <a:p>
            <a:pPr>
              <a:spcAft>
                <a:spcPts val="300"/>
              </a:spcAft>
              <a:defRPr sz="1050">
                <a:solidFill>
                  <a:srgbClr val="162B45"/>
                </a:solidFill>
                <a:latin typeface="Aptos"/>
              </a:defRPr>
            </a:pPr>
            <a:r>
              <a:t>Trục dạng câu hỏi/bài tập chưa có file final riêng; cần bổ sung sau nếu HNMU/UET chốt nhãn dạng bài.</a:t>
            </a:r>
          </a:p>
        </p:txBody>
      </p:sp>
      <p:sp>
        <p:nvSpPr>
          <p:cNvPr id="10" name="Rounded Rectangle 9"/>
          <p:cNvSpPr/>
          <p:nvPr/>
        </p:nvSpPr>
        <p:spPr>
          <a:xfrm>
            <a:off x="5486400" y="4251960"/>
            <a:ext cx="4343400" cy="1143000"/>
          </a:xfrm>
          <a:prstGeom prst="roundRect">
            <a:avLst/>
          </a:prstGeom>
          <a:solidFill>
            <a:srgbClr val="FFF6E8"/>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50992" y="4370832"/>
            <a:ext cx="401421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Điều code không tự kết luận</a:t>
            </a:r>
          </a:p>
        </p:txBody>
      </p:sp>
      <p:sp>
        <p:nvSpPr>
          <p:cNvPr id="12" name="TextBox 11"/>
          <p:cNvSpPr txBox="1"/>
          <p:nvPr/>
        </p:nvSpPr>
        <p:spPr>
          <a:xfrm>
            <a:off x="5687568" y="4690872"/>
            <a:ext cx="4032504" cy="640080"/>
          </a:xfrm>
          <a:prstGeom prst="rect">
            <a:avLst/>
          </a:prstGeom>
          <a:noFill/>
        </p:spPr>
        <p:txBody>
          <a:bodyPr wrap="square">
            <a:spAutoFit/>
          </a:bodyPr>
          <a:lstStyle/>
          <a:p>
            <a:pPr>
              <a:spcAft>
                <a:spcPts val="300"/>
              </a:spcAft>
              <a:defRPr sz="1050">
                <a:solidFill>
                  <a:srgbClr val="162B45"/>
                </a:solidFill>
                <a:latin typeface="Aptos"/>
              </a:defRPr>
            </a:pPr>
            <a:r>
              <a:t>Câu hỏi có thực sự khớp học liệu không?</a:t>
            </a:r>
          </a:p>
          <a:p>
            <a:pPr>
              <a:spcAft>
                <a:spcPts val="300"/>
              </a:spcAft>
              <a:defRPr sz="1050">
                <a:solidFill>
                  <a:srgbClr val="162B45"/>
                </a:solidFill>
                <a:latin typeface="Aptos"/>
              </a:defRPr>
            </a:pPr>
            <a:r>
              <a:t>Hội thoại có dàn giáo tốt không?</a:t>
            </a:r>
          </a:p>
          <a:p>
            <a:pPr>
              <a:spcAft>
                <a:spcPts val="300"/>
              </a:spcAft>
              <a:defRPr sz="1050">
                <a:solidFill>
                  <a:srgbClr val="162B45"/>
                </a:solidFill>
                <a:latin typeface="Aptos"/>
              </a:defRPr>
            </a:pPr>
            <a:r>
              <a:t>Đáp án SGV có đủ/đúng theo ngữ cảnh không?</a:t>
            </a:r>
          </a:p>
        </p:txBody>
      </p:sp>
      <p:sp>
        <p:nvSpPr>
          <p:cNvPr id="13" name="TextBox 12"/>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7. Kiểm bằng agent: đọc từng mẫu theo checklist và học liệu liên quan</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Agent đóng vai trò trợ lý kiểm toán, không thay thế phán quyết chuyên môn của HNMU/UET</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1508760" cy="411480"/>
          </a:xfrm>
          <a:prstGeom prst="rect">
            <a:avLst/>
          </a:prstGeom>
          <a:noFill/>
        </p:spPr>
        <p:txBody>
          <a:bodyPr wrap="square" lIns="45720" rIns="45720" tIns="27432" bIns="27432" anchor="t">
            <a:spAutoFit/>
          </a:bodyPr>
          <a:lstStyle/>
          <a:p>
            <a:pPr algn="ctr">
              <a:lnSpc>
                <a:spcPct val="105000"/>
              </a:lnSpc>
            </a:pPr>
            <a:r>
              <a:rPr sz="2300" b="1">
                <a:solidFill>
                  <a:srgbClr val="0B4F8A"/>
                </a:solidFill>
                <a:latin typeface="Aptos"/>
              </a:rPr>
              <a:t>18</a:t>
            </a:r>
          </a:p>
        </p:txBody>
      </p:sp>
      <p:sp>
        <p:nvSpPr>
          <p:cNvPr id="7" name="TextBox 6"/>
          <p:cNvSpPr txBox="1"/>
          <p:nvPr/>
        </p:nvSpPr>
        <p:spPr>
          <a:xfrm>
            <a:off x="822959" y="2084832"/>
            <a:ext cx="1600200" cy="411480"/>
          </a:xfrm>
          <a:prstGeom prst="rect">
            <a:avLst/>
          </a:prstGeom>
          <a:noFill/>
        </p:spPr>
        <p:txBody>
          <a:bodyPr wrap="square" lIns="45720" rIns="45720" tIns="27432" bIns="27432" anchor="t">
            <a:spAutoFit/>
          </a:bodyPr>
          <a:lstStyle/>
          <a:p>
            <a:pPr algn="ctr">
              <a:lnSpc>
                <a:spcPct val="105000"/>
              </a:lnSpc>
            </a:pPr>
            <a:r>
              <a:rPr sz="919" b="0">
                <a:solidFill>
                  <a:srgbClr val="162B45"/>
                </a:solidFill>
                <a:latin typeface="Aptos"/>
              </a:rPr>
              <a:t>tiêu chí cho mỗi mẫu</a:t>
            </a:r>
          </a:p>
        </p:txBody>
      </p:sp>
      <p:sp>
        <p:nvSpPr>
          <p:cNvPr id="8" name="TextBox 7"/>
          <p:cNvSpPr txBox="1"/>
          <p:nvPr/>
        </p:nvSpPr>
        <p:spPr>
          <a:xfrm>
            <a:off x="2423160" y="1691640"/>
            <a:ext cx="1508760" cy="411480"/>
          </a:xfrm>
          <a:prstGeom prst="rect">
            <a:avLst/>
          </a:prstGeom>
          <a:noFill/>
        </p:spPr>
        <p:txBody>
          <a:bodyPr wrap="square" lIns="45720" rIns="45720" tIns="27432" bIns="27432" anchor="t">
            <a:spAutoFit/>
          </a:bodyPr>
          <a:lstStyle/>
          <a:p>
            <a:pPr algn="ctr">
              <a:lnSpc>
                <a:spcPct val="105000"/>
              </a:lnSpc>
            </a:pPr>
            <a:r>
              <a:rPr sz="2300" b="1">
                <a:solidFill>
                  <a:srgbClr val="00A7C8"/>
                </a:solidFill>
                <a:latin typeface="Aptos"/>
              </a:rPr>
              <a:t>18.900</a:t>
            </a:r>
          </a:p>
        </p:txBody>
      </p:sp>
      <p:sp>
        <p:nvSpPr>
          <p:cNvPr id="9" name="TextBox 8"/>
          <p:cNvSpPr txBox="1"/>
          <p:nvPr/>
        </p:nvSpPr>
        <p:spPr>
          <a:xfrm>
            <a:off x="2377440" y="2084832"/>
            <a:ext cx="1600200" cy="411480"/>
          </a:xfrm>
          <a:prstGeom prst="rect">
            <a:avLst/>
          </a:prstGeom>
          <a:noFill/>
        </p:spPr>
        <p:txBody>
          <a:bodyPr wrap="square" lIns="45720" rIns="45720" tIns="27432" bIns="27432" anchor="t">
            <a:spAutoFit/>
          </a:bodyPr>
          <a:lstStyle/>
          <a:p>
            <a:pPr algn="ctr">
              <a:lnSpc>
                <a:spcPct val="105000"/>
              </a:lnSpc>
            </a:pPr>
            <a:r>
              <a:rPr sz="919" b="0">
                <a:solidFill>
                  <a:srgbClr val="162B45"/>
                </a:solidFill>
                <a:latin typeface="Aptos"/>
              </a:rPr>
              <a:t>dòng checklist</a:t>
            </a:r>
          </a:p>
        </p:txBody>
      </p:sp>
      <p:sp>
        <p:nvSpPr>
          <p:cNvPr id="10" name="TextBox 9"/>
          <p:cNvSpPr txBox="1"/>
          <p:nvPr/>
        </p:nvSpPr>
        <p:spPr>
          <a:xfrm>
            <a:off x="4160520" y="1691640"/>
            <a:ext cx="1508760" cy="411480"/>
          </a:xfrm>
          <a:prstGeom prst="rect">
            <a:avLst/>
          </a:prstGeom>
          <a:noFill/>
        </p:spPr>
        <p:txBody>
          <a:bodyPr wrap="square" lIns="45720" rIns="45720" tIns="27432" bIns="27432" anchor="t">
            <a:spAutoFit/>
          </a:bodyPr>
          <a:lstStyle/>
          <a:p>
            <a:pPr algn="ctr">
              <a:lnSpc>
                <a:spcPct val="105000"/>
              </a:lnSpc>
            </a:pPr>
            <a:r>
              <a:rPr sz="2300" b="1">
                <a:solidFill>
                  <a:srgbClr val="F2A720"/>
                </a:solidFill>
                <a:latin typeface="Aptos"/>
              </a:rPr>
              <a:t>385</a:t>
            </a:r>
          </a:p>
        </p:txBody>
      </p:sp>
      <p:sp>
        <p:nvSpPr>
          <p:cNvPr id="11" name="TextBox 10"/>
          <p:cNvSpPr txBox="1"/>
          <p:nvPr/>
        </p:nvSpPr>
        <p:spPr>
          <a:xfrm>
            <a:off x="4114800" y="2084832"/>
            <a:ext cx="1600200" cy="411480"/>
          </a:xfrm>
          <a:prstGeom prst="rect">
            <a:avLst/>
          </a:prstGeom>
          <a:noFill/>
        </p:spPr>
        <p:txBody>
          <a:bodyPr wrap="square" lIns="45720" rIns="45720" tIns="27432" bIns="27432" anchor="t">
            <a:spAutoFit/>
          </a:bodyPr>
          <a:lstStyle/>
          <a:p>
            <a:pPr algn="ctr">
              <a:lnSpc>
                <a:spcPct val="105000"/>
              </a:lnSpc>
            </a:pPr>
            <a:r>
              <a:rPr sz="919" b="0">
                <a:solidFill>
                  <a:srgbClr val="162B45"/>
                </a:solidFill>
                <a:latin typeface="Aptos"/>
              </a:rPr>
              <a:t>mẫu cần review</a:t>
            </a:r>
          </a:p>
        </p:txBody>
      </p:sp>
      <p:sp>
        <p:nvSpPr>
          <p:cNvPr id="12" name="TextBox 11"/>
          <p:cNvSpPr txBox="1"/>
          <p:nvPr/>
        </p:nvSpPr>
        <p:spPr>
          <a:xfrm>
            <a:off x="5715000" y="1691640"/>
            <a:ext cx="1508760" cy="411480"/>
          </a:xfrm>
          <a:prstGeom prst="rect">
            <a:avLst/>
          </a:prstGeom>
          <a:noFill/>
        </p:spPr>
        <p:txBody>
          <a:bodyPr wrap="square" lIns="45720" rIns="45720" tIns="27432" bIns="27432" anchor="t">
            <a:spAutoFit/>
          </a:bodyPr>
          <a:lstStyle/>
          <a:p>
            <a:pPr algn="ctr">
              <a:lnSpc>
                <a:spcPct val="105000"/>
              </a:lnSpc>
            </a:pPr>
            <a:r>
              <a:rPr sz="2300" b="1">
                <a:solidFill>
                  <a:srgbClr val="2EA44F"/>
                </a:solidFill>
                <a:latin typeface="Aptos"/>
              </a:rPr>
              <a:t>4</a:t>
            </a:r>
          </a:p>
        </p:txBody>
      </p:sp>
      <p:sp>
        <p:nvSpPr>
          <p:cNvPr id="13" name="TextBox 12"/>
          <p:cNvSpPr txBox="1"/>
          <p:nvPr/>
        </p:nvSpPr>
        <p:spPr>
          <a:xfrm>
            <a:off x="5669280" y="2084832"/>
            <a:ext cx="1600200" cy="411480"/>
          </a:xfrm>
          <a:prstGeom prst="rect">
            <a:avLst/>
          </a:prstGeom>
          <a:noFill/>
        </p:spPr>
        <p:txBody>
          <a:bodyPr wrap="square" lIns="45720" rIns="45720" tIns="27432" bIns="27432" anchor="t">
            <a:spAutoFit/>
          </a:bodyPr>
          <a:lstStyle/>
          <a:p>
            <a:pPr algn="ctr">
              <a:lnSpc>
                <a:spcPct val="105000"/>
              </a:lnSpc>
            </a:pPr>
            <a:r>
              <a:rPr sz="919" b="0">
                <a:solidFill>
                  <a:srgbClr val="162B45"/>
                </a:solidFill>
                <a:latin typeface="Aptos"/>
              </a:rPr>
              <a:t>lớp đã kiểm</a:t>
            </a:r>
          </a:p>
        </p:txBody>
      </p:sp>
      <p:sp>
        <p:nvSpPr>
          <p:cNvPr id="14" name="Rounded Rectangle 13"/>
          <p:cNvSpPr/>
          <p:nvPr/>
        </p:nvSpPr>
        <p:spPr>
          <a:xfrm>
            <a:off x="868680" y="2971800"/>
            <a:ext cx="4434840" cy="201168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3090672"/>
            <a:ext cx="410565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Agent kiểm những gì?</a:t>
            </a:r>
          </a:p>
        </p:txBody>
      </p:sp>
      <p:sp>
        <p:nvSpPr>
          <p:cNvPr id="16" name="TextBox 15"/>
          <p:cNvSpPr txBox="1"/>
          <p:nvPr/>
        </p:nvSpPr>
        <p:spPr>
          <a:xfrm>
            <a:off x="1069848" y="3410712"/>
            <a:ext cx="4123944" cy="1508760"/>
          </a:xfrm>
          <a:prstGeom prst="rect">
            <a:avLst/>
          </a:prstGeom>
          <a:noFill/>
        </p:spPr>
        <p:txBody>
          <a:bodyPr wrap="square">
            <a:spAutoFit/>
          </a:bodyPr>
          <a:lstStyle/>
          <a:p>
            <a:pPr>
              <a:spcAft>
                <a:spcPts val="300"/>
              </a:spcAft>
              <a:defRPr sz="1050">
                <a:solidFill>
                  <a:srgbClr val="162B45"/>
                </a:solidFill>
                <a:latin typeface="Aptos"/>
              </a:defRPr>
            </a:pPr>
            <a:r>
              <a:t>Câu hỏi có khớp bài/vị trí trong SGK/SGV không.</a:t>
            </a:r>
          </a:p>
          <a:p>
            <a:pPr>
              <a:spcAft>
                <a:spcPts val="300"/>
              </a:spcAft>
              <a:defRPr sz="1050">
                <a:solidFill>
                  <a:srgbClr val="162B45"/>
                </a:solidFill>
                <a:latin typeface="Aptos"/>
              </a:defRPr>
            </a:pPr>
            <a:r>
              <a:t>Đáp án SGV có khớp câu hỏi không.</a:t>
            </a:r>
          </a:p>
          <a:p>
            <a:pPr>
              <a:spcAft>
                <a:spcPts val="300"/>
              </a:spcAft>
              <a:defRPr sz="1050">
                <a:solidFill>
                  <a:srgbClr val="162B45"/>
                </a:solidFill>
                <a:latin typeface="Aptos"/>
              </a:defRPr>
            </a:pPr>
            <a:r>
              <a:t>Hội thoại có bám câu hỏi và đáp án không.</a:t>
            </a:r>
          </a:p>
          <a:p>
            <a:pPr>
              <a:spcAft>
                <a:spcPts val="300"/>
              </a:spcAft>
              <a:defRPr sz="1050">
                <a:solidFill>
                  <a:srgbClr val="162B45"/>
                </a:solidFill>
                <a:latin typeface="Aptos"/>
              </a:defRPr>
            </a:pPr>
            <a:r>
              <a:t>Mức nhận thức có hợp lý không.</a:t>
            </a:r>
          </a:p>
          <a:p>
            <a:pPr>
              <a:spcAft>
                <a:spcPts val="300"/>
              </a:spcAft>
              <a:defRPr sz="1050">
                <a:solidFill>
                  <a:srgbClr val="162B45"/>
                </a:solidFill>
                <a:latin typeface="Aptos"/>
              </a:defRPr>
            </a:pPr>
            <a:r>
              <a:t>Có dấu hiệu dàn giáo, không lộ đáp án quá sớm, ngôn ngữ phù hợp THCS không.</a:t>
            </a:r>
          </a:p>
        </p:txBody>
      </p:sp>
      <p:sp>
        <p:nvSpPr>
          <p:cNvPr id="17" name="Rounded Rectangle 16"/>
          <p:cNvSpPr/>
          <p:nvPr/>
        </p:nvSpPr>
        <p:spPr>
          <a:xfrm>
            <a:off x="5532120" y="2971800"/>
            <a:ext cx="4434840" cy="201168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96712" y="3090672"/>
            <a:ext cx="410565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Cách agent đưa ra kết luận</a:t>
            </a:r>
          </a:p>
        </p:txBody>
      </p:sp>
      <p:sp>
        <p:nvSpPr>
          <p:cNvPr id="19" name="TextBox 18"/>
          <p:cNvSpPr txBox="1"/>
          <p:nvPr/>
        </p:nvSpPr>
        <p:spPr>
          <a:xfrm>
            <a:off x="5733288" y="3410712"/>
            <a:ext cx="4123944" cy="1508760"/>
          </a:xfrm>
          <a:prstGeom prst="rect">
            <a:avLst/>
          </a:prstGeom>
          <a:noFill/>
        </p:spPr>
        <p:txBody>
          <a:bodyPr wrap="square">
            <a:spAutoFit/>
          </a:bodyPr>
          <a:lstStyle/>
          <a:p>
            <a:pPr>
              <a:spcAft>
                <a:spcPts val="300"/>
              </a:spcAft>
              <a:defRPr sz="1050">
                <a:solidFill>
                  <a:srgbClr val="162B45"/>
                </a:solidFill>
                <a:latin typeface="Aptos"/>
              </a:defRPr>
            </a:pPr>
            <a:r>
              <a:t>Mỗi tiêu chí có quyết định: đạt, không đạt, chưa chắc, hoặc không áp dụng.</a:t>
            </a:r>
          </a:p>
          <a:p>
            <a:pPr>
              <a:spcAft>
                <a:spcPts val="300"/>
              </a:spcAft>
              <a:defRPr sz="1050">
                <a:solidFill>
                  <a:srgbClr val="162B45"/>
                </a:solidFill>
                <a:latin typeface="Aptos"/>
              </a:defRPr>
            </a:pPr>
            <a:r>
              <a:t>Nếu một tiêu chí không đạt → mẫu tổng thể là không đạt.</a:t>
            </a:r>
          </a:p>
          <a:p>
            <a:pPr>
              <a:spcAft>
                <a:spcPts val="300"/>
              </a:spcAft>
              <a:defRPr sz="1050">
                <a:solidFill>
                  <a:srgbClr val="162B45"/>
                </a:solidFill>
                <a:latin typeface="Aptos"/>
              </a:defRPr>
            </a:pPr>
            <a:r>
              <a:t>Nếu chưa có lỗi rõ nhưng còn tiêu chí chưa chắc → đưa vào hàng đợi HNMU/UET xem lại.</a:t>
            </a:r>
          </a:p>
          <a:p>
            <a:pPr>
              <a:spcAft>
                <a:spcPts val="300"/>
              </a:spcAft>
              <a:defRPr sz="1050">
                <a:solidFill>
                  <a:srgbClr val="162B45"/>
                </a:solidFill>
                <a:latin typeface="Aptos"/>
              </a:defRPr>
            </a:pPr>
            <a:r>
              <a:t>Mỗi kết luận giữ lại lý do và bằng chứng học liệu nếu tìm được.</a:t>
            </a:r>
          </a:p>
        </p:txBody>
      </p:sp>
      <p:sp>
        <p:nvSpPr>
          <p:cNvPr id="20" name="TextBox 19"/>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8. Kết quả kiểm toán V0 — dữ liệu lớp 6–7</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462 mẫu, đã kiểm cả bằng code và checklist agent</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822960" y="1691640"/>
          <a:ext cx="4206240" cy="1554480"/>
        </p:xfrm>
        <a:graphic>
          <a:graphicData uri="http://schemas.openxmlformats.org/drawingml/2006/table">
            <a:tbl>
              <a:tblPr firstRow="1" bandRow="1">
                <a:tableStyleId>{5C22544A-7EE6-4342-B048-85BDC9FD1C3A}</a:tableStyleId>
              </a:tblPr>
              <a:tblGrid>
                <a:gridCol w="1402080"/>
                <a:gridCol w="1402080"/>
                <a:gridCol w="1402080"/>
              </a:tblGrid>
              <a:tr h="388620">
                <a:tc>
                  <a:txBody>
                    <a:bodyPr/>
                    <a:lstStyle/>
                    <a:p>
                      <a:pPr algn="ctr"/>
                      <a:r>
                        <a:rPr sz="1200" b="1">
                          <a:solidFill>
                            <a:srgbClr val="FFFFFF"/>
                          </a:solidFill>
                          <a:latin typeface="Aptos"/>
                        </a:rPr>
                        <a:t>Kết luận</a:t>
                      </a:r>
                    </a:p>
                  </a:txBody>
                  <a:tcPr>
                    <a:solidFill>
                      <a:srgbClr val="0B4F8A"/>
                    </a:solidFill>
                  </a:tcPr>
                </a:tc>
                <a:tc>
                  <a:txBody>
                    <a:bodyPr/>
                    <a:lstStyle/>
                    <a:p>
                      <a:pPr algn="ctr"/>
                      <a:r>
                        <a:rPr sz="1200" b="1">
                          <a:solidFill>
                            <a:srgbClr val="FFFFFF"/>
                          </a:solidFill>
                          <a:latin typeface="Aptos"/>
                        </a:rPr>
                        <a:t>Số mẫu</a:t>
                      </a:r>
                    </a:p>
                  </a:txBody>
                  <a:tcPr>
                    <a:solidFill>
                      <a:srgbClr val="0B4F8A"/>
                    </a:solidFill>
                  </a:tcPr>
                </a:tc>
                <a:tc>
                  <a:txBody>
                    <a:bodyPr/>
                    <a:lstStyle/>
                    <a:p>
                      <a:pPr algn="ctr"/>
                      <a:r>
                        <a:rPr sz="1200" b="1">
                          <a:solidFill>
                            <a:srgbClr val="FFFFFF"/>
                          </a:solidFill>
                          <a:latin typeface="Aptos"/>
                        </a:rPr>
                        <a:t>Tỉ lệ</a:t>
                      </a:r>
                    </a:p>
                  </a:txBody>
                  <a:tcPr>
                    <a:solidFill>
                      <a:srgbClr val="0B4F8A"/>
                    </a:solidFill>
                  </a:tcPr>
                </a:tc>
              </a:tr>
              <a:tr h="388620">
                <a:tc>
                  <a:txBody>
                    <a:bodyPr/>
                    <a:lstStyle/>
                    <a:p>
                      <a:pPr algn="l"/>
                      <a:r>
                        <a:rPr sz="1200">
                          <a:solidFill>
                            <a:srgbClr val="162B45"/>
                          </a:solidFill>
                          <a:latin typeface="Aptos"/>
                        </a:rPr>
                        <a:t>Đạt sơ bộ</a:t>
                      </a:r>
                    </a:p>
                  </a:txBody>
                  <a:tcPr>
                    <a:solidFill>
                      <a:srgbClr val="FFFFFF"/>
                    </a:solidFill>
                  </a:tcPr>
                </a:tc>
                <a:tc>
                  <a:txBody>
                    <a:bodyPr/>
                    <a:lstStyle/>
                    <a:p>
                      <a:pPr algn="ctr"/>
                      <a:r>
                        <a:rPr sz="1200">
                          <a:solidFill>
                            <a:srgbClr val="162B45"/>
                          </a:solidFill>
                          <a:latin typeface="Aptos"/>
                        </a:rPr>
                        <a:t>238</a:t>
                      </a:r>
                    </a:p>
                  </a:txBody>
                  <a:tcPr>
                    <a:solidFill>
                      <a:srgbClr val="FFFFFF"/>
                    </a:solidFill>
                  </a:tcPr>
                </a:tc>
                <a:tc>
                  <a:txBody>
                    <a:bodyPr/>
                    <a:lstStyle/>
                    <a:p>
                      <a:pPr algn="ctr"/>
                      <a:r>
                        <a:rPr sz="1200">
                          <a:solidFill>
                            <a:srgbClr val="162B45"/>
                          </a:solidFill>
                          <a:latin typeface="Aptos"/>
                        </a:rPr>
                        <a:t>51.5%</a:t>
                      </a:r>
                    </a:p>
                  </a:txBody>
                  <a:tcPr>
                    <a:solidFill>
                      <a:srgbClr val="FFFFFF"/>
                    </a:solidFill>
                  </a:tcPr>
                </a:tc>
              </a:tr>
              <a:tr h="388620">
                <a:tc>
                  <a:txBody>
                    <a:bodyPr/>
                    <a:lstStyle/>
                    <a:p>
                      <a:pPr algn="l"/>
                      <a:r>
                        <a:rPr sz="1200">
                          <a:solidFill>
                            <a:srgbClr val="162B45"/>
                          </a:solidFill>
                          <a:latin typeface="Aptos"/>
                        </a:rPr>
                        <a:t>Cần HNMU/UET xem lại</a:t>
                      </a:r>
                    </a:p>
                  </a:txBody>
                  <a:tcPr>
                    <a:solidFill>
                      <a:srgbClr val="F4F8FB"/>
                    </a:solidFill>
                  </a:tcPr>
                </a:tc>
                <a:tc>
                  <a:txBody>
                    <a:bodyPr/>
                    <a:lstStyle/>
                    <a:p>
                      <a:pPr algn="ctr"/>
                      <a:r>
                        <a:rPr sz="1200">
                          <a:solidFill>
                            <a:srgbClr val="162B45"/>
                          </a:solidFill>
                          <a:latin typeface="Aptos"/>
                        </a:rPr>
                        <a:t>222</a:t>
                      </a:r>
                    </a:p>
                  </a:txBody>
                  <a:tcPr>
                    <a:solidFill>
                      <a:srgbClr val="F4F8FB"/>
                    </a:solidFill>
                  </a:tcPr>
                </a:tc>
                <a:tc>
                  <a:txBody>
                    <a:bodyPr/>
                    <a:lstStyle/>
                    <a:p>
                      <a:pPr algn="ctr"/>
                      <a:r>
                        <a:rPr sz="1200">
                          <a:solidFill>
                            <a:srgbClr val="162B45"/>
                          </a:solidFill>
                          <a:latin typeface="Aptos"/>
                        </a:rPr>
                        <a:t>48.1%</a:t>
                      </a:r>
                    </a:p>
                  </a:txBody>
                  <a:tcPr>
                    <a:solidFill>
                      <a:srgbClr val="F4F8FB"/>
                    </a:solidFill>
                  </a:tcPr>
                </a:tc>
              </a:tr>
              <a:tr h="388620">
                <a:tc>
                  <a:txBody>
                    <a:bodyPr/>
                    <a:lstStyle/>
                    <a:p>
                      <a:pPr algn="l"/>
                      <a:r>
                        <a:rPr sz="1200">
                          <a:solidFill>
                            <a:srgbClr val="162B45"/>
                          </a:solidFill>
                          <a:latin typeface="Aptos"/>
                        </a:rPr>
                        <a:t>Không đạt</a:t>
                      </a:r>
                    </a:p>
                  </a:txBody>
                  <a:tcPr>
                    <a:solidFill>
                      <a:srgbClr val="FFFFFF"/>
                    </a:solidFill>
                  </a:tcPr>
                </a:tc>
                <a:tc>
                  <a:txBody>
                    <a:bodyPr/>
                    <a:lstStyle/>
                    <a:p>
                      <a:pPr algn="ctr"/>
                      <a:r>
                        <a:rPr sz="1200">
                          <a:solidFill>
                            <a:srgbClr val="162B45"/>
                          </a:solidFill>
                          <a:latin typeface="Aptos"/>
                        </a:rPr>
                        <a:t>2</a:t>
                      </a:r>
                    </a:p>
                  </a:txBody>
                  <a:tcPr>
                    <a:solidFill>
                      <a:srgbClr val="FFFFFF"/>
                    </a:solidFill>
                  </a:tcPr>
                </a:tc>
                <a:tc>
                  <a:txBody>
                    <a:bodyPr/>
                    <a:lstStyle/>
                    <a:p>
                      <a:pPr algn="ctr"/>
                      <a:r>
                        <a:rPr sz="1200">
                          <a:solidFill>
                            <a:srgbClr val="162B45"/>
                          </a:solidFill>
                          <a:latin typeface="Aptos"/>
                        </a:rPr>
                        <a:t>0.4%</a:t>
                      </a:r>
                    </a:p>
                  </a:txBody>
                  <a:tcPr>
                    <a:solidFill>
                      <a:srgbClr val="FFFFFF"/>
                    </a:solidFill>
                  </a:tcPr>
                </a:tc>
              </a:tr>
            </a:tbl>
          </a:graphicData>
        </a:graphic>
      </p:graphicFrame>
      <p:sp>
        <p:nvSpPr>
          <p:cNvPr id="7" name="Rounded Rectangle 6"/>
          <p:cNvSpPr/>
          <p:nvPr/>
        </p:nvSpPr>
        <p:spPr>
          <a:xfrm>
            <a:off x="5486400" y="1691640"/>
            <a:ext cx="4343400" cy="1554480"/>
          </a:xfrm>
          <a:prstGeom prst="roundRect">
            <a:avLst/>
          </a:prstGeom>
          <a:solidFill>
            <a:srgbClr val="F4F8FB"/>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50992" y="1810512"/>
            <a:ext cx="401421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Điểm đáng chú ý</a:t>
            </a:r>
          </a:p>
        </p:txBody>
      </p:sp>
      <p:sp>
        <p:nvSpPr>
          <p:cNvPr id="9" name="TextBox 8"/>
          <p:cNvSpPr txBox="1"/>
          <p:nvPr/>
        </p:nvSpPr>
        <p:spPr>
          <a:xfrm>
            <a:off x="5687568" y="2130552"/>
            <a:ext cx="4032504" cy="1051560"/>
          </a:xfrm>
          <a:prstGeom prst="rect">
            <a:avLst/>
          </a:prstGeom>
          <a:noFill/>
        </p:spPr>
        <p:txBody>
          <a:bodyPr wrap="square">
            <a:spAutoFit/>
          </a:bodyPr>
          <a:lstStyle/>
          <a:p>
            <a:pPr>
              <a:spcAft>
                <a:spcPts val="300"/>
              </a:spcAft>
              <a:defRPr sz="1050">
                <a:solidFill>
                  <a:srgbClr val="162B45"/>
                </a:solidFill>
                <a:latin typeface="Aptos"/>
              </a:defRPr>
            </a:pPr>
            <a:r>
              <a:t>Không phát hiện cặp trùng/gần trùng trong gói kết quả chính.</a:t>
            </a:r>
          </a:p>
          <a:p>
            <a:pPr>
              <a:spcAft>
                <a:spcPts val="300"/>
              </a:spcAft>
              <a:defRPr sz="1050">
                <a:solidFill>
                  <a:srgbClr val="162B45"/>
                </a:solidFill>
                <a:latin typeface="Aptos"/>
              </a:defRPr>
            </a:pPr>
            <a:r>
              <a:t>Có 2 dòng thiếu trường/lỗi cơ học cần xem lại.</a:t>
            </a:r>
          </a:p>
          <a:p>
            <a:pPr>
              <a:spcAft>
                <a:spcPts val="300"/>
              </a:spcAft>
              <a:defRPr sz="1050">
                <a:solidFill>
                  <a:srgbClr val="162B45"/>
                </a:solidFill>
                <a:latin typeface="Aptos"/>
              </a:defRPr>
            </a:pPr>
            <a:r>
              <a:t>Hàng đợi review sau agent: 224 mẫu.</a:t>
            </a:r>
          </a:p>
        </p:txBody>
      </p:sp>
      <p:sp>
        <p:nvSpPr>
          <p:cNvPr id="10" name="Rounded Rectangle 9"/>
          <p:cNvSpPr/>
          <p:nvPr/>
        </p:nvSpPr>
        <p:spPr>
          <a:xfrm>
            <a:off x="822960" y="3794760"/>
            <a:ext cx="4526280" cy="128016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913632"/>
            <a:ext cx="419709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Cách đọc kết quả</a:t>
            </a:r>
          </a:p>
        </p:txBody>
      </p:sp>
      <p:sp>
        <p:nvSpPr>
          <p:cNvPr id="12" name="TextBox 11"/>
          <p:cNvSpPr txBox="1"/>
          <p:nvPr/>
        </p:nvSpPr>
        <p:spPr>
          <a:xfrm>
            <a:off x="1024128" y="4233672"/>
            <a:ext cx="4215384" cy="777239"/>
          </a:xfrm>
          <a:prstGeom prst="rect">
            <a:avLst/>
          </a:prstGeom>
          <a:noFill/>
        </p:spPr>
        <p:txBody>
          <a:bodyPr wrap="square">
            <a:spAutoFit/>
          </a:bodyPr>
          <a:lstStyle/>
          <a:p>
            <a:pPr>
              <a:spcAft>
                <a:spcPts val="300"/>
              </a:spcAft>
              <a:defRPr sz="1050">
                <a:solidFill>
                  <a:srgbClr val="162B45"/>
                </a:solidFill>
                <a:latin typeface="Aptos"/>
              </a:defRPr>
            </a:pPr>
            <a:r>
              <a:t>File cấp mẫu chính: `quality_check_suggestions.csv`.</a:t>
            </a:r>
          </a:p>
          <a:p>
            <a:pPr>
              <a:spcAft>
                <a:spcPts val="300"/>
              </a:spcAft>
              <a:defRPr sz="1050">
                <a:solidFill>
                  <a:srgbClr val="162B45"/>
                </a:solidFill>
                <a:latin typeface="Aptos"/>
              </a:defRPr>
            </a:pPr>
            <a:r>
              <a:t>File lý do chi tiết: checklist 18 tiêu chí/mẫu.</a:t>
            </a:r>
          </a:p>
          <a:p>
            <a:pPr>
              <a:spcAft>
                <a:spcPts val="300"/>
              </a:spcAft>
              <a:defRPr sz="1050">
                <a:solidFill>
                  <a:srgbClr val="162B45"/>
                </a:solidFill>
                <a:latin typeface="Aptos"/>
              </a:defRPr>
            </a:pPr>
            <a:r>
              <a:t>Các mẫu cần xem lại không có nghĩa là sai; nhiều mẫu chỉ thiếu bằng chứng hoặc còn mơ hồ.</a:t>
            </a:r>
          </a:p>
        </p:txBody>
      </p:sp>
      <p:sp>
        <p:nvSpPr>
          <p:cNvPr id="13" name="Rounded Rectangle 12"/>
          <p:cNvSpPr/>
          <p:nvPr/>
        </p:nvSpPr>
        <p:spPr>
          <a:xfrm>
            <a:off x="5623560" y="3794760"/>
            <a:ext cx="4206240" cy="128016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88152" y="3913632"/>
            <a:ext cx="387705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Thông điệp cho HNMU</a:t>
            </a:r>
          </a:p>
        </p:txBody>
      </p:sp>
      <p:sp>
        <p:nvSpPr>
          <p:cNvPr id="15" name="TextBox 14"/>
          <p:cNvSpPr txBox="1"/>
          <p:nvPr/>
        </p:nvSpPr>
        <p:spPr>
          <a:xfrm>
            <a:off x="5824728" y="4233672"/>
            <a:ext cx="3895344" cy="777239"/>
          </a:xfrm>
          <a:prstGeom prst="rect">
            <a:avLst/>
          </a:prstGeom>
          <a:noFill/>
        </p:spPr>
        <p:txBody>
          <a:bodyPr wrap="square">
            <a:spAutoFit/>
          </a:bodyPr>
          <a:lstStyle/>
          <a:p>
            <a:pPr>
              <a:spcAft>
                <a:spcPts val="300"/>
              </a:spcAft>
              <a:defRPr sz="1050">
                <a:solidFill>
                  <a:srgbClr val="162B45"/>
                </a:solidFill>
                <a:latin typeface="Aptos"/>
              </a:defRPr>
            </a:pPr>
            <a:r>
              <a:t>Batch lớp 6–7 đã đủ cấu trúc để review có hệ thống.</a:t>
            </a:r>
          </a:p>
          <a:p>
            <a:pPr>
              <a:spcAft>
                <a:spcPts val="300"/>
              </a:spcAft>
              <a:defRPr sz="1050">
                <a:solidFill>
                  <a:srgbClr val="162B45"/>
                </a:solidFill>
                <a:latin typeface="Aptos"/>
              </a:defRPr>
            </a:pPr>
            <a:r>
              <a:t>Cần ưu tiên xem 224 mẫu trong hàng đợi thay vì đọc lại toàn bộ 462 mẫu từ đầu.</a:t>
            </a:r>
          </a:p>
        </p:txBody>
      </p:sp>
      <p:sp>
        <p:nvSpPr>
          <p:cNvPr id="16" name="TextBox 15"/>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9. Kết quả kiểm toán V0 — dữ liệu lớp 8–9</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588 mẫu, đã sửa đồng bộ mapping bài học và chuẩn hóa kết luận</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822960" y="1691640"/>
          <a:ext cx="4206240" cy="1554480"/>
        </p:xfrm>
        <a:graphic>
          <a:graphicData uri="http://schemas.openxmlformats.org/drawingml/2006/table">
            <a:tbl>
              <a:tblPr firstRow="1" bandRow="1">
                <a:tableStyleId>{5C22544A-7EE6-4342-B048-85BDC9FD1C3A}</a:tableStyleId>
              </a:tblPr>
              <a:tblGrid>
                <a:gridCol w="1402080"/>
                <a:gridCol w="1402080"/>
                <a:gridCol w="1402080"/>
              </a:tblGrid>
              <a:tr h="388620">
                <a:tc>
                  <a:txBody>
                    <a:bodyPr/>
                    <a:lstStyle/>
                    <a:p>
                      <a:pPr algn="ctr"/>
                      <a:r>
                        <a:rPr sz="1200" b="1">
                          <a:solidFill>
                            <a:srgbClr val="FFFFFF"/>
                          </a:solidFill>
                          <a:latin typeface="Aptos"/>
                        </a:rPr>
                        <a:t>Kết luận</a:t>
                      </a:r>
                    </a:p>
                  </a:txBody>
                  <a:tcPr>
                    <a:solidFill>
                      <a:srgbClr val="0B4F8A"/>
                    </a:solidFill>
                  </a:tcPr>
                </a:tc>
                <a:tc>
                  <a:txBody>
                    <a:bodyPr/>
                    <a:lstStyle/>
                    <a:p>
                      <a:pPr algn="ctr"/>
                      <a:r>
                        <a:rPr sz="1200" b="1">
                          <a:solidFill>
                            <a:srgbClr val="FFFFFF"/>
                          </a:solidFill>
                          <a:latin typeface="Aptos"/>
                        </a:rPr>
                        <a:t>Số mẫu</a:t>
                      </a:r>
                    </a:p>
                  </a:txBody>
                  <a:tcPr>
                    <a:solidFill>
                      <a:srgbClr val="0B4F8A"/>
                    </a:solidFill>
                  </a:tcPr>
                </a:tc>
                <a:tc>
                  <a:txBody>
                    <a:bodyPr/>
                    <a:lstStyle/>
                    <a:p>
                      <a:pPr algn="ctr"/>
                      <a:r>
                        <a:rPr sz="1200" b="1">
                          <a:solidFill>
                            <a:srgbClr val="FFFFFF"/>
                          </a:solidFill>
                          <a:latin typeface="Aptos"/>
                        </a:rPr>
                        <a:t>Tỉ lệ</a:t>
                      </a:r>
                    </a:p>
                  </a:txBody>
                  <a:tcPr>
                    <a:solidFill>
                      <a:srgbClr val="0B4F8A"/>
                    </a:solidFill>
                  </a:tcPr>
                </a:tc>
              </a:tr>
              <a:tr h="388620">
                <a:tc>
                  <a:txBody>
                    <a:bodyPr/>
                    <a:lstStyle/>
                    <a:p>
                      <a:pPr algn="l"/>
                      <a:r>
                        <a:rPr sz="1200">
                          <a:solidFill>
                            <a:srgbClr val="162B45"/>
                          </a:solidFill>
                          <a:latin typeface="Aptos"/>
                        </a:rPr>
                        <a:t>Đạt sơ bộ</a:t>
                      </a:r>
                    </a:p>
                  </a:txBody>
                  <a:tcPr>
                    <a:solidFill>
                      <a:srgbClr val="FFFFFF"/>
                    </a:solidFill>
                  </a:tcPr>
                </a:tc>
                <a:tc>
                  <a:txBody>
                    <a:bodyPr/>
                    <a:lstStyle/>
                    <a:p>
                      <a:pPr algn="ctr"/>
                      <a:r>
                        <a:rPr sz="1200">
                          <a:solidFill>
                            <a:srgbClr val="162B45"/>
                          </a:solidFill>
                          <a:latin typeface="Aptos"/>
                        </a:rPr>
                        <a:t>427</a:t>
                      </a:r>
                    </a:p>
                  </a:txBody>
                  <a:tcPr>
                    <a:solidFill>
                      <a:srgbClr val="FFFFFF"/>
                    </a:solidFill>
                  </a:tcPr>
                </a:tc>
                <a:tc>
                  <a:txBody>
                    <a:bodyPr/>
                    <a:lstStyle/>
                    <a:p>
                      <a:pPr algn="ctr"/>
                      <a:r>
                        <a:rPr sz="1200">
                          <a:solidFill>
                            <a:srgbClr val="162B45"/>
                          </a:solidFill>
                          <a:latin typeface="Aptos"/>
                        </a:rPr>
                        <a:t>72.6%</a:t>
                      </a:r>
                    </a:p>
                  </a:txBody>
                  <a:tcPr>
                    <a:solidFill>
                      <a:srgbClr val="FFFFFF"/>
                    </a:solidFill>
                  </a:tcPr>
                </a:tc>
              </a:tr>
              <a:tr h="388620">
                <a:tc>
                  <a:txBody>
                    <a:bodyPr/>
                    <a:lstStyle/>
                    <a:p>
                      <a:pPr algn="l"/>
                      <a:r>
                        <a:rPr sz="1200">
                          <a:solidFill>
                            <a:srgbClr val="162B45"/>
                          </a:solidFill>
                          <a:latin typeface="Aptos"/>
                        </a:rPr>
                        <a:t>Cần HNMU/UET xem lại</a:t>
                      </a:r>
                    </a:p>
                  </a:txBody>
                  <a:tcPr>
                    <a:solidFill>
                      <a:srgbClr val="F4F8FB"/>
                    </a:solidFill>
                  </a:tcPr>
                </a:tc>
                <a:tc>
                  <a:txBody>
                    <a:bodyPr/>
                    <a:lstStyle/>
                    <a:p>
                      <a:pPr algn="ctr"/>
                      <a:r>
                        <a:rPr sz="1200">
                          <a:solidFill>
                            <a:srgbClr val="162B45"/>
                          </a:solidFill>
                          <a:latin typeface="Aptos"/>
                        </a:rPr>
                        <a:t>160</a:t>
                      </a:r>
                    </a:p>
                  </a:txBody>
                  <a:tcPr>
                    <a:solidFill>
                      <a:srgbClr val="F4F8FB"/>
                    </a:solidFill>
                  </a:tcPr>
                </a:tc>
                <a:tc>
                  <a:txBody>
                    <a:bodyPr/>
                    <a:lstStyle/>
                    <a:p>
                      <a:pPr algn="ctr"/>
                      <a:r>
                        <a:rPr sz="1200">
                          <a:solidFill>
                            <a:srgbClr val="162B45"/>
                          </a:solidFill>
                          <a:latin typeface="Aptos"/>
                        </a:rPr>
                        <a:t>27.2%</a:t>
                      </a:r>
                    </a:p>
                  </a:txBody>
                  <a:tcPr>
                    <a:solidFill>
                      <a:srgbClr val="F4F8FB"/>
                    </a:solidFill>
                  </a:tcPr>
                </a:tc>
              </a:tr>
              <a:tr h="388620">
                <a:tc>
                  <a:txBody>
                    <a:bodyPr/>
                    <a:lstStyle/>
                    <a:p>
                      <a:pPr algn="l"/>
                      <a:r>
                        <a:rPr sz="1200">
                          <a:solidFill>
                            <a:srgbClr val="162B45"/>
                          </a:solidFill>
                          <a:latin typeface="Aptos"/>
                        </a:rPr>
                        <a:t>Không đạt</a:t>
                      </a:r>
                    </a:p>
                  </a:txBody>
                  <a:tcPr>
                    <a:solidFill>
                      <a:srgbClr val="FFFFFF"/>
                    </a:solidFill>
                  </a:tcPr>
                </a:tc>
                <a:tc>
                  <a:txBody>
                    <a:bodyPr/>
                    <a:lstStyle/>
                    <a:p>
                      <a:pPr algn="ctr"/>
                      <a:r>
                        <a:rPr sz="1200">
                          <a:solidFill>
                            <a:srgbClr val="162B45"/>
                          </a:solidFill>
                          <a:latin typeface="Aptos"/>
                        </a:rPr>
                        <a:t>1</a:t>
                      </a:r>
                    </a:p>
                  </a:txBody>
                  <a:tcPr>
                    <a:solidFill>
                      <a:srgbClr val="FFFFFF"/>
                    </a:solidFill>
                  </a:tcPr>
                </a:tc>
                <a:tc>
                  <a:txBody>
                    <a:bodyPr/>
                    <a:lstStyle/>
                    <a:p>
                      <a:pPr algn="ctr"/>
                      <a:r>
                        <a:rPr sz="1200">
                          <a:solidFill>
                            <a:srgbClr val="162B45"/>
                          </a:solidFill>
                          <a:latin typeface="Aptos"/>
                        </a:rPr>
                        <a:t>0.2%</a:t>
                      </a:r>
                    </a:p>
                  </a:txBody>
                  <a:tcPr>
                    <a:solidFill>
                      <a:srgbClr val="FFFFFF"/>
                    </a:solidFill>
                  </a:tcPr>
                </a:tc>
              </a:tr>
            </a:tbl>
          </a:graphicData>
        </a:graphic>
      </p:graphicFrame>
      <p:sp>
        <p:nvSpPr>
          <p:cNvPr id="7" name="Rounded Rectangle 6"/>
          <p:cNvSpPr/>
          <p:nvPr/>
        </p:nvSpPr>
        <p:spPr>
          <a:xfrm>
            <a:off x="5486400" y="1691640"/>
            <a:ext cx="4343400" cy="1554480"/>
          </a:xfrm>
          <a:prstGeom prst="roundRect">
            <a:avLst/>
          </a:prstGeom>
          <a:solidFill>
            <a:srgbClr val="F4F8FB"/>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50992" y="1810512"/>
            <a:ext cx="401421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Điểm đáng chú ý</a:t>
            </a:r>
          </a:p>
        </p:txBody>
      </p:sp>
      <p:sp>
        <p:nvSpPr>
          <p:cNvPr id="9" name="TextBox 8"/>
          <p:cNvSpPr txBox="1"/>
          <p:nvPr/>
        </p:nvSpPr>
        <p:spPr>
          <a:xfrm>
            <a:off x="5687568" y="2130552"/>
            <a:ext cx="4032504" cy="1051560"/>
          </a:xfrm>
          <a:prstGeom prst="rect">
            <a:avLst/>
          </a:prstGeom>
          <a:noFill/>
        </p:spPr>
        <p:txBody>
          <a:bodyPr wrap="square">
            <a:spAutoFit/>
          </a:bodyPr>
          <a:lstStyle/>
          <a:p>
            <a:pPr>
              <a:spcAft>
                <a:spcPts val="300"/>
              </a:spcAft>
              <a:defRPr sz="1050">
                <a:solidFill>
                  <a:srgbClr val="162B45"/>
                </a:solidFill>
                <a:latin typeface="Aptos"/>
              </a:defRPr>
            </a:pPr>
            <a:r>
              <a:t>Sau cập nhật mapping, không còn nhóm “Không rõ chủ đề” trong coverage.</a:t>
            </a:r>
          </a:p>
          <a:p>
            <a:pPr>
              <a:spcAft>
                <a:spcPts val="300"/>
              </a:spcAft>
              <a:defRPr sz="1050">
                <a:solidFill>
                  <a:srgbClr val="162B45"/>
                </a:solidFill>
                <a:latin typeface="Aptos"/>
              </a:defRPr>
            </a:pPr>
            <a:r>
              <a:t>Có 1 cặp ứng viên trùng/gần trùng.</a:t>
            </a:r>
          </a:p>
          <a:p>
            <a:pPr>
              <a:spcAft>
                <a:spcPts val="300"/>
              </a:spcAft>
              <a:defRPr sz="1050">
                <a:solidFill>
                  <a:srgbClr val="162B45"/>
                </a:solidFill>
                <a:latin typeface="Aptos"/>
              </a:defRPr>
            </a:pPr>
            <a:r>
              <a:t>Có 19 mẫu chưa rõ mức nhận thức trong thống kê coverage.</a:t>
            </a:r>
          </a:p>
        </p:txBody>
      </p:sp>
      <p:sp>
        <p:nvSpPr>
          <p:cNvPr id="10" name="Rounded Rectangle 9"/>
          <p:cNvSpPr/>
          <p:nvPr/>
        </p:nvSpPr>
        <p:spPr>
          <a:xfrm>
            <a:off x="822960" y="3794760"/>
            <a:ext cx="4526280" cy="128016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913632"/>
            <a:ext cx="419709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Kết quả agent</a:t>
            </a:r>
          </a:p>
        </p:txBody>
      </p:sp>
      <p:sp>
        <p:nvSpPr>
          <p:cNvPr id="12" name="TextBox 11"/>
          <p:cNvSpPr txBox="1"/>
          <p:nvPr/>
        </p:nvSpPr>
        <p:spPr>
          <a:xfrm>
            <a:off x="1024128" y="4233672"/>
            <a:ext cx="4215384" cy="777239"/>
          </a:xfrm>
          <a:prstGeom prst="rect">
            <a:avLst/>
          </a:prstGeom>
          <a:noFill/>
        </p:spPr>
        <p:txBody>
          <a:bodyPr wrap="square">
            <a:spAutoFit/>
          </a:bodyPr>
          <a:lstStyle/>
          <a:p>
            <a:pPr>
              <a:spcAft>
                <a:spcPts val="300"/>
              </a:spcAft>
              <a:defRPr sz="1050">
                <a:solidFill>
                  <a:srgbClr val="162B45"/>
                </a:solidFill>
                <a:latin typeface="Aptos"/>
              </a:defRPr>
            </a:pPr>
            <a:r>
              <a:t>588 mẫu × 18 tiêu chí = 10.584 dòng checklist.</a:t>
            </a:r>
          </a:p>
          <a:p>
            <a:pPr>
              <a:spcAft>
                <a:spcPts val="300"/>
              </a:spcAft>
              <a:defRPr sz="1050">
                <a:solidFill>
                  <a:srgbClr val="162B45"/>
                </a:solidFill>
                <a:latin typeface="Aptos"/>
              </a:defRPr>
            </a:pPr>
            <a:r>
              <a:t>Hàng đợi review sau agent: 161 mẫu.</a:t>
            </a:r>
          </a:p>
          <a:p>
            <a:pPr>
              <a:spcAft>
                <a:spcPts val="300"/>
              </a:spcAft>
              <a:defRPr sz="1050">
                <a:solidFill>
                  <a:srgbClr val="162B45"/>
                </a:solidFill>
                <a:latin typeface="Aptos"/>
              </a:defRPr>
            </a:pPr>
            <a:r>
              <a:t>File chi tiết hiện hành là bản đã repair theo mapping bài học mới.</a:t>
            </a:r>
          </a:p>
        </p:txBody>
      </p:sp>
      <p:sp>
        <p:nvSpPr>
          <p:cNvPr id="13" name="Rounded Rectangle 12"/>
          <p:cNvSpPr/>
          <p:nvPr/>
        </p:nvSpPr>
        <p:spPr>
          <a:xfrm>
            <a:off x="5623560" y="3794760"/>
            <a:ext cx="4206240" cy="1280160"/>
          </a:xfrm>
          <a:prstGeom prst="roundRect">
            <a:avLst/>
          </a:prstGeom>
          <a:solidFill>
            <a:srgbClr val="FFFFFF"/>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88152" y="3913632"/>
            <a:ext cx="3877055"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Thông điệp cho HNMU</a:t>
            </a:r>
          </a:p>
        </p:txBody>
      </p:sp>
      <p:sp>
        <p:nvSpPr>
          <p:cNvPr id="15" name="TextBox 14"/>
          <p:cNvSpPr txBox="1"/>
          <p:nvPr/>
        </p:nvSpPr>
        <p:spPr>
          <a:xfrm>
            <a:off x="5824728" y="4233672"/>
            <a:ext cx="3895344" cy="777239"/>
          </a:xfrm>
          <a:prstGeom prst="rect">
            <a:avLst/>
          </a:prstGeom>
          <a:noFill/>
        </p:spPr>
        <p:txBody>
          <a:bodyPr wrap="square">
            <a:spAutoFit/>
          </a:bodyPr>
          <a:lstStyle/>
          <a:p>
            <a:pPr>
              <a:spcAft>
                <a:spcPts val="300"/>
              </a:spcAft>
              <a:defRPr sz="1050">
                <a:solidFill>
                  <a:srgbClr val="162B45"/>
                </a:solidFill>
                <a:latin typeface="Aptos"/>
              </a:defRPr>
            </a:pPr>
            <a:r>
              <a:t>Phần lớn mẫu lớp 8–9 đạt sơ bộ.</a:t>
            </a:r>
          </a:p>
          <a:p>
            <a:pPr>
              <a:spcAft>
                <a:spcPts val="300"/>
              </a:spcAft>
              <a:defRPr sz="1050">
                <a:solidFill>
                  <a:srgbClr val="162B45"/>
                </a:solidFill>
                <a:latin typeface="Aptos"/>
              </a:defRPr>
            </a:pPr>
            <a:r>
              <a:t>Các mẫu cần xem lại tập trung vào thiếu/mơ hồ bằng chứng, mức nhận thức hoặc nhất quán học liệu.</a:t>
            </a:r>
          </a:p>
        </p:txBody>
      </p:sp>
      <p:sp>
        <p:nvSpPr>
          <p:cNvPr id="16" name="TextBox 15"/>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10. Gói kết quả hiện nên đọc như thế nào?</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Để tránh lẫn output thử nghiệm/debug với kết quả chính</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600200"/>
          <a:ext cx="9509760" cy="2423160"/>
        </p:xfrm>
        <a:graphic>
          <a:graphicData uri="http://schemas.openxmlformats.org/drawingml/2006/table">
            <a:tbl>
              <a:tblPr firstRow="1" bandRow="1">
                <a:tableStyleId>{5C22544A-7EE6-4342-B048-85BDC9FD1C3A}</a:tableStyleId>
              </a:tblPr>
              <a:tblGrid>
                <a:gridCol w="3169920"/>
                <a:gridCol w="3169920"/>
                <a:gridCol w="3169920"/>
              </a:tblGrid>
              <a:tr h="346165">
                <a:tc>
                  <a:txBody>
                    <a:bodyPr/>
                    <a:lstStyle/>
                    <a:p>
                      <a:pPr algn="ctr"/>
                      <a:r>
                        <a:rPr sz="940" b="1">
                          <a:solidFill>
                            <a:srgbClr val="FFFFFF"/>
                          </a:solidFill>
                          <a:latin typeface="Aptos"/>
                        </a:rPr>
                        <a:t>Nhu cầu đọc</a:t>
                      </a:r>
                    </a:p>
                  </a:txBody>
                  <a:tcPr>
                    <a:solidFill>
                      <a:srgbClr val="0B4F8A"/>
                    </a:solidFill>
                  </a:tcPr>
                </a:tc>
                <a:tc>
                  <a:txBody>
                    <a:bodyPr/>
                    <a:lstStyle/>
                    <a:p>
                      <a:pPr algn="ctr"/>
                      <a:r>
                        <a:rPr sz="940" b="1">
                          <a:solidFill>
                            <a:srgbClr val="FFFFFF"/>
                          </a:solidFill>
                          <a:latin typeface="Aptos"/>
                        </a:rPr>
                        <a:t>File/thư mục chính</a:t>
                      </a:r>
                    </a:p>
                  </a:txBody>
                  <a:tcPr>
                    <a:solidFill>
                      <a:srgbClr val="0B4F8A"/>
                    </a:solidFill>
                  </a:tcPr>
                </a:tc>
                <a:tc>
                  <a:txBody>
                    <a:bodyPr/>
                    <a:lstStyle/>
                    <a:p>
                      <a:pPr algn="ctr"/>
                      <a:r>
                        <a:rPr sz="940" b="1">
                          <a:solidFill>
                            <a:srgbClr val="FFFFFF"/>
                          </a:solidFill>
                          <a:latin typeface="Aptos"/>
                        </a:rPr>
                        <a:t>Ý nghĩa</a:t>
                      </a:r>
                    </a:p>
                  </a:txBody>
                  <a:tcPr>
                    <a:solidFill>
                      <a:srgbClr val="0B4F8A"/>
                    </a:solidFill>
                  </a:tcPr>
                </a:tc>
              </a:tr>
              <a:tr h="346165">
                <a:tc>
                  <a:txBody>
                    <a:bodyPr/>
                    <a:lstStyle/>
                    <a:p>
                      <a:pPr algn="l"/>
                      <a:r>
                        <a:rPr sz="940">
                          <a:solidFill>
                            <a:srgbClr val="162B45"/>
                          </a:solidFill>
                          <a:latin typeface="Aptos"/>
                        </a:rPr>
                        <a:t>Xem kết luận từng mẫu</a:t>
                      </a:r>
                    </a:p>
                  </a:txBody>
                  <a:tcPr>
                    <a:solidFill>
                      <a:srgbClr val="FFFFFF"/>
                    </a:solidFill>
                  </a:tcPr>
                </a:tc>
                <a:tc>
                  <a:txBody>
                    <a:bodyPr/>
                    <a:lstStyle/>
                    <a:p>
                      <a:pPr algn="ctr"/>
                      <a:r>
                        <a:rPr sz="940">
                          <a:solidFill>
                            <a:srgbClr val="162B45"/>
                          </a:solidFill>
                          <a:latin typeface="Aptos"/>
                        </a:rPr>
                        <a:t>quality_check_suggestions.csv</a:t>
                      </a:r>
                    </a:p>
                  </a:txBody>
                  <a:tcPr>
                    <a:solidFill>
                      <a:srgbClr val="FFFFFF"/>
                    </a:solidFill>
                  </a:tcPr>
                </a:tc>
                <a:tc>
                  <a:txBody>
                    <a:bodyPr/>
                    <a:lstStyle/>
                    <a:p>
                      <a:pPr algn="ctr"/>
                      <a:r>
                        <a:rPr sz="940">
                          <a:solidFill>
                            <a:srgbClr val="162B45"/>
                          </a:solidFill>
                          <a:latin typeface="Aptos"/>
                        </a:rPr>
                        <a:t>Mẫu đạt sơ bộ, cần HNMU/UET xem lại, hay không đạt</a:t>
                      </a:r>
                    </a:p>
                  </a:txBody>
                  <a:tcPr>
                    <a:solidFill>
                      <a:srgbClr val="FFFFFF"/>
                    </a:solidFill>
                  </a:tcPr>
                </a:tc>
              </a:tr>
              <a:tr h="346165">
                <a:tc>
                  <a:txBody>
                    <a:bodyPr/>
                    <a:lstStyle/>
                    <a:p>
                      <a:pPr algn="l"/>
                      <a:r>
                        <a:rPr sz="940">
                          <a:solidFill>
                            <a:srgbClr val="162B45"/>
                          </a:solidFill>
                          <a:latin typeface="Aptos"/>
                        </a:rPr>
                        <a:t>Xem lý do chi tiết</a:t>
                      </a:r>
                    </a:p>
                  </a:txBody>
                  <a:tcPr>
                    <a:solidFill>
                      <a:srgbClr val="F4F8FB"/>
                    </a:solidFill>
                  </a:tcPr>
                </a:tc>
                <a:tc>
                  <a:txBody>
                    <a:bodyPr/>
                    <a:lstStyle/>
                    <a:p>
                      <a:pPr algn="ctr"/>
                      <a:r>
                        <a:rPr sz="940">
                          <a:solidFill>
                            <a:srgbClr val="162B45"/>
                          </a:solidFill>
                          <a:latin typeface="Aptos"/>
                        </a:rPr>
                        <a:t>raw_dialogue_checklist_results*.csv</a:t>
                      </a:r>
                    </a:p>
                  </a:txBody>
                  <a:tcPr>
                    <a:solidFill>
                      <a:srgbClr val="F4F8FB"/>
                    </a:solidFill>
                  </a:tcPr>
                </a:tc>
                <a:tc>
                  <a:txBody>
                    <a:bodyPr/>
                    <a:lstStyle/>
                    <a:p>
                      <a:pPr algn="ctr"/>
                      <a:r>
                        <a:rPr sz="940">
                          <a:solidFill>
                            <a:srgbClr val="162B45"/>
                          </a:solidFill>
                          <a:latin typeface="Aptos"/>
                        </a:rPr>
                        <a:t>Một dòng cho mỗi mẫu + tiêu chí; có lý do và bằng chứng</a:t>
                      </a:r>
                    </a:p>
                  </a:txBody>
                  <a:tcPr>
                    <a:solidFill>
                      <a:srgbClr val="F4F8FB"/>
                    </a:solidFill>
                  </a:tcPr>
                </a:tc>
              </a:tr>
              <a:tr h="346165">
                <a:tc>
                  <a:txBody>
                    <a:bodyPr/>
                    <a:lstStyle/>
                    <a:p>
                      <a:pPr algn="l"/>
                      <a:r>
                        <a:rPr sz="940">
                          <a:solidFill>
                            <a:srgbClr val="162B45"/>
                          </a:solidFill>
                          <a:latin typeface="Aptos"/>
                        </a:rPr>
                        <a:t>Xem mẫu cần hỏi lại</a:t>
                      </a:r>
                    </a:p>
                  </a:txBody>
                  <a:tcPr>
                    <a:solidFill>
                      <a:srgbClr val="FFFFFF"/>
                    </a:solidFill>
                  </a:tcPr>
                </a:tc>
                <a:tc>
                  <a:txBody>
                    <a:bodyPr/>
                    <a:lstStyle/>
                    <a:p>
                      <a:pPr algn="ctr"/>
                      <a:r>
                        <a:rPr sz="940">
                          <a:solidFill>
                            <a:srgbClr val="162B45"/>
                          </a:solidFill>
                          <a:latin typeface="Aptos"/>
                        </a:rPr>
                        <a:t>hnmu_review_queue_suggestions.csv</a:t>
                      </a:r>
                    </a:p>
                  </a:txBody>
                  <a:tcPr>
                    <a:solidFill>
                      <a:srgbClr val="FFFFFF"/>
                    </a:solidFill>
                  </a:tcPr>
                </a:tc>
                <a:tc>
                  <a:txBody>
                    <a:bodyPr/>
                    <a:lstStyle/>
                    <a:p>
                      <a:pPr algn="ctr"/>
                      <a:r>
                        <a:rPr sz="940">
                          <a:solidFill>
                            <a:srgbClr val="162B45"/>
                          </a:solidFill>
                          <a:latin typeface="Aptos"/>
                        </a:rPr>
                        <a:t>Danh sách ưu tiên gửi HNMU/UET</a:t>
                      </a:r>
                    </a:p>
                  </a:txBody>
                  <a:tcPr>
                    <a:solidFill>
                      <a:srgbClr val="FFFFFF"/>
                    </a:solidFill>
                  </a:tcPr>
                </a:tc>
              </a:tr>
              <a:tr h="346165">
                <a:tc>
                  <a:txBody>
                    <a:bodyPr/>
                    <a:lstStyle/>
                    <a:p>
                      <a:pPr algn="l"/>
                      <a:r>
                        <a:rPr sz="940">
                          <a:solidFill>
                            <a:srgbClr val="162B45"/>
                          </a:solidFill>
                          <a:latin typeface="Aptos"/>
                        </a:rPr>
                        <a:t>Xem độ phủ</a:t>
                      </a:r>
                    </a:p>
                  </a:txBody>
                  <a:tcPr>
                    <a:solidFill>
                      <a:srgbClr val="F4F8FB"/>
                    </a:solidFill>
                  </a:tcPr>
                </a:tc>
                <a:tc>
                  <a:txBody>
                    <a:bodyPr/>
                    <a:lstStyle/>
                    <a:p>
                      <a:pPr algn="ctr"/>
                      <a:r>
                        <a:rPr sz="940">
                          <a:solidFill>
                            <a:srgbClr val="162B45"/>
                          </a:solidFill>
                          <a:latin typeface="Aptos"/>
                        </a:rPr>
                        <a:t>coverage_summary.csv</a:t>
                      </a:r>
                    </a:p>
                  </a:txBody>
                  <a:tcPr>
                    <a:solidFill>
                      <a:srgbClr val="F4F8FB"/>
                    </a:solidFill>
                  </a:tcPr>
                </a:tc>
                <a:tc>
                  <a:txBody>
                    <a:bodyPr/>
                    <a:lstStyle/>
                    <a:p>
                      <a:pPr algn="ctr"/>
                      <a:r>
                        <a:rPr sz="940">
                          <a:solidFill>
                            <a:srgbClr val="162B45"/>
                          </a:solidFill>
                          <a:latin typeface="Aptos"/>
                        </a:rPr>
                        <a:t>Phân bố theo lớp, chủ đề, bài học, mức nhận thức, nguồn</a:t>
                      </a:r>
                    </a:p>
                  </a:txBody>
                  <a:tcPr>
                    <a:solidFill>
                      <a:srgbClr val="F4F8FB"/>
                    </a:solidFill>
                  </a:tcPr>
                </a:tc>
              </a:tr>
              <a:tr h="346165">
                <a:tc>
                  <a:txBody>
                    <a:bodyPr/>
                    <a:lstStyle/>
                    <a:p>
                      <a:pPr algn="l"/>
                      <a:r>
                        <a:rPr sz="940">
                          <a:solidFill>
                            <a:srgbClr val="162B45"/>
                          </a:solidFill>
                          <a:latin typeface="Aptos"/>
                        </a:rPr>
                        <a:t>Xem thiếu/trùng cơ học</a:t>
                      </a:r>
                    </a:p>
                  </a:txBody>
                  <a:tcPr>
                    <a:solidFill>
                      <a:srgbClr val="FFFFFF"/>
                    </a:solidFill>
                  </a:tcPr>
                </a:tc>
                <a:tc>
                  <a:txBody>
                    <a:bodyPr/>
                    <a:lstStyle/>
                    <a:p>
                      <a:pPr algn="ctr"/>
                      <a:r>
                        <a:rPr sz="940">
                          <a:solidFill>
                            <a:srgbClr val="162B45"/>
                          </a:solidFill>
                          <a:latin typeface="Aptos"/>
                        </a:rPr>
                        <a:t>missing_field_report.csv; duplicate_candidates.csv</a:t>
                      </a:r>
                    </a:p>
                  </a:txBody>
                  <a:tcPr>
                    <a:solidFill>
                      <a:srgbClr val="FFFFFF"/>
                    </a:solidFill>
                  </a:tcPr>
                </a:tc>
                <a:tc>
                  <a:txBody>
                    <a:bodyPr/>
                    <a:lstStyle/>
                    <a:p>
                      <a:pPr algn="ctr"/>
                      <a:r>
                        <a:rPr sz="940">
                          <a:solidFill>
                            <a:srgbClr val="162B45"/>
                          </a:solidFill>
                          <a:latin typeface="Aptos"/>
                        </a:rPr>
                        <a:t>Lỗi cơ học và ứng viên trùng/gần trùng</a:t>
                      </a:r>
                    </a:p>
                  </a:txBody>
                  <a:tcPr>
                    <a:solidFill>
                      <a:srgbClr val="FFFFFF"/>
                    </a:solidFill>
                  </a:tcPr>
                </a:tc>
              </a:tr>
              <a:tr h="346170">
                <a:tc>
                  <a:txBody>
                    <a:bodyPr/>
                    <a:lstStyle/>
                    <a:p>
                      <a:pPr algn="l"/>
                      <a:r>
                        <a:rPr sz="940">
                          <a:solidFill>
                            <a:srgbClr val="162B45"/>
                          </a:solidFill>
                          <a:latin typeface="Aptos"/>
                        </a:rPr>
                        <a:t>Đọc hướng dẫn trong thư mục</a:t>
                      </a:r>
                    </a:p>
                  </a:txBody>
                  <a:tcPr>
                    <a:solidFill>
                      <a:srgbClr val="F4F8FB"/>
                    </a:solidFill>
                  </a:tcPr>
                </a:tc>
                <a:tc>
                  <a:txBody>
                    <a:bodyPr/>
                    <a:lstStyle/>
                    <a:p>
                      <a:pPr algn="ctr"/>
                      <a:r>
                        <a:rPr sz="940">
                          <a:solidFill>
                            <a:srgbClr val="162B45"/>
                          </a:solidFill>
                          <a:latin typeface="Aptos"/>
                        </a:rPr>
                        <a:t>README_final.md</a:t>
                      </a:r>
                    </a:p>
                  </a:txBody>
                  <a:tcPr>
                    <a:solidFill>
                      <a:srgbClr val="F4F8FB"/>
                    </a:solidFill>
                  </a:tcPr>
                </a:tc>
                <a:tc>
                  <a:txBody>
                    <a:bodyPr/>
                    <a:lstStyle/>
                    <a:p>
                      <a:pPr algn="ctr"/>
                      <a:r>
                        <a:rPr sz="940">
                          <a:solidFill>
                            <a:srgbClr val="162B45"/>
                          </a:solidFill>
                          <a:latin typeface="Aptos"/>
                        </a:rPr>
                        <a:t>Chỉ mô tả file kết quả chính; không tính file bị ignore</a:t>
                      </a:r>
                    </a:p>
                  </a:txBody>
                  <a:tcPr>
                    <a:solidFill>
                      <a:srgbClr val="F4F8FB"/>
                    </a:solidFill>
                  </a:tcPr>
                </a:tc>
              </a:tr>
            </a:tbl>
          </a:graphicData>
        </a:graphic>
      </p:graphicFrame>
      <p:sp>
        <p:nvSpPr>
          <p:cNvPr id="7" name="TextBox 6"/>
          <p:cNvSpPr txBox="1"/>
          <p:nvPr/>
        </p:nvSpPr>
        <p:spPr>
          <a:xfrm>
            <a:off x="868680" y="4434840"/>
            <a:ext cx="9052560" cy="457200"/>
          </a:xfrm>
          <a:prstGeom prst="rect">
            <a:avLst/>
          </a:prstGeom>
          <a:noFill/>
        </p:spPr>
        <p:txBody>
          <a:bodyPr wrap="square" lIns="45720" rIns="45720" tIns="27432" bIns="27432" anchor="t">
            <a:spAutoFit/>
          </a:bodyPr>
          <a:lstStyle/>
          <a:p>
            <a:pPr algn="l">
              <a:lnSpc>
                <a:spcPct val="105000"/>
              </a:lnSpc>
            </a:pPr>
            <a:r>
              <a:rPr sz="1250" b="1">
                <a:solidFill>
                  <a:srgbClr val="162B45"/>
                </a:solidFill>
                <a:latin typeface="Aptos"/>
              </a:rPr>
              <a:t>Quy ước mới: `README.md` có thể mô tả lịch sử/toàn cảnh; `README_final.md` chỉ mô tả gói kết quả chính hiện hành.</a:t>
            </a:r>
          </a:p>
        </p:txBody>
      </p:sp>
      <p:sp>
        <p:nvSpPr>
          <p:cNvPr id="8" name="TextBox 7"/>
          <p:cNvSpPr txBox="1"/>
          <p:nvPr/>
        </p:nvSpPr>
        <p:spPr>
          <a:xfrm>
            <a:off x="868680" y="4892040"/>
            <a:ext cx="9052560" cy="50292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Hai batch được giữ tách biệt: lớp 6–7 và lớp 8–9. Điều này giúp tránh ghi đè, đồng thời vẫn có thể tổng hợp ở báo cáo gửi HNMU.</a:t>
            </a:r>
          </a:p>
        </p:txBody>
      </p:sp>
      <p:sp>
        <p:nvSpPr>
          <p:cNvPr id="9" name="TextBox 8"/>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du_benchmark_slide_template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58368" y="576072"/>
            <a:ext cx="9052560" cy="502920"/>
          </a:xfrm>
          <a:prstGeom prst="rect">
            <a:avLst/>
          </a:prstGeom>
          <a:noFill/>
        </p:spPr>
        <p:txBody>
          <a:bodyPr wrap="square" lIns="45720" rIns="45720" tIns="27432" bIns="27432" anchor="t">
            <a:spAutoFit/>
          </a:bodyPr>
          <a:lstStyle/>
          <a:p>
            <a:pPr algn="l">
              <a:lnSpc>
                <a:spcPct val="105000"/>
              </a:lnSpc>
            </a:pPr>
            <a:r>
              <a:rPr sz="2600" b="1">
                <a:solidFill>
                  <a:srgbClr val="0B4F8A"/>
                </a:solidFill>
                <a:latin typeface="Aptos Display"/>
              </a:rPr>
              <a:t>11. Việc tiếp theo cần làm</a:t>
            </a:r>
          </a:p>
        </p:txBody>
      </p:sp>
      <p:sp>
        <p:nvSpPr>
          <p:cNvPr id="4" name="TextBox 3"/>
          <p:cNvSpPr txBox="1"/>
          <p:nvPr/>
        </p:nvSpPr>
        <p:spPr>
          <a:xfrm>
            <a:off x="713232" y="1033271"/>
            <a:ext cx="8595360" cy="320040"/>
          </a:xfrm>
          <a:prstGeom prst="rect">
            <a:avLst/>
          </a:prstGeom>
          <a:noFill/>
        </p:spPr>
        <p:txBody>
          <a:bodyPr wrap="square" lIns="45720" rIns="45720" tIns="27432" bIns="27432" anchor="t">
            <a:spAutoFit/>
          </a:bodyPr>
          <a:lstStyle/>
          <a:p>
            <a:pPr algn="l">
              <a:lnSpc>
                <a:spcPct val="105000"/>
              </a:lnSpc>
            </a:pPr>
            <a:r>
              <a:rPr sz="1150" b="0">
                <a:solidFill>
                  <a:srgbClr val="6B7280"/>
                </a:solidFill>
                <a:latin typeface="Aptos"/>
              </a:rPr>
              <a:t>Từ audit dữ liệu thô sang mẫu benchmark có thể dùng để đánh giá gia sư AI</a:t>
            </a:r>
          </a:p>
        </p:txBody>
      </p:sp>
      <p:sp>
        <p:nvSpPr>
          <p:cNvPr id="5" name="Rectangle 4"/>
          <p:cNvSpPr/>
          <p:nvPr/>
        </p:nvSpPr>
        <p:spPr>
          <a:xfrm>
            <a:off x="713232" y="1371600"/>
            <a:ext cx="1143000" cy="41148"/>
          </a:xfrm>
          <a:prstGeom prst="rect">
            <a:avLst/>
          </a:prstGeom>
          <a:solidFill>
            <a:srgbClr val="00A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645920"/>
            <a:ext cx="2880360" cy="2331720"/>
          </a:xfrm>
          <a:prstGeom prst="roundRect">
            <a:avLst/>
          </a:prstGeom>
          <a:solidFill>
            <a:srgbClr val="FFF6E8"/>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764792"/>
            <a:ext cx="25511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1. HNMU/UET review có trọng tâm</a:t>
            </a:r>
          </a:p>
        </p:txBody>
      </p:sp>
      <p:sp>
        <p:nvSpPr>
          <p:cNvPr id="8" name="TextBox 7"/>
          <p:cNvSpPr txBox="1"/>
          <p:nvPr/>
        </p:nvSpPr>
        <p:spPr>
          <a:xfrm>
            <a:off x="978408" y="2084832"/>
            <a:ext cx="2569464" cy="1828799"/>
          </a:xfrm>
          <a:prstGeom prst="rect">
            <a:avLst/>
          </a:prstGeom>
          <a:noFill/>
        </p:spPr>
        <p:txBody>
          <a:bodyPr wrap="square">
            <a:spAutoFit/>
          </a:bodyPr>
          <a:lstStyle/>
          <a:p>
            <a:pPr>
              <a:spcAft>
                <a:spcPts val="300"/>
              </a:spcAft>
              <a:defRPr sz="1050">
                <a:solidFill>
                  <a:srgbClr val="162B45"/>
                </a:solidFill>
                <a:latin typeface="Aptos"/>
              </a:defRPr>
            </a:pPr>
            <a:r>
              <a:t>Không đọc lại toàn bộ từ đầu.</a:t>
            </a:r>
          </a:p>
          <a:p>
            <a:pPr>
              <a:spcAft>
                <a:spcPts val="300"/>
              </a:spcAft>
              <a:defRPr sz="1050">
                <a:solidFill>
                  <a:srgbClr val="162B45"/>
                </a:solidFill>
                <a:latin typeface="Aptos"/>
              </a:defRPr>
            </a:pPr>
            <a:r>
              <a:t>Ưu tiên các mẫu trong hàng đợi review.</a:t>
            </a:r>
          </a:p>
          <a:p>
            <a:pPr>
              <a:spcAft>
                <a:spcPts val="300"/>
              </a:spcAft>
              <a:defRPr sz="1050">
                <a:solidFill>
                  <a:srgbClr val="162B45"/>
                </a:solidFill>
                <a:latin typeface="Aptos"/>
              </a:defRPr>
            </a:pPr>
            <a:r>
              <a:t>Xác nhận các điểm mơ hồ về đáp án SGV, bài học, mức nhận thức và dàn giáo.</a:t>
            </a:r>
          </a:p>
        </p:txBody>
      </p:sp>
      <p:sp>
        <p:nvSpPr>
          <p:cNvPr id="9" name="Rounded Rectangle 8"/>
          <p:cNvSpPr/>
          <p:nvPr/>
        </p:nvSpPr>
        <p:spPr>
          <a:xfrm>
            <a:off x="3886200" y="1645920"/>
            <a:ext cx="2880360" cy="2331720"/>
          </a:xfrm>
          <a:prstGeom prst="roundRect">
            <a:avLst/>
          </a:prstGeom>
          <a:solidFill>
            <a:srgbClr val="E9F6FE"/>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50791" y="1764792"/>
            <a:ext cx="25511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2. Chuyển đổi thành mẫu benchmark</a:t>
            </a:r>
          </a:p>
        </p:txBody>
      </p:sp>
      <p:sp>
        <p:nvSpPr>
          <p:cNvPr id="11" name="TextBox 10"/>
          <p:cNvSpPr txBox="1"/>
          <p:nvPr/>
        </p:nvSpPr>
        <p:spPr>
          <a:xfrm>
            <a:off x="4087368" y="2084832"/>
            <a:ext cx="2569464" cy="1828799"/>
          </a:xfrm>
          <a:prstGeom prst="rect">
            <a:avLst/>
          </a:prstGeom>
          <a:noFill/>
        </p:spPr>
        <p:txBody>
          <a:bodyPr wrap="square">
            <a:spAutoFit/>
          </a:bodyPr>
          <a:lstStyle/>
          <a:p>
            <a:pPr>
              <a:spcAft>
                <a:spcPts val="300"/>
              </a:spcAft>
              <a:defRPr sz="1050">
                <a:solidFill>
                  <a:srgbClr val="162B45"/>
                </a:solidFill>
                <a:latin typeface="Aptos"/>
              </a:defRPr>
            </a:pPr>
            <a:r>
              <a:t>Tách thành yêu cầu ban đầu, lịch sử hội thoại, câu trả lời mong muốn của gia sư.</a:t>
            </a:r>
          </a:p>
          <a:p>
            <a:pPr>
              <a:spcAft>
                <a:spcPts val="300"/>
              </a:spcAft>
              <a:defRPr sz="1050">
                <a:solidFill>
                  <a:srgbClr val="162B45"/>
                </a:solidFill>
                <a:latin typeface="Aptos"/>
              </a:defRPr>
            </a:pPr>
            <a:r>
              <a:t>Giữ riêng trường Đáp án.</a:t>
            </a:r>
          </a:p>
          <a:p>
            <a:pPr>
              <a:spcAft>
                <a:spcPts val="300"/>
              </a:spcAft>
              <a:defRPr sz="1050">
                <a:solidFill>
                  <a:srgbClr val="162B45"/>
                </a:solidFill>
                <a:latin typeface="Aptos"/>
              </a:defRPr>
            </a:pPr>
            <a:r>
              <a:t>Gán task/rubric sau khi có đủ căn cứ và truy vết.</a:t>
            </a:r>
          </a:p>
        </p:txBody>
      </p:sp>
      <p:sp>
        <p:nvSpPr>
          <p:cNvPr id="12" name="Rounded Rectangle 11"/>
          <p:cNvSpPr/>
          <p:nvPr/>
        </p:nvSpPr>
        <p:spPr>
          <a:xfrm>
            <a:off x="6995160" y="1645920"/>
            <a:ext cx="2880360" cy="2331720"/>
          </a:xfrm>
          <a:prstGeom prst="roundRect">
            <a:avLst/>
          </a:prstGeom>
          <a:solidFill>
            <a:srgbClr val="EAFAF3"/>
          </a:solidFill>
          <a:ln>
            <a:solidFill>
              <a:srgbClr val="C7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59752" y="1764792"/>
            <a:ext cx="2551176" cy="274320"/>
          </a:xfrm>
          <a:prstGeom prst="rect">
            <a:avLst/>
          </a:prstGeom>
          <a:noFill/>
        </p:spPr>
        <p:txBody>
          <a:bodyPr wrap="square" lIns="45720" rIns="45720" tIns="27432" bIns="27432" anchor="t">
            <a:spAutoFit/>
          </a:bodyPr>
          <a:lstStyle/>
          <a:p>
            <a:pPr algn="l">
              <a:lnSpc>
                <a:spcPct val="105000"/>
              </a:lnSpc>
            </a:pPr>
            <a:r>
              <a:rPr sz="1400" b="1">
                <a:solidFill>
                  <a:srgbClr val="0B4F8A"/>
                </a:solidFill>
                <a:latin typeface="Aptos"/>
              </a:rPr>
              <a:t>3. Đánh giá benchmark</a:t>
            </a:r>
          </a:p>
        </p:txBody>
      </p:sp>
      <p:sp>
        <p:nvSpPr>
          <p:cNvPr id="14" name="TextBox 13"/>
          <p:cNvSpPr txBox="1"/>
          <p:nvPr/>
        </p:nvSpPr>
        <p:spPr>
          <a:xfrm>
            <a:off x="7196328" y="2084832"/>
            <a:ext cx="2569464" cy="1828799"/>
          </a:xfrm>
          <a:prstGeom prst="rect">
            <a:avLst/>
          </a:prstGeom>
          <a:noFill/>
        </p:spPr>
        <p:txBody>
          <a:bodyPr wrap="square">
            <a:spAutoFit/>
          </a:bodyPr>
          <a:lstStyle/>
          <a:p>
            <a:pPr>
              <a:spcAft>
                <a:spcPts val="300"/>
              </a:spcAft>
              <a:defRPr sz="1050">
                <a:solidFill>
                  <a:srgbClr val="162B45"/>
                </a:solidFill>
                <a:latin typeface="Aptos"/>
              </a:defRPr>
            </a:pPr>
            <a:r>
              <a:t>Kiểm tra benchmark có phân biệt được gia sư tốt, trung bình, kém không.</a:t>
            </a:r>
          </a:p>
          <a:p>
            <a:pPr>
              <a:spcAft>
                <a:spcPts val="300"/>
              </a:spcAft>
              <a:defRPr sz="1050">
                <a:solidFill>
                  <a:srgbClr val="162B45"/>
                </a:solidFill>
                <a:latin typeface="Aptos"/>
              </a:defRPr>
            </a:pPr>
            <a:r>
              <a:t>Bổ sung trục dạng câu hỏi/bài tập nếu được chốt.</a:t>
            </a:r>
          </a:p>
          <a:p>
            <a:pPr>
              <a:spcAft>
                <a:spcPts val="300"/>
              </a:spcAft>
              <a:defRPr sz="1050">
                <a:solidFill>
                  <a:srgbClr val="162B45"/>
                </a:solidFill>
                <a:latin typeface="Aptos"/>
              </a:defRPr>
            </a:pPr>
            <a:r>
              <a:t>Mở rộng học liệu thành hệ thống truy xuất ổn định hơn.</a:t>
            </a:r>
          </a:p>
        </p:txBody>
      </p:sp>
      <p:sp>
        <p:nvSpPr>
          <p:cNvPr id="15" name="TextBox 14"/>
          <p:cNvSpPr txBox="1"/>
          <p:nvPr/>
        </p:nvSpPr>
        <p:spPr>
          <a:xfrm>
            <a:off x="868680" y="4434840"/>
            <a:ext cx="1280160" cy="320040"/>
          </a:xfrm>
          <a:prstGeom prst="rect">
            <a:avLst/>
          </a:prstGeom>
          <a:noFill/>
        </p:spPr>
        <p:txBody>
          <a:bodyPr wrap="square" lIns="45720" rIns="45720" tIns="27432" bIns="27432" anchor="t">
            <a:spAutoFit/>
          </a:bodyPr>
          <a:lstStyle/>
          <a:p>
            <a:pPr algn="l">
              <a:lnSpc>
                <a:spcPct val="105000"/>
              </a:lnSpc>
            </a:pPr>
            <a:r>
              <a:rPr sz="1500" b="1">
                <a:solidFill>
                  <a:srgbClr val="0B4F8A"/>
                </a:solidFill>
                <a:latin typeface="Aptos"/>
              </a:rPr>
              <a:t>Kết luận</a:t>
            </a:r>
          </a:p>
        </p:txBody>
      </p:sp>
      <p:sp>
        <p:nvSpPr>
          <p:cNvPr id="16" name="TextBox 15"/>
          <p:cNvSpPr txBox="1"/>
          <p:nvPr/>
        </p:nvSpPr>
        <p:spPr>
          <a:xfrm>
            <a:off x="868680" y="4773168"/>
            <a:ext cx="9144000" cy="685800"/>
          </a:xfrm>
          <a:prstGeom prst="rect">
            <a:avLst/>
          </a:prstGeom>
          <a:noFill/>
        </p:spPr>
        <p:txBody>
          <a:bodyPr wrap="square" lIns="45720" rIns="45720" tIns="27432" bIns="27432" anchor="t">
            <a:spAutoFit/>
          </a:bodyPr>
          <a:lstStyle/>
          <a:p>
            <a:pPr algn="l">
              <a:lnSpc>
                <a:spcPct val="105000"/>
              </a:lnSpc>
            </a:pPr>
            <a:r>
              <a:rPr sz="1280" b="0">
                <a:solidFill>
                  <a:srgbClr val="162B45"/>
                </a:solidFill>
                <a:latin typeface="Aptos"/>
              </a:rPr>
              <a:t>Đến hiện tại, nhóm đã có một pipeline V0 tương đối đầy đủ: dữ liệu thô → học liệu truy xuất → checklist → code audit → agent audit → gói kết quả review. Bước quan trọng tiếp theo là dùng gói review này để chỉnh dữ liệu và chuyển thành mẫu benchmark hoàn chỉnh.</a:t>
            </a:r>
          </a:p>
        </p:txBody>
      </p:sp>
      <p:sp>
        <p:nvSpPr>
          <p:cNvPr id="17" name="TextBox 16"/>
          <p:cNvSpPr txBox="1"/>
          <p:nvPr/>
        </p:nvSpPr>
        <p:spPr>
          <a:xfrm>
            <a:off x="11155680" y="6446520"/>
            <a:ext cx="320040" cy="182880"/>
          </a:xfrm>
          <a:prstGeom prst="rect">
            <a:avLst/>
          </a:prstGeom>
          <a:noFill/>
        </p:spPr>
        <p:txBody>
          <a:bodyPr wrap="square" lIns="45720" rIns="45720" tIns="27432" bIns="27432" anchor="t">
            <a:spAutoFit/>
          </a:bodyPr>
          <a:lstStyle/>
          <a:p>
            <a:pPr algn="r">
              <a:lnSpc>
                <a:spcPct val="105000"/>
              </a:lnSpc>
            </a:pPr>
            <a:r>
              <a:rPr sz="850" b="0">
                <a:solidFill>
                  <a:srgbClr val="FFFFFF"/>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13232" y="658368"/>
            <a:ext cx="8641080" cy="393192"/>
          </a:xfrm>
          <a:prstGeom prst="rect">
            <a:avLst/>
          </a:prstGeom>
          <a:noFill/>
        </p:spPr>
        <p:txBody>
          <a:bodyPr wrap="square">
            <a:normAutofit/>
          </a:bodyPr>
          <a:lstStyle/>
          <a:p>
            <a:r>
              <a:rPr sz="2550" b="1">
                <a:solidFill>
                  <a:srgbClr val="0D4F86"/>
                </a:solidFill>
                <a:latin typeface="Arial"/>
              </a:rPr>
              <a:t>12. Kết quả kiểm định dữ liệu thô</a:t>
            </a:r>
          </a:p>
        </p:txBody>
      </p:sp>
      <p:sp>
        <p:nvSpPr>
          <p:cNvPr id="4" name="TextBox 3"/>
          <p:cNvSpPr txBox="1"/>
          <p:nvPr/>
        </p:nvSpPr>
        <p:spPr>
          <a:xfrm>
            <a:off x="758952" y="1133856"/>
            <a:ext cx="8823960" cy="256032"/>
          </a:xfrm>
          <a:prstGeom prst="rect">
            <a:avLst/>
          </a:prstGeom>
          <a:noFill/>
        </p:spPr>
        <p:txBody>
          <a:bodyPr wrap="square">
            <a:normAutofit/>
          </a:bodyPr>
          <a:lstStyle/>
          <a:p>
            <a:r>
              <a:rPr sz="1250" b="0">
                <a:solidFill>
                  <a:srgbClr val="687180"/>
                </a:solidFill>
                <a:latin typeface="Arial"/>
              </a:rPr>
              <a:t>Tổng hợp 1.050 mẫu hội thoại lớp 6–9 sau vòng rà soát bằng checklist</a:t>
            </a:r>
          </a:p>
        </p:txBody>
      </p:sp>
      <p:sp>
        <p:nvSpPr>
          <p:cNvPr id="5" name="Rectangle 4"/>
          <p:cNvSpPr/>
          <p:nvPr/>
        </p:nvSpPr>
        <p:spPr>
          <a:xfrm>
            <a:off x="713232" y="1444752"/>
            <a:ext cx="1143000" cy="36576"/>
          </a:xfrm>
          <a:prstGeom prst="rect">
            <a:avLst/>
          </a:prstGeom>
          <a:solidFill>
            <a:srgbClr val="00A8BE"/>
          </a:solidFill>
          <a:ln>
            <a:solidFill>
              <a:srgbClr val="00A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84280" y="6473952"/>
            <a:ext cx="320040" cy="164592"/>
          </a:xfrm>
          <a:prstGeom prst="rect">
            <a:avLst/>
          </a:prstGeom>
          <a:noFill/>
        </p:spPr>
        <p:txBody>
          <a:bodyPr wrap="square">
            <a:normAutofit/>
          </a:bodyPr>
          <a:lstStyle/>
          <a:p>
            <a:pPr algn="ctr"/>
            <a:r>
              <a:rPr sz="800" b="0">
                <a:solidFill>
                  <a:srgbClr val="FFFFFF"/>
                </a:solidFill>
                <a:latin typeface="Arial"/>
              </a:rPr>
              <a:t>13</a:t>
            </a:r>
          </a:p>
        </p:txBody>
      </p:sp>
      <p:sp>
        <p:nvSpPr>
          <p:cNvPr id="7" name="Rounded Rectangle 6"/>
          <p:cNvSpPr/>
          <p:nvPr/>
        </p:nvSpPr>
        <p:spPr>
          <a:xfrm>
            <a:off x="749808" y="1783080"/>
            <a:ext cx="2331720" cy="822960"/>
          </a:xfrm>
          <a:prstGeom prst="roundRect">
            <a:avLst/>
          </a:prstGeom>
          <a:solidFill>
            <a:srgbClr val="FFFFFF"/>
          </a:solidFill>
          <a:ln>
            <a:solidFill>
              <a:srgbClr val="CB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74519"/>
            <a:ext cx="2112263" cy="146304"/>
          </a:xfrm>
          <a:prstGeom prst="rect">
            <a:avLst/>
          </a:prstGeom>
          <a:noFill/>
        </p:spPr>
        <p:txBody>
          <a:bodyPr wrap="square">
            <a:normAutofit/>
          </a:bodyPr>
          <a:lstStyle/>
          <a:p>
            <a:r>
              <a:rPr sz="950" b="1">
                <a:solidFill>
                  <a:srgbClr val="687180"/>
                </a:solidFill>
                <a:latin typeface="Arial"/>
              </a:rPr>
              <a:t>Tổng số mẫu</a:t>
            </a:r>
          </a:p>
        </p:txBody>
      </p:sp>
      <p:sp>
        <p:nvSpPr>
          <p:cNvPr id="9" name="TextBox 8"/>
          <p:cNvSpPr txBox="1"/>
          <p:nvPr/>
        </p:nvSpPr>
        <p:spPr>
          <a:xfrm>
            <a:off x="859536" y="2057400"/>
            <a:ext cx="2112263" cy="228600"/>
          </a:xfrm>
          <a:prstGeom prst="rect">
            <a:avLst/>
          </a:prstGeom>
          <a:noFill/>
        </p:spPr>
        <p:txBody>
          <a:bodyPr wrap="square">
            <a:normAutofit/>
          </a:bodyPr>
          <a:lstStyle/>
          <a:p>
            <a:r>
              <a:rPr sz="2050" b="1">
                <a:solidFill>
                  <a:srgbClr val="0D4F86"/>
                </a:solidFill>
                <a:latin typeface="Arial"/>
              </a:rPr>
              <a:t>1.050</a:t>
            </a:r>
          </a:p>
        </p:txBody>
      </p:sp>
      <p:sp>
        <p:nvSpPr>
          <p:cNvPr id="10" name="TextBox 9"/>
          <p:cNvSpPr txBox="1"/>
          <p:nvPr/>
        </p:nvSpPr>
        <p:spPr>
          <a:xfrm>
            <a:off x="859536" y="2350008"/>
            <a:ext cx="2112263" cy="164592"/>
          </a:xfrm>
          <a:prstGeom prst="rect">
            <a:avLst/>
          </a:prstGeom>
          <a:noFill/>
        </p:spPr>
        <p:txBody>
          <a:bodyPr wrap="square">
            <a:normAutofit/>
          </a:bodyPr>
          <a:lstStyle/>
          <a:p>
            <a:r>
              <a:rPr sz="860" b="0">
                <a:solidFill>
                  <a:srgbClr val="182C45"/>
                </a:solidFill>
                <a:latin typeface="Arial"/>
              </a:rPr>
              <a:t>Lớp 6–7 và lớp 8–9</a:t>
            </a:r>
          </a:p>
        </p:txBody>
      </p:sp>
      <p:sp>
        <p:nvSpPr>
          <p:cNvPr id="11" name="Rounded Rectangle 10"/>
          <p:cNvSpPr/>
          <p:nvPr/>
        </p:nvSpPr>
        <p:spPr>
          <a:xfrm>
            <a:off x="3273552" y="1783080"/>
            <a:ext cx="2331720" cy="822960"/>
          </a:xfrm>
          <a:prstGeom prst="roundRect">
            <a:avLst/>
          </a:prstGeom>
          <a:solidFill>
            <a:srgbClr val="FFFFFF"/>
          </a:solidFill>
          <a:ln>
            <a:solidFill>
              <a:srgbClr val="CB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874519"/>
            <a:ext cx="2112263" cy="146304"/>
          </a:xfrm>
          <a:prstGeom prst="rect">
            <a:avLst/>
          </a:prstGeom>
          <a:noFill/>
        </p:spPr>
        <p:txBody>
          <a:bodyPr wrap="square">
            <a:normAutofit/>
          </a:bodyPr>
          <a:lstStyle/>
          <a:p>
            <a:r>
              <a:rPr sz="950" b="1">
                <a:solidFill>
                  <a:srgbClr val="687180"/>
                </a:solidFill>
                <a:latin typeface="Arial"/>
              </a:rPr>
              <a:t>Đạt sơ bộ</a:t>
            </a:r>
          </a:p>
        </p:txBody>
      </p:sp>
      <p:sp>
        <p:nvSpPr>
          <p:cNvPr id="13" name="TextBox 12"/>
          <p:cNvSpPr txBox="1"/>
          <p:nvPr/>
        </p:nvSpPr>
        <p:spPr>
          <a:xfrm>
            <a:off x="3383280" y="2057400"/>
            <a:ext cx="2112263" cy="228600"/>
          </a:xfrm>
          <a:prstGeom prst="rect">
            <a:avLst/>
          </a:prstGeom>
          <a:noFill/>
        </p:spPr>
        <p:txBody>
          <a:bodyPr wrap="square">
            <a:normAutofit/>
          </a:bodyPr>
          <a:lstStyle/>
          <a:p>
            <a:r>
              <a:rPr sz="2050" b="1">
                <a:solidFill>
                  <a:srgbClr val="2FA652"/>
                </a:solidFill>
                <a:latin typeface="Arial"/>
              </a:rPr>
              <a:t>665 (63,3%)</a:t>
            </a:r>
          </a:p>
        </p:txBody>
      </p:sp>
      <p:sp>
        <p:nvSpPr>
          <p:cNvPr id="14" name="TextBox 13"/>
          <p:cNvSpPr txBox="1"/>
          <p:nvPr/>
        </p:nvSpPr>
        <p:spPr>
          <a:xfrm>
            <a:off x="3383280" y="2350008"/>
            <a:ext cx="2112263" cy="164592"/>
          </a:xfrm>
          <a:prstGeom prst="rect">
            <a:avLst/>
          </a:prstGeom>
          <a:noFill/>
        </p:spPr>
        <p:txBody>
          <a:bodyPr wrap="square">
            <a:normAutofit/>
          </a:bodyPr>
          <a:lstStyle/>
          <a:p>
            <a:r>
              <a:rPr sz="860" b="0">
                <a:solidFill>
                  <a:srgbClr val="182C45"/>
                </a:solidFill>
                <a:latin typeface="Arial"/>
              </a:rPr>
              <a:t>Có thể ưu tiên chuyển bước sau</a:t>
            </a:r>
          </a:p>
        </p:txBody>
      </p:sp>
      <p:sp>
        <p:nvSpPr>
          <p:cNvPr id="15" name="Rounded Rectangle 14"/>
          <p:cNvSpPr/>
          <p:nvPr/>
        </p:nvSpPr>
        <p:spPr>
          <a:xfrm>
            <a:off x="5797296" y="1783080"/>
            <a:ext cx="2331720" cy="822960"/>
          </a:xfrm>
          <a:prstGeom prst="roundRect">
            <a:avLst/>
          </a:prstGeom>
          <a:solidFill>
            <a:srgbClr val="FFFFFF"/>
          </a:solidFill>
          <a:ln>
            <a:solidFill>
              <a:srgbClr val="CB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07024" y="1874519"/>
            <a:ext cx="2112263" cy="146304"/>
          </a:xfrm>
          <a:prstGeom prst="rect">
            <a:avLst/>
          </a:prstGeom>
          <a:noFill/>
        </p:spPr>
        <p:txBody>
          <a:bodyPr wrap="square">
            <a:normAutofit/>
          </a:bodyPr>
          <a:lstStyle/>
          <a:p>
            <a:r>
              <a:rPr sz="950" b="1">
                <a:solidFill>
                  <a:srgbClr val="687180"/>
                </a:solidFill>
                <a:latin typeface="Arial"/>
              </a:rPr>
              <a:t>Cần xem lại</a:t>
            </a:r>
          </a:p>
        </p:txBody>
      </p:sp>
      <p:sp>
        <p:nvSpPr>
          <p:cNvPr id="17" name="TextBox 16"/>
          <p:cNvSpPr txBox="1"/>
          <p:nvPr/>
        </p:nvSpPr>
        <p:spPr>
          <a:xfrm>
            <a:off x="5907024" y="2057400"/>
            <a:ext cx="2112263" cy="228600"/>
          </a:xfrm>
          <a:prstGeom prst="rect">
            <a:avLst/>
          </a:prstGeom>
          <a:noFill/>
        </p:spPr>
        <p:txBody>
          <a:bodyPr wrap="square">
            <a:normAutofit/>
          </a:bodyPr>
          <a:lstStyle/>
          <a:p>
            <a:r>
              <a:rPr sz="2050" b="1">
                <a:solidFill>
                  <a:srgbClr val="F5A623"/>
                </a:solidFill>
                <a:latin typeface="Arial"/>
              </a:rPr>
              <a:t>382 (36,4%)</a:t>
            </a:r>
          </a:p>
        </p:txBody>
      </p:sp>
      <p:sp>
        <p:nvSpPr>
          <p:cNvPr id="18" name="TextBox 17"/>
          <p:cNvSpPr txBox="1"/>
          <p:nvPr/>
        </p:nvSpPr>
        <p:spPr>
          <a:xfrm>
            <a:off x="5907024" y="2350008"/>
            <a:ext cx="2112263" cy="164592"/>
          </a:xfrm>
          <a:prstGeom prst="rect">
            <a:avLst/>
          </a:prstGeom>
          <a:noFill/>
        </p:spPr>
        <p:txBody>
          <a:bodyPr wrap="square">
            <a:normAutofit/>
          </a:bodyPr>
          <a:lstStyle/>
          <a:p>
            <a:r>
              <a:rPr sz="860" b="0">
                <a:solidFill>
                  <a:srgbClr val="182C45"/>
                </a:solidFill>
                <a:latin typeface="Arial"/>
              </a:rPr>
              <a:t>Cần HNMU/UET đối chiếu thêm</a:t>
            </a:r>
          </a:p>
        </p:txBody>
      </p:sp>
      <p:sp>
        <p:nvSpPr>
          <p:cNvPr id="19" name="Rounded Rectangle 18"/>
          <p:cNvSpPr/>
          <p:nvPr/>
        </p:nvSpPr>
        <p:spPr>
          <a:xfrm>
            <a:off x="8321040" y="1783080"/>
            <a:ext cx="2240280" cy="822960"/>
          </a:xfrm>
          <a:prstGeom prst="roundRect">
            <a:avLst/>
          </a:prstGeom>
          <a:solidFill>
            <a:srgbClr val="FFFFFF"/>
          </a:solidFill>
          <a:ln>
            <a:solidFill>
              <a:srgbClr val="CB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0767" y="1874519"/>
            <a:ext cx="2020824" cy="146304"/>
          </a:xfrm>
          <a:prstGeom prst="rect">
            <a:avLst/>
          </a:prstGeom>
          <a:noFill/>
        </p:spPr>
        <p:txBody>
          <a:bodyPr wrap="square">
            <a:normAutofit/>
          </a:bodyPr>
          <a:lstStyle/>
          <a:p>
            <a:r>
              <a:rPr sz="950" b="1">
                <a:solidFill>
                  <a:srgbClr val="687180"/>
                </a:solidFill>
                <a:latin typeface="Arial"/>
              </a:rPr>
              <a:t>Không đạt</a:t>
            </a:r>
          </a:p>
        </p:txBody>
      </p:sp>
      <p:sp>
        <p:nvSpPr>
          <p:cNvPr id="21" name="TextBox 20"/>
          <p:cNvSpPr txBox="1"/>
          <p:nvPr/>
        </p:nvSpPr>
        <p:spPr>
          <a:xfrm>
            <a:off x="8430767" y="2057400"/>
            <a:ext cx="2020824" cy="228600"/>
          </a:xfrm>
          <a:prstGeom prst="rect">
            <a:avLst/>
          </a:prstGeom>
          <a:noFill/>
        </p:spPr>
        <p:txBody>
          <a:bodyPr wrap="square">
            <a:normAutofit/>
          </a:bodyPr>
          <a:lstStyle/>
          <a:p>
            <a:r>
              <a:rPr sz="2050" b="1">
                <a:solidFill>
                  <a:srgbClr val="DB3737"/>
                </a:solidFill>
                <a:latin typeface="Arial"/>
              </a:rPr>
              <a:t>3 (0,3%)</a:t>
            </a:r>
          </a:p>
        </p:txBody>
      </p:sp>
      <p:sp>
        <p:nvSpPr>
          <p:cNvPr id="22" name="TextBox 21"/>
          <p:cNvSpPr txBox="1"/>
          <p:nvPr/>
        </p:nvSpPr>
        <p:spPr>
          <a:xfrm>
            <a:off x="8430767" y="2350008"/>
            <a:ext cx="2020824" cy="164592"/>
          </a:xfrm>
          <a:prstGeom prst="rect">
            <a:avLst/>
          </a:prstGeom>
          <a:noFill/>
        </p:spPr>
        <p:txBody>
          <a:bodyPr wrap="square">
            <a:normAutofit/>
          </a:bodyPr>
          <a:lstStyle/>
          <a:p>
            <a:r>
              <a:rPr sz="860" b="0">
                <a:solidFill>
                  <a:srgbClr val="182C45"/>
                </a:solidFill>
                <a:latin typeface="Arial"/>
              </a:rPr>
              <a:t>Rất ít, xử lý từng mẫu</a:t>
            </a:r>
          </a:p>
        </p:txBody>
      </p:sp>
      <p:graphicFrame>
        <p:nvGraphicFramePr>
          <p:cNvPr id="23" name="Table 22"/>
          <p:cNvGraphicFramePr>
            <a:graphicFrameLocks noGrp="1"/>
          </p:cNvGraphicFramePr>
          <p:nvPr/>
        </p:nvGraphicFramePr>
        <p:xfrm>
          <a:off x="749808" y="2816352"/>
          <a:ext cx="9829800" cy="1069848"/>
        </p:xfrm>
        <a:graphic>
          <a:graphicData uri="http://schemas.openxmlformats.org/drawingml/2006/table">
            <a:tbl>
              <a:tblPr firstRow="1" bandRow="1">
                <a:tableStyleId>{5C22544A-7EE6-4342-B048-85BDC9FD1C3A}</a:tableStyleId>
              </a:tblPr>
              <a:tblGrid>
                <a:gridCol w="2011680"/>
                <a:gridCol w="1508760"/>
                <a:gridCol w="2103120"/>
                <a:gridCol w="2194560"/>
                <a:gridCol w="2011680"/>
              </a:tblGrid>
              <a:tr h="267462">
                <a:tc>
                  <a:txBody>
                    <a:bodyPr/>
                    <a:lstStyle/>
                    <a:p>
                      <a:pPr algn="ctr"/>
                      <a:r>
                        <a:rPr sz="919" b="1">
                          <a:solidFill>
                            <a:srgbClr val="FFFFFF"/>
                          </a:solidFill>
                          <a:latin typeface="Arial"/>
                        </a:rPr>
                        <a:t>Nhóm dữ liệu</a:t>
                      </a:r>
                    </a:p>
                  </a:txBody>
                  <a:tcPr>
                    <a:solidFill>
                      <a:srgbClr val="0D4F86"/>
                    </a:solidFill>
                  </a:tcPr>
                </a:tc>
                <a:tc>
                  <a:txBody>
                    <a:bodyPr/>
                    <a:lstStyle/>
                    <a:p>
                      <a:pPr algn="ctr"/>
                      <a:r>
                        <a:rPr sz="919" b="1">
                          <a:solidFill>
                            <a:srgbClr val="FFFFFF"/>
                          </a:solidFill>
                          <a:latin typeface="Arial"/>
                        </a:rPr>
                        <a:t>Tổng mẫu</a:t>
                      </a:r>
                    </a:p>
                  </a:txBody>
                  <a:tcPr>
                    <a:solidFill>
                      <a:srgbClr val="0D4F86"/>
                    </a:solidFill>
                  </a:tcPr>
                </a:tc>
                <a:tc>
                  <a:txBody>
                    <a:bodyPr/>
                    <a:lstStyle/>
                    <a:p>
                      <a:pPr algn="ctr"/>
                      <a:r>
                        <a:rPr sz="919" b="1">
                          <a:solidFill>
                            <a:srgbClr val="FFFFFF"/>
                          </a:solidFill>
                          <a:latin typeface="Arial"/>
                        </a:rPr>
                        <a:t>Đạt sơ bộ</a:t>
                      </a:r>
                    </a:p>
                  </a:txBody>
                  <a:tcPr>
                    <a:solidFill>
                      <a:srgbClr val="0D4F86"/>
                    </a:solidFill>
                  </a:tcPr>
                </a:tc>
                <a:tc>
                  <a:txBody>
                    <a:bodyPr/>
                    <a:lstStyle/>
                    <a:p>
                      <a:pPr algn="ctr"/>
                      <a:r>
                        <a:rPr sz="919" b="1">
                          <a:solidFill>
                            <a:srgbClr val="FFFFFF"/>
                          </a:solidFill>
                          <a:latin typeface="Arial"/>
                        </a:rPr>
                        <a:t>Cần xem lại</a:t>
                      </a:r>
                    </a:p>
                  </a:txBody>
                  <a:tcPr>
                    <a:solidFill>
                      <a:srgbClr val="0D4F86"/>
                    </a:solidFill>
                  </a:tcPr>
                </a:tc>
                <a:tc>
                  <a:txBody>
                    <a:bodyPr/>
                    <a:lstStyle/>
                    <a:p>
                      <a:pPr algn="ctr"/>
                      <a:r>
                        <a:rPr sz="919" b="1">
                          <a:solidFill>
                            <a:srgbClr val="FFFFFF"/>
                          </a:solidFill>
                          <a:latin typeface="Arial"/>
                        </a:rPr>
                        <a:t>Không đạt</a:t>
                      </a:r>
                    </a:p>
                  </a:txBody>
                  <a:tcPr>
                    <a:solidFill>
                      <a:srgbClr val="0D4F86"/>
                    </a:solidFill>
                  </a:tcPr>
                </a:tc>
              </a:tr>
              <a:tr h="267462">
                <a:tc>
                  <a:txBody>
                    <a:bodyPr/>
                    <a:lstStyle/>
                    <a:p>
                      <a:pPr algn="l"/>
                      <a:r>
                        <a:rPr sz="919">
                          <a:solidFill>
                            <a:srgbClr val="182C45"/>
                          </a:solidFill>
                          <a:latin typeface="Arial"/>
                        </a:rPr>
                        <a:t>Lớp 6–7</a:t>
                      </a:r>
                    </a:p>
                  </a:txBody>
                  <a:tcPr>
                    <a:solidFill>
                      <a:srgbClr val="FFFFFF"/>
                    </a:solidFill>
                  </a:tcPr>
                </a:tc>
                <a:tc>
                  <a:txBody>
                    <a:bodyPr/>
                    <a:lstStyle/>
                    <a:p>
                      <a:pPr algn="ctr"/>
                      <a:r>
                        <a:rPr sz="919">
                          <a:solidFill>
                            <a:srgbClr val="182C45"/>
                          </a:solidFill>
                          <a:latin typeface="Arial"/>
                        </a:rPr>
                        <a:t>462</a:t>
                      </a:r>
                    </a:p>
                  </a:txBody>
                  <a:tcPr>
                    <a:solidFill>
                      <a:srgbClr val="FFFFFF"/>
                    </a:solidFill>
                  </a:tcPr>
                </a:tc>
                <a:tc>
                  <a:txBody>
                    <a:bodyPr/>
                    <a:lstStyle/>
                    <a:p>
                      <a:pPr algn="ctr"/>
                      <a:r>
                        <a:rPr sz="919">
                          <a:solidFill>
                            <a:srgbClr val="182C45"/>
                          </a:solidFill>
                          <a:latin typeface="Arial"/>
                        </a:rPr>
                        <a:t>238 (51,5%)</a:t>
                      </a:r>
                    </a:p>
                  </a:txBody>
                  <a:tcPr>
                    <a:solidFill>
                      <a:srgbClr val="FFFFFF"/>
                    </a:solidFill>
                  </a:tcPr>
                </a:tc>
                <a:tc>
                  <a:txBody>
                    <a:bodyPr/>
                    <a:lstStyle/>
                    <a:p>
                      <a:pPr algn="ctr"/>
                      <a:r>
                        <a:rPr sz="919">
                          <a:solidFill>
                            <a:srgbClr val="182C45"/>
                          </a:solidFill>
                          <a:latin typeface="Arial"/>
                        </a:rPr>
                        <a:t>222 (48,1%)</a:t>
                      </a:r>
                    </a:p>
                  </a:txBody>
                  <a:tcPr>
                    <a:solidFill>
                      <a:srgbClr val="FFFFFF"/>
                    </a:solidFill>
                  </a:tcPr>
                </a:tc>
                <a:tc>
                  <a:txBody>
                    <a:bodyPr/>
                    <a:lstStyle/>
                    <a:p>
                      <a:pPr algn="ctr"/>
                      <a:r>
                        <a:rPr sz="919">
                          <a:solidFill>
                            <a:srgbClr val="182C45"/>
                          </a:solidFill>
                          <a:latin typeface="Arial"/>
                        </a:rPr>
                        <a:t>2 (0,4%)</a:t>
                      </a:r>
                    </a:p>
                  </a:txBody>
                  <a:tcPr>
                    <a:solidFill>
                      <a:srgbClr val="FFFFFF"/>
                    </a:solidFill>
                  </a:tcPr>
                </a:tc>
              </a:tr>
              <a:tr h="267462">
                <a:tc>
                  <a:txBody>
                    <a:bodyPr/>
                    <a:lstStyle/>
                    <a:p>
                      <a:pPr algn="l"/>
                      <a:r>
                        <a:rPr sz="919">
                          <a:solidFill>
                            <a:srgbClr val="182C45"/>
                          </a:solidFill>
                          <a:latin typeface="Arial"/>
                        </a:rPr>
                        <a:t>Lớp 8–9</a:t>
                      </a:r>
                    </a:p>
                  </a:txBody>
                  <a:tcPr>
                    <a:solidFill>
                      <a:srgbClr val="F2F6FA"/>
                    </a:solidFill>
                  </a:tcPr>
                </a:tc>
                <a:tc>
                  <a:txBody>
                    <a:bodyPr/>
                    <a:lstStyle/>
                    <a:p>
                      <a:pPr algn="ctr"/>
                      <a:r>
                        <a:rPr sz="919">
                          <a:solidFill>
                            <a:srgbClr val="182C45"/>
                          </a:solidFill>
                          <a:latin typeface="Arial"/>
                        </a:rPr>
                        <a:t>588</a:t>
                      </a:r>
                    </a:p>
                  </a:txBody>
                  <a:tcPr>
                    <a:solidFill>
                      <a:srgbClr val="F2F6FA"/>
                    </a:solidFill>
                  </a:tcPr>
                </a:tc>
                <a:tc>
                  <a:txBody>
                    <a:bodyPr/>
                    <a:lstStyle/>
                    <a:p>
                      <a:pPr algn="ctr"/>
                      <a:r>
                        <a:rPr sz="919">
                          <a:solidFill>
                            <a:srgbClr val="182C45"/>
                          </a:solidFill>
                          <a:latin typeface="Arial"/>
                        </a:rPr>
                        <a:t>427 (72,6%)</a:t>
                      </a:r>
                    </a:p>
                  </a:txBody>
                  <a:tcPr>
                    <a:solidFill>
                      <a:srgbClr val="F2F6FA"/>
                    </a:solidFill>
                  </a:tcPr>
                </a:tc>
                <a:tc>
                  <a:txBody>
                    <a:bodyPr/>
                    <a:lstStyle/>
                    <a:p>
                      <a:pPr algn="ctr"/>
                      <a:r>
                        <a:rPr sz="919">
                          <a:solidFill>
                            <a:srgbClr val="182C45"/>
                          </a:solidFill>
                          <a:latin typeface="Arial"/>
                        </a:rPr>
                        <a:t>160 (27,2%)</a:t>
                      </a:r>
                    </a:p>
                  </a:txBody>
                  <a:tcPr>
                    <a:solidFill>
                      <a:srgbClr val="F2F6FA"/>
                    </a:solidFill>
                  </a:tcPr>
                </a:tc>
                <a:tc>
                  <a:txBody>
                    <a:bodyPr/>
                    <a:lstStyle/>
                    <a:p>
                      <a:pPr algn="ctr"/>
                      <a:r>
                        <a:rPr sz="919">
                          <a:solidFill>
                            <a:srgbClr val="182C45"/>
                          </a:solidFill>
                          <a:latin typeface="Arial"/>
                        </a:rPr>
                        <a:t>1 (0,2%)</a:t>
                      </a:r>
                    </a:p>
                  </a:txBody>
                  <a:tcPr>
                    <a:solidFill>
                      <a:srgbClr val="F2F6FA"/>
                    </a:solidFill>
                  </a:tcPr>
                </a:tc>
              </a:tr>
              <a:tr h="267462">
                <a:tc>
                  <a:txBody>
                    <a:bodyPr/>
                    <a:lstStyle/>
                    <a:p>
                      <a:pPr algn="l"/>
                      <a:r>
                        <a:rPr sz="919">
                          <a:solidFill>
                            <a:srgbClr val="182C45"/>
                          </a:solidFill>
                          <a:latin typeface="Arial"/>
                        </a:rPr>
                        <a:t>Tổng lớp 6–9</a:t>
                      </a:r>
                    </a:p>
                  </a:txBody>
                  <a:tcPr>
                    <a:solidFill>
                      <a:srgbClr val="FFFFFF"/>
                    </a:solidFill>
                  </a:tcPr>
                </a:tc>
                <a:tc>
                  <a:txBody>
                    <a:bodyPr/>
                    <a:lstStyle/>
                    <a:p>
                      <a:pPr algn="ctr"/>
                      <a:r>
                        <a:rPr sz="919">
                          <a:solidFill>
                            <a:srgbClr val="182C45"/>
                          </a:solidFill>
                          <a:latin typeface="Arial"/>
                        </a:rPr>
                        <a:t>1.050</a:t>
                      </a:r>
                    </a:p>
                  </a:txBody>
                  <a:tcPr>
                    <a:solidFill>
                      <a:srgbClr val="FFFFFF"/>
                    </a:solidFill>
                  </a:tcPr>
                </a:tc>
                <a:tc>
                  <a:txBody>
                    <a:bodyPr/>
                    <a:lstStyle/>
                    <a:p>
                      <a:pPr algn="ctr"/>
                      <a:r>
                        <a:rPr sz="919">
                          <a:solidFill>
                            <a:srgbClr val="182C45"/>
                          </a:solidFill>
                          <a:latin typeface="Arial"/>
                        </a:rPr>
                        <a:t>665 (63,3%)</a:t>
                      </a:r>
                    </a:p>
                  </a:txBody>
                  <a:tcPr>
                    <a:solidFill>
                      <a:srgbClr val="FFFFFF"/>
                    </a:solidFill>
                  </a:tcPr>
                </a:tc>
                <a:tc>
                  <a:txBody>
                    <a:bodyPr/>
                    <a:lstStyle/>
                    <a:p>
                      <a:pPr algn="ctr"/>
                      <a:r>
                        <a:rPr sz="919">
                          <a:solidFill>
                            <a:srgbClr val="182C45"/>
                          </a:solidFill>
                          <a:latin typeface="Arial"/>
                        </a:rPr>
                        <a:t>382 (36,4%)</a:t>
                      </a:r>
                    </a:p>
                  </a:txBody>
                  <a:tcPr>
                    <a:solidFill>
                      <a:srgbClr val="FFFFFF"/>
                    </a:solidFill>
                  </a:tcPr>
                </a:tc>
                <a:tc>
                  <a:txBody>
                    <a:bodyPr/>
                    <a:lstStyle/>
                    <a:p>
                      <a:pPr algn="ctr"/>
                      <a:r>
                        <a:rPr sz="919">
                          <a:solidFill>
                            <a:srgbClr val="182C45"/>
                          </a:solidFill>
                          <a:latin typeface="Arial"/>
                        </a:rPr>
                        <a:t>3 (0,3%)</a:t>
                      </a:r>
                    </a:p>
                  </a:txBody>
                  <a:tcPr>
                    <a:solidFill>
                      <a:srgbClr val="FFFFFF"/>
                    </a:solidFill>
                  </a:tcPr>
                </a:tc>
              </a:tr>
            </a:tbl>
          </a:graphicData>
        </a:graphic>
      </p:graphicFrame>
      <p:sp>
        <p:nvSpPr>
          <p:cNvPr id="24" name="TextBox 23"/>
          <p:cNvSpPr txBox="1"/>
          <p:nvPr/>
        </p:nvSpPr>
        <p:spPr>
          <a:xfrm>
            <a:off x="914400" y="4498848"/>
            <a:ext cx="1828800" cy="201168"/>
          </a:xfrm>
          <a:prstGeom prst="rect">
            <a:avLst/>
          </a:prstGeom>
          <a:noFill/>
        </p:spPr>
        <p:txBody>
          <a:bodyPr wrap="square">
            <a:normAutofit/>
          </a:bodyPr>
          <a:lstStyle/>
          <a:p>
            <a:r>
              <a:rPr sz="1000" b="1">
                <a:solidFill>
                  <a:srgbClr val="182C45"/>
                </a:solidFill>
                <a:latin typeface="Arial"/>
              </a:rPr>
              <a:t>Đạt sơ bộ</a:t>
            </a:r>
          </a:p>
        </p:txBody>
      </p:sp>
      <p:sp>
        <p:nvSpPr>
          <p:cNvPr id="25" name="Rounded Rectangle 24"/>
          <p:cNvSpPr/>
          <p:nvPr/>
        </p:nvSpPr>
        <p:spPr>
          <a:xfrm>
            <a:off x="2788920" y="4526280"/>
            <a:ext cx="4572000" cy="146304"/>
          </a:xfrm>
          <a:prstGeom prst="roundRect">
            <a:avLst/>
          </a:prstGeom>
          <a:solidFill>
            <a:srgbClr val="E6ECF1"/>
          </a:solidFill>
          <a:ln>
            <a:solidFill>
              <a:srgbClr val="E6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88920" y="4526280"/>
            <a:ext cx="2895600" cy="146304"/>
          </a:xfrm>
          <a:prstGeom prst="roundRect">
            <a:avLst/>
          </a:prstGeom>
          <a:solidFill>
            <a:srgbClr val="2FA652"/>
          </a:solidFill>
          <a:ln>
            <a:solidFill>
              <a:srgbClr val="2FA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0648" y="4489704"/>
            <a:ext cx="914400" cy="201168"/>
          </a:xfrm>
          <a:prstGeom prst="rect">
            <a:avLst/>
          </a:prstGeom>
          <a:noFill/>
        </p:spPr>
        <p:txBody>
          <a:bodyPr wrap="square">
            <a:normAutofit/>
          </a:bodyPr>
          <a:lstStyle/>
          <a:p>
            <a:r>
              <a:rPr sz="1000" b="1">
                <a:solidFill>
                  <a:srgbClr val="182C45"/>
                </a:solidFill>
                <a:latin typeface="Arial"/>
              </a:rPr>
              <a:t>63,3%</a:t>
            </a:r>
          </a:p>
        </p:txBody>
      </p:sp>
      <p:sp>
        <p:nvSpPr>
          <p:cNvPr id="28" name="TextBox 27"/>
          <p:cNvSpPr txBox="1"/>
          <p:nvPr/>
        </p:nvSpPr>
        <p:spPr>
          <a:xfrm>
            <a:off x="914400" y="4956048"/>
            <a:ext cx="1828800" cy="201168"/>
          </a:xfrm>
          <a:prstGeom prst="rect">
            <a:avLst/>
          </a:prstGeom>
          <a:noFill/>
        </p:spPr>
        <p:txBody>
          <a:bodyPr wrap="square">
            <a:normAutofit/>
          </a:bodyPr>
          <a:lstStyle/>
          <a:p>
            <a:r>
              <a:rPr sz="1000" b="1">
                <a:solidFill>
                  <a:srgbClr val="182C45"/>
                </a:solidFill>
                <a:latin typeface="Arial"/>
              </a:rPr>
              <a:t>Cần xem lại</a:t>
            </a:r>
          </a:p>
        </p:txBody>
      </p:sp>
      <p:sp>
        <p:nvSpPr>
          <p:cNvPr id="29" name="Rounded Rectangle 28"/>
          <p:cNvSpPr/>
          <p:nvPr/>
        </p:nvSpPr>
        <p:spPr>
          <a:xfrm>
            <a:off x="2788920" y="4983480"/>
            <a:ext cx="4572000" cy="146304"/>
          </a:xfrm>
          <a:prstGeom prst="roundRect">
            <a:avLst/>
          </a:prstGeom>
          <a:solidFill>
            <a:srgbClr val="E6ECF1"/>
          </a:solidFill>
          <a:ln>
            <a:solidFill>
              <a:srgbClr val="E6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788920" y="4983480"/>
            <a:ext cx="1663337" cy="146304"/>
          </a:xfrm>
          <a:prstGeom prst="round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0648" y="4946904"/>
            <a:ext cx="914400" cy="201168"/>
          </a:xfrm>
          <a:prstGeom prst="rect">
            <a:avLst/>
          </a:prstGeom>
          <a:noFill/>
        </p:spPr>
        <p:txBody>
          <a:bodyPr wrap="square">
            <a:normAutofit/>
          </a:bodyPr>
          <a:lstStyle/>
          <a:p>
            <a:r>
              <a:rPr sz="1000" b="1">
                <a:solidFill>
                  <a:srgbClr val="182C45"/>
                </a:solidFill>
                <a:latin typeface="Arial"/>
              </a:rPr>
              <a:t>36,4%</a:t>
            </a:r>
          </a:p>
        </p:txBody>
      </p:sp>
      <p:sp>
        <p:nvSpPr>
          <p:cNvPr id="32" name="TextBox 31"/>
          <p:cNvSpPr txBox="1"/>
          <p:nvPr/>
        </p:nvSpPr>
        <p:spPr>
          <a:xfrm>
            <a:off x="914400" y="5413248"/>
            <a:ext cx="1828800" cy="201168"/>
          </a:xfrm>
          <a:prstGeom prst="rect">
            <a:avLst/>
          </a:prstGeom>
          <a:noFill/>
        </p:spPr>
        <p:txBody>
          <a:bodyPr wrap="square">
            <a:normAutofit/>
          </a:bodyPr>
          <a:lstStyle/>
          <a:p>
            <a:r>
              <a:rPr sz="1000" b="1">
                <a:solidFill>
                  <a:srgbClr val="182C45"/>
                </a:solidFill>
                <a:latin typeface="Arial"/>
              </a:rPr>
              <a:t>Không đạt</a:t>
            </a:r>
          </a:p>
        </p:txBody>
      </p:sp>
      <p:sp>
        <p:nvSpPr>
          <p:cNvPr id="33" name="Rounded Rectangle 32"/>
          <p:cNvSpPr/>
          <p:nvPr/>
        </p:nvSpPr>
        <p:spPr>
          <a:xfrm>
            <a:off x="2788920" y="5440680"/>
            <a:ext cx="4572000" cy="146304"/>
          </a:xfrm>
          <a:prstGeom prst="roundRect">
            <a:avLst/>
          </a:prstGeom>
          <a:solidFill>
            <a:srgbClr val="E6ECF1"/>
          </a:solidFill>
          <a:ln>
            <a:solidFill>
              <a:srgbClr val="E6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788920" y="5440680"/>
            <a:ext cx="13062" cy="146304"/>
          </a:xfrm>
          <a:prstGeom prst="roundRect">
            <a:avLst/>
          </a:prstGeom>
          <a:solidFill>
            <a:srgbClr val="DB3737"/>
          </a:solidFill>
          <a:ln>
            <a:solidFill>
              <a:srgbClr val="DB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0648" y="5404104"/>
            <a:ext cx="914400" cy="201168"/>
          </a:xfrm>
          <a:prstGeom prst="rect">
            <a:avLst/>
          </a:prstGeom>
          <a:noFill/>
        </p:spPr>
        <p:txBody>
          <a:bodyPr wrap="square">
            <a:normAutofit/>
          </a:bodyPr>
          <a:lstStyle/>
          <a:p>
            <a:r>
              <a:rPr sz="1000" b="1">
                <a:solidFill>
                  <a:srgbClr val="182C45"/>
                </a:solidFill>
                <a:latin typeface="Arial"/>
              </a:rPr>
              <a:t>0,3%</a:t>
            </a:r>
          </a:p>
        </p:txBody>
      </p:sp>
      <p:sp>
        <p:nvSpPr>
          <p:cNvPr id="36" name="Rounded Rectangle 35"/>
          <p:cNvSpPr/>
          <p:nvPr/>
        </p:nvSpPr>
        <p:spPr>
          <a:xfrm>
            <a:off x="7315200" y="4498848"/>
            <a:ext cx="3063240" cy="256032"/>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450" b="1">
                <a:solidFill>
                  <a:srgbClr val="0D4F86"/>
                </a:solidFill>
                <a:latin typeface="Arial"/>
              </a:rPr>
              <a:t>Cách hiểu đúng</a:t>
            </a:r>
          </a:p>
        </p:txBody>
      </p:sp>
      <p:sp>
        <p:nvSpPr>
          <p:cNvPr id="37" name="Rounded Rectangle 36"/>
          <p:cNvSpPr/>
          <p:nvPr/>
        </p:nvSpPr>
        <p:spPr>
          <a:xfrm>
            <a:off x="7315200" y="4828032"/>
            <a:ext cx="3063240" cy="777240"/>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050" b="0">
                <a:solidFill>
                  <a:srgbClr val="182C45"/>
                </a:solidFill>
                <a:latin typeface="Arial"/>
              </a:rPr>
              <a:t>Nhóm “cần xem lại” không đồng nghĩa với mẫu sai. Đây là vùng ưu tiên đối chiếu với SGK/SGV, đáp án và thông tin phụ trợ trước khi chuyển sang tạo mẫu benchmark.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13232" y="658368"/>
            <a:ext cx="8641080" cy="393192"/>
          </a:xfrm>
          <a:prstGeom prst="rect">
            <a:avLst/>
          </a:prstGeom>
          <a:noFill/>
        </p:spPr>
        <p:txBody>
          <a:bodyPr wrap="square">
            <a:normAutofit/>
          </a:bodyPr>
          <a:lstStyle/>
          <a:p>
            <a:r>
              <a:rPr sz="2550" b="1">
                <a:solidFill>
                  <a:srgbClr val="0D4F86"/>
                </a:solidFill>
                <a:latin typeface="Arial"/>
              </a:rPr>
              <a:t>13. Tiêu chí khiến mẫu cần xem lại nhiều nhất</a:t>
            </a:r>
          </a:p>
        </p:txBody>
      </p:sp>
      <p:sp>
        <p:nvSpPr>
          <p:cNvPr id="4" name="TextBox 3"/>
          <p:cNvSpPr txBox="1"/>
          <p:nvPr/>
        </p:nvSpPr>
        <p:spPr>
          <a:xfrm>
            <a:off x="758952" y="1133856"/>
            <a:ext cx="8823960" cy="256032"/>
          </a:xfrm>
          <a:prstGeom prst="rect">
            <a:avLst/>
          </a:prstGeom>
          <a:noFill/>
        </p:spPr>
        <p:txBody>
          <a:bodyPr wrap="square">
            <a:normAutofit/>
          </a:bodyPr>
          <a:lstStyle/>
          <a:p>
            <a:r>
              <a:rPr sz="1250" b="0">
                <a:solidFill>
                  <a:srgbClr val="687180"/>
                </a:solidFill>
                <a:latin typeface="Arial"/>
              </a:rPr>
              <a:t>Nhìn theo số mẫu có tiêu chí chưa chắc hoặc không đạt trong vòng rà soát</a:t>
            </a:r>
          </a:p>
        </p:txBody>
      </p:sp>
      <p:sp>
        <p:nvSpPr>
          <p:cNvPr id="5" name="Rectangle 4"/>
          <p:cNvSpPr/>
          <p:nvPr/>
        </p:nvSpPr>
        <p:spPr>
          <a:xfrm>
            <a:off x="713232" y="1444752"/>
            <a:ext cx="1143000" cy="36576"/>
          </a:xfrm>
          <a:prstGeom prst="rect">
            <a:avLst/>
          </a:prstGeom>
          <a:solidFill>
            <a:srgbClr val="00A8BE"/>
          </a:solidFill>
          <a:ln>
            <a:solidFill>
              <a:srgbClr val="00A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84280" y="6473952"/>
            <a:ext cx="320040" cy="164592"/>
          </a:xfrm>
          <a:prstGeom prst="rect">
            <a:avLst/>
          </a:prstGeom>
          <a:noFill/>
        </p:spPr>
        <p:txBody>
          <a:bodyPr wrap="square">
            <a:normAutofit/>
          </a:bodyPr>
          <a:lstStyle/>
          <a:p>
            <a:pPr algn="ctr"/>
            <a:r>
              <a:rPr sz="800" b="0">
                <a:solidFill>
                  <a:srgbClr val="FFFFFF"/>
                </a:solidFill>
                <a:latin typeface="Arial"/>
              </a:rPr>
              <a:t>14</a:t>
            </a:r>
          </a:p>
        </p:txBody>
      </p:sp>
      <p:sp>
        <p:nvSpPr>
          <p:cNvPr id="7" name="TextBox 6"/>
          <p:cNvSpPr txBox="1"/>
          <p:nvPr/>
        </p:nvSpPr>
        <p:spPr>
          <a:xfrm>
            <a:off x="868680" y="1801368"/>
            <a:ext cx="3063240" cy="201168"/>
          </a:xfrm>
          <a:prstGeom prst="rect">
            <a:avLst/>
          </a:prstGeom>
          <a:noFill/>
        </p:spPr>
        <p:txBody>
          <a:bodyPr wrap="square">
            <a:normAutofit/>
          </a:bodyPr>
          <a:lstStyle/>
          <a:p>
            <a:r>
              <a:rPr sz="1019" b="1">
                <a:solidFill>
                  <a:srgbClr val="182C45"/>
                </a:solidFill>
                <a:latin typeface="Arial"/>
              </a:rPr>
              <a:t>1. Đáp án SGV khớp câu hỏi</a:t>
            </a:r>
          </a:p>
        </p:txBody>
      </p:sp>
      <p:sp>
        <p:nvSpPr>
          <p:cNvPr id="8" name="Rectangle 7"/>
          <p:cNvSpPr/>
          <p:nvPr/>
        </p:nvSpPr>
        <p:spPr>
          <a:xfrm>
            <a:off x="3977639" y="1828800"/>
            <a:ext cx="3657600" cy="164592"/>
          </a:xfrm>
          <a:prstGeom prst="rect">
            <a:avLst/>
          </a:prstGeom>
          <a:solidFill>
            <a:srgbClr val="E7EEF4"/>
          </a:solidFill>
          <a:ln>
            <a:solidFill>
              <a:srgbClr val="E7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77639" y="1828800"/>
            <a:ext cx="3657600" cy="164592"/>
          </a:xfrm>
          <a:prstGeom prst="rect">
            <a:avLst/>
          </a:prstGeom>
          <a:solidFill>
            <a:srgbClr val="0D4F86"/>
          </a:solidFill>
          <a:ln>
            <a:solidFill>
              <a:srgbClr val="0D4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783080"/>
            <a:ext cx="822960" cy="201168"/>
          </a:xfrm>
          <a:prstGeom prst="rect">
            <a:avLst/>
          </a:prstGeom>
          <a:noFill/>
        </p:spPr>
        <p:txBody>
          <a:bodyPr wrap="square">
            <a:normAutofit/>
          </a:bodyPr>
          <a:lstStyle/>
          <a:p>
            <a:r>
              <a:rPr sz="1019" b="1">
                <a:solidFill>
                  <a:srgbClr val="182C45"/>
                </a:solidFill>
                <a:latin typeface="Arial"/>
              </a:rPr>
              <a:t>224 mẫu</a:t>
            </a:r>
          </a:p>
        </p:txBody>
      </p:sp>
      <p:sp>
        <p:nvSpPr>
          <p:cNvPr id="11" name="TextBox 10"/>
          <p:cNvSpPr txBox="1"/>
          <p:nvPr/>
        </p:nvSpPr>
        <p:spPr>
          <a:xfrm>
            <a:off x="868680" y="2203704"/>
            <a:ext cx="3063240" cy="201168"/>
          </a:xfrm>
          <a:prstGeom prst="rect">
            <a:avLst/>
          </a:prstGeom>
          <a:noFill/>
        </p:spPr>
        <p:txBody>
          <a:bodyPr wrap="square">
            <a:normAutofit/>
          </a:bodyPr>
          <a:lstStyle/>
          <a:p>
            <a:r>
              <a:rPr sz="1019" b="1">
                <a:solidFill>
                  <a:srgbClr val="182C45"/>
                </a:solidFill>
                <a:latin typeface="Arial"/>
              </a:rPr>
              <a:t>2. Thông tin phụ trợ nhất quán</a:t>
            </a:r>
          </a:p>
        </p:txBody>
      </p:sp>
      <p:sp>
        <p:nvSpPr>
          <p:cNvPr id="12" name="Rectangle 11"/>
          <p:cNvSpPr/>
          <p:nvPr/>
        </p:nvSpPr>
        <p:spPr>
          <a:xfrm>
            <a:off x="3977639" y="2231136"/>
            <a:ext cx="3657600" cy="164592"/>
          </a:xfrm>
          <a:prstGeom prst="rect">
            <a:avLst/>
          </a:prstGeom>
          <a:solidFill>
            <a:srgbClr val="E7EEF4"/>
          </a:solidFill>
          <a:ln>
            <a:solidFill>
              <a:srgbClr val="E7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77639" y="2231136"/>
            <a:ext cx="2481942" cy="164592"/>
          </a:xfrm>
          <a:prstGeom prst="rect">
            <a:avLst/>
          </a:prstGeom>
          <a:solidFill>
            <a:srgbClr val="0D4F86"/>
          </a:solidFill>
          <a:ln>
            <a:solidFill>
              <a:srgbClr val="0D4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2185416"/>
            <a:ext cx="822960" cy="201168"/>
          </a:xfrm>
          <a:prstGeom prst="rect">
            <a:avLst/>
          </a:prstGeom>
          <a:noFill/>
        </p:spPr>
        <p:txBody>
          <a:bodyPr wrap="square">
            <a:normAutofit/>
          </a:bodyPr>
          <a:lstStyle/>
          <a:p>
            <a:r>
              <a:rPr sz="1019" b="1">
                <a:solidFill>
                  <a:srgbClr val="182C45"/>
                </a:solidFill>
                <a:latin typeface="Arial"/>
              </a:rPr>
              <a:t>152 mẫu</a:t>
            </a:r>
          </a:p>
        </p:txBody>
      </p:sp>
      <p:sp>
        <p:nvSpPr>
          <p:cNvPr id="15" name="TextBox 14"/>
          <p:cNvSpPr txBox="1"/>
          <p:nvPr/>
        </p:nvSpPr>
        <p:spPr>
          <a:xfrm>
            <a:off x="868680" y="2606040"/>
            <a:ext cx="3063240" cy="201168"/>
          </a:xfrm>
          <a:prstGeom prst="rect">
            <a:avLst/>
          </a:prstGeom>
          <a:noFill/>
        </p:spPr>
        <p:txBody>
          <a:bodyPr wrap="square">
            <a:normAutofit/>
          </a:bodyPr>
          <a:lstStyle/>
          <a:p>
            <a:r>
              <a:rPr sz="1019" b="1">
                <a:solidFill>
                  <a:srgbClr val="182C45"/>
                </a:solidFill>
                <a:latin typeface="Arial"/>
              </a:rPr>
              <a:t>3. Căn cứ SGK/SGV đủ chắc</a:t>
            </a:r>
          </a:p>
        </p:txBody>
      </p:sp>
      <p:sp>
        <p:nvSpPr>
          <p:cNvPr id="16" name="Rectangle 15"/>
          <p:cNvSpPr/>
          <p:nvPr/>
        </p:nvSpPr>
        <p:spPr>
          <a:xfrm>
            <a:off x="3977639" y="2633472"/>
            <a:ext cx="3657600" cy="164592"/>
          </a:xfrm>
          <a:prstGeom prst="rect">
            <a:avLst/>
          </a:prstGeom>
          <a:solidFill>
            <a:srgbClr val="E7EEF4"/>
          </a:solidFill>
          <a:ln>
            <a:solidFill>
              <a:srgbClr val="E7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77639" y="2633472"/>
            <a:ext cx="1779814" cy="164592"/>
          </a:xfrm>
          <a:prstGeom prst="rect">
            <a:avLst/>
          </a:prstGeom>
          <a:solidFill>
            <a:srgbClr val="00A8BE"/>
          </a:solidFill>
          <a:ln>
            <a:solidFill>
              <a:srgbClr val="00A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587752"/>
            <a:ext cx="822960" cy="201168"/>
          </a:xfrm>
          <a:prstGeom prst="rect">
            <a:avLst/>
          </a:prstGeom>
          <a:noFill/>
        </p:spPr>
        <p:txBody>
          <a:bodyPr wrap="square">
            <a:normAutofit/>
          </a:bodyPr>
          <a:lstStyle/>
          <a:p>
            <a:r>
              <a:rPr sz="1019" b="1">
                <a:solidFill>
                  <a:srgbClr val="182C45"/>
                </a:solidFill>
                <a:latin typeface="Arial"/>
              </a:rPr>
              <a:t>109 mẫu</a:t>
            </a:r>
          </a:p>
        </p:txBody>
      </p:sp>
      <p:sp>
        <p:nvSpPr>
          <p:cNvPr id="19" name="TextBox 18"/>
          <p:cNvSpPr txBox="1"/>
          <p:nvPr/>
        </p:nvSpPr>
        <p:spPr>
          <a:xfrm>
            <a:off x="868680" y="3008376"/>
            <a:ext cx="3063240" cy="201168"/>
          </a:xfrm>
          <a:prstGeom prst="rect">
            <a:avLst/>
          </a:prstGeom>
          <a:noFill/>
        </p:spPr>
        <p:txBody>
          <a:bodyPr wrap="square">
            <a:normAutofit/>
          </a:bodyPr>
          <a:lstStyle/>
          <a:p>
            <a:r>
              <a:rPr sz="1019" b="1">
                <a:solidFill>
                  <a:srgbClr val="182C45"/>
                </a:solidFill>
                <a:latin typeface="Arial"/>
              </a:rPr>
              <a:t>4. Câu hỏi khớp bài/vị trí</a:t>
            </a:r>
          </a:p>
        </p:txBody>
      </p:sp>
      <p:sp>
        <p:nvSpPr>
          <p:cNvPr id="20" name="Rectangle 19"/>
          <p:cNvSpPr/>
          <p:nvPr/>
        </p:nvSpPr>
        <p:spPr>
          <a:xfrm>
            <a:off x="3977639" y="3035808"/>
            <a:ext cx="3657600" cy="164592"/>
          </a:xfrm>
          <a:prstGeom prst="rect">
            <a:avLst/>
          </a:prstGeom>
          <a:solidFill>
            <a:srgbClr val="E7EEF4"/>
          </a:solidFill>
          <a:ln>
            <a:solidFill>
              <a:srgbClr val="E7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77639" y="3035808"/>
            <a:ext cx="1616528" cy="164592"/>
          </a:xfrm>
          <a:prstGeom prst="rect">
            <a:avLst/>
          </a:prstGeom>
          <a:solidFill>
            <a:srgbClr val="00A8BE"/>
          </a:solidFill>
          <a:ln>
            <a:solidFill>
              <a:srgbClr val="00A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2990088"/>
            <a:ext cx="822960" cy="201168"/>
          </a:xfrm>
          <a:prstGeom prst="rect">
            <a:avLst/>
          </a:prstGeom>
          <a:noFill/>
        </p:spPr>
        <p:txBody>
          <a:bodyPr wrap="square">
            <a:normAutofit/>
          </a:bodyPr>
          <a:lstStyle/>
          <a:p>
            <a:r>
              <a:rPr sz="1019" b="1">
                <a:solidFill>
                  <a:srgbClr val="182C45"/>
                </a:solidFill>
                <a:latin typeface="Arial"/>
              </a:rPr>
              <a:t>99 mẫu</a:t>
            </a:r>
          </a:p>
        </p:txBody>
      </p:sp>
      <p:sp>
        <p:nvSpPr>
          <p:cNvPr id="23" name="TextBox 22"/>
          <p:cNvSpPr txBox="1"/>
          <p:nvPr/>
        </p:nvSpPr>
        <p:spPr>
          <a:xfrm>
            <a:off x="868680" y="3410712"/>
            <a:ext cx="3063240" cy="201168"/>
          </a:xfrm>
          <a:prstGeom prst="rect">
            <a:avLst/>
          </a:prstGeom>
          <a:noFill/>
        </p:spPr>
        <p:txBody>
          <a:bodyPr wrap="square">
            <a:normAutofit/>
          </a:bodyPr>
          <a:lstStyle/>
          <a:p>
            <a:r>
              <a:rPr sz="1019" b="1">
                <a:solidFill>
                  <a:srgbClr val="182C45"/>
                </a:solidFill>
                <a:latin typeface="Arial"/>
              </a:rPr>
              <a:t>5. Mức nhận thức hợp lý</a:t>
            </a:r>
          </a:p>
        </p:txBody>
      </p:sp>
      <p:sp>
        <p:nvSpPr>
          <p:cNvPr id="24" name="Rectangle 23"/>
          <p:cNvSpPr/>
          <p:nvPr/>
        </p:nvSpPr>
        <p:spPr>
          <a:xfrm>
            <a:off x="3977639" y="3438144"/>
            <a:ext cx="3657600" cy="164592"/>
          </a:xfrm>
          <a:prstGeom prst="rect">
            <a:avLst/>
          </a:prstGeom>
          <a:solidFill>
            <a:srgbClr val="E7EEF4"/>
          </a:solidFill>
          <a:ln>
            <a:solidFill>
              <a:srgbClr val="E7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77639" y="3438144"/>
            <a:ext cx="1208314" cy="164592"/>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3392424"/>
            <a:ext cx="822960" cy="201168"/>
          </a:xfrm>
          <a:prstGeom prst="rect">
            <a:avLst/>
          </a:prstGeom>
          <a:noFill/>
        </p:spPr>
        <p:txBody>
          <a:bodyPr wrap="square">
            <a:normAutofit/>
          </a:bodyPr>
          <a:lstStyle/>
          <a:p>
            <a:r>
              <a:rPr sz="1019" b="1">
                <a:solidFill>
                  <a:srgbClr val="182C45"/>
                </a:solidFill>
                <a:latin typeface="Arial"/>
              </a:rPr>
              <a:t>74 mẫu</a:t>
            </a:r>
          </a:p>
        </p:txBody>
      </p:sp>
      <p:sp>
        <p:nvSpPr>
          <p:cNvPr id="27" name="TextBox 26"/>
          <p:cNvSpPr txBox="1"/>
          <p:nvPr/>
        </p:nvSpPr>
        <p:spPr>
          <a:xfrm>
            <a:off x="868680" y="3813048"/>
            <a:ext cx="3063240" cy="201168"/>
          </a:xfrm>
          <a:prstGeom prst="rect">
            <a:avLst/>
          </a:prstGeom>
          <a:noFill/>
        </p:spPr>
        <p:txBody>
          <a:bodyPr wrap="square">
            <a:normAutofit/>
          </a:bodyPr>
          <a:lstStyle/>
          <a:p>
            <a:r>
              <a:rPr sz="1019" b="1">
                <a:solidFill>
                  <a:srgbClr val="182C45"/>
                </a:solidFill>
                <a:latin typeface="Arial"/>
              </a:rPr>
              <a:t>6. Hội thoại bám đáp án</a:t>
            </a:r>
          </a:p>
        </p:txBody>
      </p:sp>
      <p:sp>
        <p:nvSpPr>
          <p:cNvPr id="28" name="Rectangle 27"/>
          <p:cNvSpPr/>
          <p:nvPr/>
        </p:nvSpPr>
        <p:spPr>
          <a:xfrm>
            <a:off x="3977639" y="3840480"/>
            <a:ext cx="3657600" cy="164592"/>
          </a:xfrm>
          <a:prstGeom prst="rect">
            <a:avLst/>
          </a:prstGeom>
          <a:solidFill>
            <a:srgbClr val="E7EEF4"/>
          </a:solidFill>
          <a:ln>
            <a:solidFill>
              <a:srgbClr val="E7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77639" y="3840480"/>
            <a:ext cx="1191985" cy="164592"/>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3794760"/>
            <a:ext cx="822960" cy="201168"/>
          </a:xfrm>
          <a:prstGeom prst="rect">
            <a:avLst/>
          </a:prstGeom>
          <a:noFill/>
        </p:spPr>
        <p:txBody>
          <a:bodyPr wrap="square">
            <a:normAutofit/>
          </a:bodyPr>
          <a:lstStyle/>
          <a:p>
            <a:r>
              <a:rPr sz="1019" b="1">
                <a:solidFill>
                  <a:srgbClr val="182C45"/>
                </a:solidFill>
                <a:latin typeface="Arial"/>
              </a:rPr>
              <a:t>73 mẫu</a:t>
            </a:r>
          </a:p>
        </p:txBody>
      </p:sp>
      <p:sp>
        <p:nvSpPr>
          <p:cNvPr id="31" name="Rounded Rectangle 30"/>
          <p:cNvSpPr/>
          <p:nvPr/>
        </p:nvSpPr>
        <p:spPr>
          <a:xfrm>
            <a:off x="8961120" y="1810512"/>
            <a:ext cx="1920240" cy="237744"/>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450" b="1">
                <a:solidFill>
                  <a:srgbClr val="0D4F86"/>
                </a:solidFill>
                <a:latin typeface="Arial"/>
              </a:rPr>
              <a:t>Ý nghĩa chính</a:t>
            </a:r>
          </a:p>
        </p:txBody>
      </p:sp>
      <p:sp>
        <p:nvSpPr>
          <p:cNvPr id="32" name="Rounded Rectangle 31"/>
          <p:cNvSpPr/>
          <p:nvPr/>
        </p:nvSpPr>
        <p:spPr>
          <a:xfrm>
            <a:off x="8961120" y="2139696"/>
            <a:ext cx="1920240" cy="1078992"/>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019" b="0">
                <a:solidFill>
                  <a:srgbClr val="182C45"/>
                </a:solidFill>
                <a:latin typeface="Arial"/>
              </a:rPr>
              <a:t>Các vấn đề nổi bật nhất đều nằm ở tính nhất quán giữa câu hỏi, đáp án, hội thoại và căn cứ SGK/SGV. Vì vậy, bước xem lại tiếp theo nên tập trung vào đối chiếu chuyên môn.</a:t>
            </a:r>
          </a:p>
        </p:txBody>
      </p:sp>
      <p:sp>
        <p:nvSpPr>
          <p:cNvPr id="33" name="Rounded Rectangle 32"/>
          <p:cNvSpPr/>
          <p:nvPr/>
        </p:nvSpPr>
        <p:spPr>
          <a:xfrm>
            <a:off x="868680" y="4754880"/>
            <a:ext cx="2011680" cy="256032"/>
          </a:xfrm>
          <a:prstGeom prst="roundRect">
            <a:avLst/>
          </a:prstGeom>
          <a:solidFill>
            <a:srgbClr val="FFF6E8"/>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450" b="1">
                <a:solidFill>
                  <a:srgbClr val="0D4F86"/>
                </a:solidFill>
                <a:latin typeface="Arial"/>
              </a:rPr>
              <a:t>Ưu tiên xử lý</a:t>
            </a:r>
          </a:p>
        </p:txBody>
      </p:sp>
      <p:sp>
        <p:nvSpPr>
          <p:cNvPr id="34" name="Rounded Rectangle 33"/>
          <p:cNvSpPr/>
          <p:nvPr/>
        </p:nvSpPr>
        <p:spPr>
          <a:xfrm>
            <a:off x="868680" y="5102352"/>
            <a:ext cx="5440680" cy="777240"/>
          </a:xfrm>
          <a:prstGeom prst="roundRect">
            <a:avLst/>
          </a:prstGeom>
          <a:solidFill>
            <a:srgbClr val="FFF6E8"/>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070" b="0">
                <a:solidFill>
                  <a:srgbClr val="182C45"/>
                </a:solidFill>
                <a:latin typeface="Arial"/>
              </a:rPr>
              <a:t>1) Đối chiếu câu hỏi với đáp án trong sách giáo viên.
2) Kiểm lại bài học/vị trí và căn cứ SGK/SGV.
3) Rà các mẫu có mức nhận thức hoặc hội thoại chưa khớp rõ.</a:t>
            </a:r>
          </a:p>
        </p:txBody>
      </p:sp>
      <p:sp>
        <p:nvSpPr>
          <p:cNvPr id="35" name="Rounded Rectangle 34"/>
          <p:cNvSpPr/>
          <p:nvPr/>
        </p:nvSpPr>
        <p:spPr>
          <a:xfrm>
            <a:off x="6720840" y="4754880"/>
            <a:ext cx="2011680" cy="256032"/>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450" b="1">
                <a:solidFill>
                  <a:srgbClr val="0D4F86"/>
                </a:solidFill>
                <a:latin typeface="Arial"/>
              </a:rPr>
              <a:t>Tín hiệu tích cực</a:t>
            </a:r>
          </a:p>
        </p:txBody>
      </p:sp>
      <p:sp>
        <p:nvSpPr>
          <p:cNvPr id="36" name="Rounded Rectangle 35"/>
          <p:cNvSpPr/>
          <p:nvPr/>
        </p:nvSpPr>
        <p:spPr>
          <a:xfrm>
            <a:off x="6720840" y="5102352"/>
            <a:ext cx="3246120" cy="777240"/>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070" b="0">
                <a:solidFill>
                  <a:srgbClr val="182C45"/>
                </a:solidFill>
                <a:latin typeface="Arial"/>
              </a:rPr>
              <a:t>Số mẫu không đạt rất thấp. Phần lớn dữ liệu chưa bị loại, mà cần một vòng đối chiếu có trọng tâm với HNMU/UET.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13232" y="658368"/>
            <a:ext cx="8641080" cy="393192"/>
          </a:xfrm>
          <a:prstGeom prst="rect">
            <a:avLst/>
          </a:prstGeom>
          <a:noFill/>
        </p:spPr>
        <p:txBody>
          <a:bodyPr wrap="square">
            <a:normAutofit/>
          </a:bodyPr>
          <a:lstStyle/>
          <a:p>
            <a:r>
              <a:rPr sz="2550" b="1">
                <a:solidFill>
                  <a:srgbClr val="0D4F86"/>
                </a:solidFill>
                <a:latin typeface="Arial"/>
              </a:rPr>
              <a:t>14. Điểm chung của các mẫu cần xem lại</a:t>
            </a:r>
          </a:p>
        </p:txBody>
      </p:sp>
      <p:sp>
        <p:nvSpPr>
          <p:cNvPr id="4" name="TextBox 3"/>
          <p:cNvSpPr txBox="1"/>
          <p:nvPr/>
        </p:nvSpPr>
        <p:spPr>
          <a:xfrm>
            <a:off x="758952" y="1133856"/>
            <a:ext cx="8823960" cy="256032"/>
          </a:xfrm>
          <a:prstGeom prst="rect">
            <a:avLst/>
          </a:prstGeom>
          <a:noFill/>
        </p:spPr>
        <p:txBody>
          <a:bodyPr wrap="square">
            <a:normAutofit/>
          </a:bodyPr>
          <a:lstStyle/>
          <a:p>
            <a:r>
              <a:rPr sz="1250" b="0">
                <a:solidFill>
                  <a:srgbClr val="687180"/>
                </a:solidFill>
                <a:latin typeface="Arial"/>
              </a:rPr>
              <a:t>Tóm tắt theo lớp để HNMU/UET biết nên ưu tiên kiểm phần nào trước</a:t>
            </a:r>
          </a:p>
        </p:txBody>
      </p:sp>
      <p:sp>
        <p:nvSpPr>
          <p:cNvPr id="5" name="Rectangle 4"/>
          <p:cNvSpPr/>
          <p:nvPr/>
        </p:nvSpPr>
        <p:spPr>
          <a:xfrm>
            <a:off x="713232" y="1444752"/>
            <a:ext cx="1143000" cy="36576"/>
          </a:xfrm>
          <a:prstGeom prst="rect">
            <a:avLst/>
          </a:prstGeom>
          <a:solidFill>
            <a:srgbClr val="00A8BE"/>
          </a:solidFill>
          <a:ln>
            <a:solidFill>
              <a:srgbClr val="00A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84280" y="6473952"/>
            <a:ext cx="320040" cy="164592"/>
          </a:xfrm>
          <a:prstGeom prst="rect">
            <a:avLst/>
          </a:prstGeom>
          <a:noFill/>
        </p:spPr>
        <p:txBody>
          <a:bodyPr wrap="square">
            <a:normAutofit/>
          </a:bodyPr>
          <a:lstStyle/>
          <a:p>
            <a:pPr algn="ctr"/>
            <a:r>
              <a:rPr sz="800" b="0">
                <a:solidFill>
                  <a:srgbClr val="FFFFFF"/>
                </a:solidFill>
                <a:latin typeface="Arial"/>
              </a:rPr>
              <a:t>15</a:t>
            </a:r>
          </a:p>
        </p:txBody>
      </p:sp>
      <p:sp>
        <p:nvSpPr>
          <p:cNvPr id="7" name="Rounded Rectangle 6"/>
          <p:cNvSpPr/>
          <p:nvPr/>
        </p:nvSpPr>
        <p:spPr>
          <a:xfrm>
            <a:off x="822960" y="1783080"/>
            <a:ext cx="2971800" cy="256032"/>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650" b="1">
                <a:solidFill>
                  <a:srgbClr val="0D4F86"/>
                </a:solidFill>
                <a:latin typeface="Arial"/>
              </a:rPr>
              <a:t>Lớp 6–7</a:t>
            </a:r>
          </a:p>
        </p:txBody>
      </p:sp>
      <p:sp>
        <p:nvSpPr>
          <p:cNvPr id="8" name="Rounded Rectangle 7"/>
          <p:cNvSpPr/>
          <p:nvPr/>
        </p:nvSpPr>
        <p:spPr>
          <a:xfrm>
            <a:off x="822960" y="2121408"/>
            <a:ext cx="2971800" cy="1234440"/>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30" b="0">
                <a:solidFill>
                  <a:srgbClr val="182C45"/>
                </a:solidFill>
                <a:latin typeface="Arial"/>
              </a:rPr>
              <a:t>• Đáp án theo sách giáo viên cần đối chiếu lại với câu hỏi.
• Một số mẫu cần xem lại mức nhận thức.
• Có cụm hội thoại dùng khuôn phản hồi khá giống nhau.</a:t>
            </a:r>
          </a:p>
        </p:txBody>
      </p:sp>
      <p:sp>
        <p:nvSpPr>
          <p:cNvPr id="9" name="Rounded Rectangle 8"/>
          <p:cNvSpPr/>
          <p:nvPr/>
        </p:nvSpPr>
        <p:spPr>
          <a:xfrm>
            <a:off x="3886200" y="1783080"/>
            <a:ext cx="2971800" cy="256032"/>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650" b="1">
                <a:solidFill>
                  <a:srgbClr val="0D4F86"/>
                </a:solidFill>
                <a:latin typeface="Arial"/>
              </a:rPr>
              <a:t>Lớp 8–9</a:t>
            </a:r>
          </a:p>
        </p:txBody>
      </p:sp>
      <p:sp>
        <p:nvSpPr>
          <p:cNvPr id="10" name="Rounded Rectangle 9"/>
          <p:cNvSpPr/>
          <p:nvPr/>
        </p:nvSpPr>
        <p:spPr>
          <a:xfrm>
            <a:off x="3886200" y="2121408"/>
            <a:ext cx="2971800" cy="1234440"/>
          </a:xfrm>
          <a:prstGeom prst="roundRect">
            <a:avLst/>
          </a:prstGeom>
          <a:solidFill>
            <a:srgbClr val="F0F7FD"/>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30" b="0">
                <a:solidFill>
                  <a:srgbClr val="182C45"/>
                </a:solidFill>
                <a:latin typeface="Arial"/>
              </a:rPr>
              <a:t>• Rủi ro chính nằm ở việc khớp bài học/vị trí và căn cứ SGK/SGV.
• Một số hội thoại chưa dẫn học sinh tới đúng đáp án/căn cứ.
• Thông tin phụ trợ cần được rà cùng học liệu.</a:t>
            </a:r>
          </a:p>
        </p:txBody>
      </p:sp>
      <p:sp>
        <p:nvSpPr>
          <p:cNvPr id="11" name="Rounded Rectangle 10"/>
          <p:cNvSpPr/>
          <p:nvPr/>
        </p:nvSpPr>
        <p:spPr>
          <a:xfrm>
            <a:off x="6949440" y="1783080"/>
            <a:ext cx="2971800" cy="256032"/>
          </a:xfrm>
          <a:prstGeom prst="roundRect">
            <a:avLst/>
          </a:prstGeom>
          <a:solidFill>
            <a:srgbClr val="FFF6E8"/>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650" b="1">
                <a:solidFill>
                  <a:srgbClr val="0D4F86"/>
                </a:solidFill>
                <a:latin typeface="Arial"/>
              </a:rPr>
              <a:t>Nhóm không đạt</a:t>
            </a:r>
          </a:p>
        </p:txBody>
      </p:sp>
      <p:sp>
        <p:nvSpPr>
          <p:cNvPr id="12" name="Rounded Rectangle 11"/>
          <p:cNvSpPr/>
          <p:nvPr/>
        </p:nvSpPr>
        <p:spPr>
          <a:xfrm>
            <a:off x="6949440" y="2121408"/>
            <a:ext cx="2971800" cy="1234440"/>
          </a:xfrm>
          <a:prstGeom prst="roundRect">
            <a:avLst/>
          </a:prstGeom>
          <a:solidFill>
            <a:srgbClr val="FFF6E8"/>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30" b="0">
                <a:solidFill>
                  <a:srgbClr val="182C45"/>
                </a:solidFill>
                <a:latin typeface="Arial"/>
              </a:rPr>
              <a:t>• Chỉ 3/1.050 mẫu.
• Lỗi thường là thiếu cấu trúc hội thoại, thiếu trường lõi, hoặc hội thoại lạc hướng rõ.
• Nên xử lý trực tiếp từng mẫu.</a:t>
            </a:r>
          </a:p>
        </p:txBody>
      </p:sp>
      <p:sp>
        <p:nvSpPr>
          <p:cNvPr id="13" name="Rounded Rectangle 12"/>
          <p:cNvSpPr/>
          <p:nvPr/>
        </p:nvSpPr>
        <p:spPr>
          <a:xfrm>
            <a:off x="1051560" y="4343400"/>
            <a:ext cx="2240280" cy="256032"/>
          </a:xfrm>
          <a:prstGeom prst="roundRect">
            <a:avLst/>
          </a:prstGeom>
          <a:solidFill>
            <a:srgbClr val="FFFFFF"/>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650" b="1">
                <a:solidFill>
                  <a:srgbClr val="0D4F86"/>
                </a:solidFill>
                <a:latin typeface="Arial"/>
              </a:rPr>
              <a:t>Kết luận vận hành</a:t>
            </a:r>
          </a:p>
        </p:txBody>
      </p:sp>
      <p:sp>
        <p:nvSpPr>
          <p:cNvPr id="14" name="Rounded Rectangle 13"/>
          <p:cNvSpPr/>
          <p:nvPr/>
        </p:nvSpPr>
        <p:spPr>
          <a:xfrm>
            <a:off x="1051560" y="4681728"/>
            <a:ext cx="8183879" cy="777240"/>
          </a:xfrm>
          <a:prstGeom prst="roundRect">
            <a:avLst/>
          </a:prstGeom>
          <a:solidFill>
            <a:srgbClr val="FFFFFF"/>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20" b="0">
                <a:solidFill>
                  <a:srgbClr val="182C45"/>
                </a:solidFill>
                <a:latin typeface="Arial"/>
              </a:rPr>
              <a:t>Dữ liệu ban đầu có nền tảng tốt để tiếp tục, nhưng cần một vòng xem lại có trọng tâm. Trọng tâm không phải là “viết lại toàn bộ”, mà là đối chiếu các điểm dễ lệch: câu hỏi – đáp án – bài học – căn cứ SGK/SGV – hội thoại.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