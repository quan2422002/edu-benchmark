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3"/>
    <p:sldId id="257" r:id="rId2"/>
    <p:sldId id="258" r:id="rId8"/>
    <p:sldId id="259" r:id="rId9"/>
    <p:sldId id="260" r:id="rId10"/>
    <p:sldId id="261" r:id="rId11"/>
    <p:sldId id="262" r:id="rId12"/>
    <p:sldId id="264" r:id="rId14"/>
    <p:sldId id="26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5000" autoAdjust="0"/>
    <p:restoredTop sz="94660"/>
  </p:normalViewPr>
  <p:slideViewPr>
    <p:cSldViewPr snapToGrid="0">
      <p:cViewPr varScale="1">
        <p:scale>
          <a:sx n="86" d="100"/>
          <a:sy n="86" d="100"/>
        </p:scale>
        <p:origin x="66" y="12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xml"/><Relationship Id="rId3" Type="http://schemas.openxmlformats.org/officeDocument/2006/relationships/slide" Target="slides/slid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9.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E6915F9-31EB-414A-BAFF-E677662AA384}" type="datetimeFigureOut">
              <a:rPr lang="en-US" smtClean="0"/>
              <a:t>21-Mar-19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49FC3-97F2-48A5-B07F-E4AE95278E0E}" type="slidenum">
              <a:rPr lang="en-US" smtClean="0"/>
              <a:t>‹#›</a:t>
            </a:fld>
            <a:endParaRPr lang="en-US"/>
          </a:p>
        </p:txBody>
      </p:sp>
    </p:spTree>
    <p:extLst>
      <p:ext uri="{BB962C8B-B14F-4D97-AF65-F5344CB8AC3E}">
        <p14:creationId xmlns:p14="http://schemas.microsoft.com/office/powerpoint/2010/main" val="4689013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E6915F9-31EB-414A-BAFF-E677662AA384}" type="datetimeFigureOut">
              <a:rPr lang="en-US" smtClean="0"/>
              <a:t>21-Mar-19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49FC3-97F2-48A5-B07F-E4AE95278E0E}" type="slidenum">
              <a:rPr lang="en-US" smtClean="0"/>
              <a:t>‹#›</a:t>
            </a:fld>
            <a:endParaRPr lang="en-US"/>
          </a:p>
        </p:txBody>
      </p:sp>
    </p:spTree>
    <p:extLst>
      <p:ext uri="{BB962C8B-B14F-4D97-AF65-F5344CB8AC3E}">
        <p14:creationId xmlns:p14="http://schemas.microsoft.com/office/powerpoint/2010/main" val="2496254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6915F9-31EB-414A-BAFF-E677662AA384}" type="datetimeFigureOut">
              <a:rPr lang="en-US" smtClean="0"/>
              <a:t>21-Mar-19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49FC3-97F2-48A5-B07F-E4AE95278E0E}" type="slidenum">
              <a:rPr lang="en-US" smtClean="0"/>
              <a:t>‹#›</a:t>
            </a:fld>
            <a:endParaRPr lang="en-US"/>
          </a:p>
        </p:txBody>
      </p:sp>
    </p:spTree>
    <p:extLst>
      <p:ext uri="{BB962C8B-B14F-4D97-AF65-F5344CB8AC3E}">
        <p14:creationId xmlns:p14="http://schemas.microsoft.com/office/powerpoint/2010/main" val="15969828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E6915F9-31EB-414A-BAFF-E677662AA384}" type="datetimeFigureOut">
              <a:rPr lang="en-US" smtClean="0"/>
              <a:t>21-Mar-19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449FC3-97F2-48A5-B07F-E4AE95278E0E}" type="slidenum">
              <a:rPr lang="en-US" smtClean="0"/>
              <a:t>‹#›</a:t>
            </a:fld>
            <a:endParaRPr lang="en-US"/>
          </a:p>
        </p:txBody>
      </p:sp>
    </p:spTree>
    <p:extLst>
      <p:ext uri="{BB962C8B-B14F-4D97-AF65-F5344CB8AC3E}">
        <p14:creationId xmlns:p14="http://schemas.microsoft.com/office/powerpoint/2010/main" val="32666523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E6915F9-31EB-414A-BAFF-E677662AA384}" type="datetimeFigureOut">
              <a:rPr lang="en-US" smtClean="0"/>
              <a:t>21-Mar-19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D449FC3-97F2-48A5-B07F-E4AE95278E0E}" type="slidenum">
              <a:rPr lang="en-US" smtClean="0"/>
              <a:t>‹#›</a:t>
            </a:fld>
            <a:endParaRPr lang="en-US"/>
          </a:p>
        </p:txBody>
      </p:sp>
    </p:spTree>
    <p:extLst>
      <p:ext uri="{BB962C8B-B14F-4D97-AF65-F5344CB8AC3E}">
        <p14:creationId xmlns:p14="http://schemas.microsoft.com/office/powerpoint/2010/main" val="40045055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E6915F9-31EB-414A-BAFF-E677662AA384}" type="datetimeFigureOut">
              <a:rPr lang="en-US" smtClean="0"/>
              <a:t>21-Mar-19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D449FC3-97F2-48A5-B07F-E4AE95278E0E}" type="slidenum">
              <a:rPr lang="en-US" smtClean="0"/>
              <a:t>‹#›</a:t>
            </a:fld>
            <a:endParaRPr lang="en-US"/>
          </a:p>
        </p:txBody>
      </p:sp>
    </p:spTree>
    <p:extLst>
      <p:ext uri="{BB962C8B-B14F-4D97-AF65-F5344CB8AC3E}">
        <p14:creationId xmlns:p14="http://schemas.microsoft.com/office/powerpoint/2010/main" val="3927193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6915F9-31EB-414A-BAFF-E677662AA384}" type="datetimeFigureOut">
              <a:rPr lang="en-US" smtClean="0"/>
              <a:t>21-Mar-19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D449FC3-97F2-48A5-B07F-E4AE95278E0E}" type="slidenum">
              <a:rPr lang="en-US" smtClean="0"/>
              <a:t>‹#›</a:t>
            </a:fld>
            <a:endParaRPr lang="en-US"/>
          </a:p>
        </p:txBody>
      </p:sp>
    </p:spTree>
    <p:extLst>
      <p:ext uri="{BB962C8B-B14F-4D97-AF65-F5344CB8AC3E}">
        <p14:creationId xmlns:p14="http://schemas.microsoft.com/office/powerpoint/2010/main" val="38458991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E6915F9-31EB-414A-BAFF-E677662AA384}" type="datetimeFigureOut">
              <a:rPr lang="en-US" smtClean="0"/>
              <a:t>21-Mar-19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449FC3-97F2-48A5-B07F-E4AE95278E0E}" type="slidenum">
              <a:rPr lang="en-US" smtClean="0"/>
              <a:t>‹#›</a:t>
            </a:fld>
            <a:endParaRPr lang="en-US"/>
          </a:p>
        </p:txBody>
      </p:sp>
    </p:spTree>
    <p:extLst>
      <p:ext uri="{BB962C8B-B14F-4D97-AF65-F5344CB8AC3E}">
        <p14:creationId xmlns:p14="http://schemas.microsoft.com/office/powerpoint/2010/main" val="16767844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E6915F9-31EB-414A-BAFF-E677662AA384}" type="datetimeFigureOut">
              <a:rPr lang="en-US" smtClean="0"/>
              <a:t>21-Mar-19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449FC3-97F2-48A5-B07F-E4AE95278E0E}" type="slidenum">
              <a:rPr lang="en-US" smtClean="0"/>
              <a:t>‹#›</a:t>
            </a:fld>
            <a:endParaRPr lang="en-US"/>
          </a:p>
        </p:txBody>
      </p:sp>
    </p:spTree>
    <p:extLst>
      <p:ext uri="{BB962C8B-B14F-4D97-AF65-F5344CB8AC3E}">
        <p14:creationId xmlns:p14="http://schemas.microsoft.com/office/powerpoint/2010/main" val="12075805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E6915F9-31EB-414A-BAFF-E677662AA384}" type="datetimeFigureOut">
              <a:rPr lang="en-US" smtClean="0"/>
              <a:t>21-Mar-19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49FC3-97F2-48A5-B07F-E4AE95278E0E}" type="slidenum">
              <a:rPr lang="en-US" smtClean="0"/>
              <a:t>‹#›</a:t>
            </a:fld>
            <a:endParaRPr lang="en-US"/>
          </a:p>
        </p:txBody>
      </p:sp>
    </p:spTree>
    <p:extLst>
      <p:ext uri="{BB962C8B-B14F-4D97-AF65-F5344CB8AC3E}">
        <p14:creationId xmlns:p14="http://schemas.microsoft.com/office/powerpoint/2010/main" val="31752937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E6915F9-31EB-414A-BAFF-E677662AA384}" type="datetimeFigureOut">
              <a:rPr lang="en-US" smtClean="0"/>
              <a:t>21-Mar-19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49FC3-97F2-48A5-B07F-E4AE95278E0E}" type="slidenum">
              <a:rPr lang="en-US" smtClean="0"/>
              <a:t>‹#›</a:t>
            </a:fld>
            <a:endParaRPr lang="en-US"/>
          </a:p>
        </p:txBody>
      </p:sp>
    </p:spTree>
    <p:extLst>
      <p:ext uri="{BB962C8B-B14F-4D97-AF65-F5344CB8AC3E}">
        <p14:creationId xmlns:p14="http://schemas.microsoft.com/office/powerpoint/2010/main" val="205977129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6915F9-31EB-414A-BAFF-E677662AA384}" type="datetimeFigureOut">
              <a:rPr lang="en-US" smtClean="0"/>
              <a:t>21-Mar-19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449FC3-97F2-48A5-B07F-E4AE95278E0E}" type="slidenum">
              <a:rPr lang="en-US" smtClean="0"/>
              <a:t>‹#›</a:t>
            </a:fld>
            <a:endParaRPr lang="en-US"/>
          </a:p>
        </p:txBody>
      </p:sp>
    </p:spTree>
    <p:extLst>
      <p:ext uri="{BB962C8B-B14F-4D97-AF65-F5344CB8AC3E}">
        <p14:creationId xmlns:p14="http://schemas.microsoft.com/office/powerpoint/2010/main" val="20903708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164592"/>
          </a:xfrm>
          <a:prstGeom prst="rect">
            <a:avLst/>
          </a:prstGeom>
          <a:solidFill>
            <a:srgbClr val="123458"/>
          </a:solidFill>
          <a:ln>
            <a:solidFill>
              <a:srgbClr val="123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83464"/>
            <a:ext cx="1143000" cy="292608"/>
          </a:xfrm>
          <a:prstGeom prst="roundRect">
            <a:avLst/>
          </a:prstGeom>
          <a:solidFill>
            <a:srgbClr val="E0EDFA"/>
          </a:solidFill>
          <a:ln>
            <a:solidFill>
              <a:srgbClr val="E0ED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29184"/>
            <a:ext cx="1005840" cy="182880"/>
          </a:xfrm>
          <a:prstGeom prst="rect">
            <a:avLst/>
          </a:prstGeom>
          <a:noFill/>
        </p:spPr>
        <p:txBody>
          <a:bodyPr wrap="square" lIns="36576" rIns="36576" tIns="18288" anchor="t">
            <a:spAutoFit/>
          </a:bodyPr>
          <a:lstStyle/>
          <a:p>
            <a:pPr algn="ctr"/>
            <a:r>
              <a:rPr sz="850" b="1">
                <a:solidFill>
                  <a:srgbClr val="123458"/>
                </a:solidFill>
                <a:latin typeface="Aptos"/>
              </a:rPr>
              <a:t>INTRO</a:t>
            </a:r>
          </a:p>
        </p:txBody>
      </p:sp>
      <p:sp>
        <p:nvSpPr>
          <p:cNvPr id="5" name="TextBox 4"/>
          <p:cNvSpPr txBox="1"/>
          <p:nvPr/>
        </p:nvSpPr>
        <p:spPr>
          <a:xfrm>
            <a:off x="1755648" y="256032"/>
            <a:ext cx="10515600" cy="530352"/>
          </a:xfrm>
          <a:prstGeom prst="rect">
            <a:avLst/>
          </a:prstGeom>
          <a:noFill/>
        </p:spPr>
        <p:txBody>
          <a:bodyPr wrap="square">
            <a:spAutoFit/>
          </a:bodyPr>
          <a:lstStyle/>
          <a:p>
            <a:r>
              <a:rPr sz="2200" b="1">
                <a:solidFill>
                  <a:srgbClr val="123458"/>
                </a:solidFill>
                <a:latin typeface="Aptos"/>
              </a:rPr>
              <a:t>Mở đầu — Vì sao cần đọc 4 bài báo này?</a:t>
            </a:r>
          </a:p>
        </p:txBody>
      </p:sp>
      <p:sp>
        <p:nvSpPr>
          <p:cNvPr id="6" name="TextBox 5"/>
          <p:cNvSpPr txBox="1"/>
          <p:nvPr/>
        </p:nvSpPr>
        <p:spPr>
          <a:xfrm>
            <a:off x="530352" y="804672"/>
            <a:ext cx="10881360" cy="329184"/>
          </a:xfrm>
          <a:prstGeom prst="rect">
            <a:avLst/>
          </a:prstGeom>
          <a:noFill/>
        </p:spPr>
        <p:txBody>
          <a:bodyPr wrap="square">
            <a:spAutoFit/>
          </a:bodyPr>
          <a:lstStyle/>
          <a:p>
            <a:r>
              <a:rPr sz="1050">
                <a:solidFill>
                  <a:srgbClr val="5B6370"/>
                </a:solidFill>
                <a:latin typeface="Aptos"/>
              </a:rPr>
              <a:t>Mục tiêu: rút ra cách kiểm định chất lượng của chính bộ đánh giá trước khi dùng nó để chấm mô hình</a:t>
            </a:r>
          </a:p>
        </p:txBody>
      </p:sp>
      <p:sp>
        <p:nvSpPr>
          <p:cNvPr id="7" name="TextBox 6"/>
          <p:cNvSpPr txBox="1"/>
          <p:nvPr/>
        </p:nvSpPr>
        <p:spPr>
          <a:xfrm>
            <a:off x="502920" y="6528816"/>
            <a:ext cx="11064240" cy="228600"/>
          </a:xfrm>
          <a:prstGeom prst="rect">
            <a:avLst/>
          </a:prstGeom>
          <a:noFill/>
        </p:spPr>
        <p:txBody>
          <a:bodyPr wrap="none">
            <a:spAutoFit/>
          </a:bodyPr>
          <a:lstStyle/>
          <a:p>
            <a:pPr algn="r"/>
            <a:r>
              <a:rPr sz="850">
                <a:solidFill>
                  <a:srgbClr val="78808C"/>
                </a:solidFill>
                <a:latin typeface="Aptos"/>
              </a:rPr>
              <a:t>Tổng hợp 4 bài báo về chất lượng bộ đánh giá • 14/07/2026</a:t>
            </a:r>
          </a:p>
        </p:txBody>
      </p:sp>
      <p:sp>
        <p:nvSpPr>
          <p:cNvPr id="8" name="Rounded Rectangle 7"/>
          <p:cNvSpPr/>
          <p:nvPr/>
        </p:nvSpPr>
        <p:spPr>
          <a:xfrm>
            <a:off x="594360" y="1234440"/>
            <a:ext cx="3520440" cy="1828800"/>
          </a:xfrm>
          <a:prstGeom prst="roundRect">
            <a:avLst/>
          </a:prstGeom>
          <a:solidFill>
            <a:srgbClr val="E0EDFA"/>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234440"/>
            <a:ext cx="73152" cy="1828800"/>
          </a:xfrm>
          <a:prstGeom prst="rect">
            <a:avLst/>
          </a:prstGeom>
          <a:solidFill>
            <a:srgbClr val="2871B9"/>
          </a:solidFill>
          <a:ln>
            <a:solidFill>
              <a:srgbClr val="2871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1344168"/>
            <a:ext cx="3264408" cy="256032"/>
          </a:xfrm>
          <a:prstGeom prst="rect">
            <a:avLst/>
          </a:prstGeom>
          <a:noFill/>
        </p:spPr>
        <p:txBody>
          <a:bodyPr wrap="square" lIns="36576" rIns="36576" tIns="18288" anchor="t">
            <a:spAutoFit/>
          </a:bodyPr>
          <a:lstStyle/>
          <a:p>
            <a:pPr algn="l"/>
            <a:r>
              <a:rPr sz="1300" b="1">
                <a:solidFill>
                  <a:srgbClr val="2871B9"/>
                </a:solidFill>
                <a:latin typeface="Aptos"/>
              </a:rPr>
              <a:t>Bối cảnh dự án</a:t>
            </a:r>
          </a:p>
        </p:txBody>
      </p:sp>
      <p:sp>
        <p:nvSpPr>
          <p:cNvPr id="11" name="TextBox 10"/>
          <p:cNvSpPr txBox="1"/>
          <p:nvPr/>
        </p:nvSpPr>
        <p:spPr>
          <a:xfrm>
            <a:off x="758952" y="1673352"/>
            <a:ext cx="3209544" cy="1325880"/>
          </a:xfrm>
          <a:prstGeom prst="rect">
            <a:avLst/>
          </a:prstGeom>
          <a:noFill/>
        </p:spPr>
        <p:txBody>
          <a:bodyPr wrap="square" lIns="36576" rIns="36576" tIns="18288" anchor="t">
            <a:spAutoFit/>
          </a:bodyPr>
          <a:lstStyle/>
          <a:p>
            <a:pPr algn="l"/>
            <a:r>
              <a:rPr sz="1100" b="0">
                <a:solidFill>
                  <a:srgbClr val="1E2328"/>
                </a:solidFill>
                <a:latin typeface="Aptos"/>
              </a:rPr>
              <a:t>Dự án đang chuẩn bị chuyển dữ liệu hội thoại HNMU thành bộ đánh giá gia sư AI cho Tin học THCS.</a:t>
            </a:r>
          </a:p>
        </p:txBody>
      </p:sp>
      <p:sp>
        <p:nvSpPr>
          <p:cNvPr id="12" name="Rounded Rectangle 11"/>
          <p:cNvSpPr/>
          <p:nvPr/>
        </p:nvSpPr>
        <p:spPr>
          <a:xfrm>
            <a:off x="4343400" y="1234440"/>
            <a:ext cx="3520440" cy="1828800"/>
          </a:xfrm>
          <a:prstGeom prst="roundRect">
            <a:avLst/>
          </a:prstGeom>
          <a:solidFill>
            <a:srgbClr val="E2F2E7"/>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234440"/>
            <a:ext cx="73152" cy="1828800"/>
          </a:xfrm>
          <a:prstGeom prst="rect">
            <a:avLst/>
          </a:prstGeom>
          <a:solidFill>
            <a:srgbClr val="409753"/>
          </a:solidFill>
          <a:ln>
            <a:solidFill>
              <a:srgbClr val="4097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07992" y="1344168"/>
            <a:ext cx="3264408" cy="256032"/>
          </a:xfrm>
          <a:prstGeom prst="rect">
            <a:avLst/>
          </a:prstGeom>
          <a:noFill/>
        </p:spPr>
        <p:txBody>
          <a:bodyPr wrap="square" lIns="36576" rIns="36576" tIns="18288" anchor="t">
            <a:spAutoFit/>
          </a:bodyPr>
          <a:lstStyle/>
          <a:p>
            <a:pPr algn="l"/>
            <a:r>
              <a:rPr sz="1300" b="1">
                <a:solidFill>
                  <a:srgbClr val="409753"/>
                </a:solidFill>
                <a:latin typeface="Aptos"/>
              </a:rPr>
              <a:t>Câu hỏi chính</a:t>
            </a:r>
          </a:p>
        </p:txBody>
      </p:sp>
      <p:sp>
        <p:nvSpPr>
          <p:cNvPr id="15" name="TextBox 14"/>
          <p:cNvSpPr txBox="1"/>
          <p:nvPr/>
        </p:nvSpPr>
        <p:spPr>
          <a:xfrm>
            <a:off x="4507992" y="1673352"/>
            <a:ext cx="3209544" cy="1325880"/>
          </a:xfrm>
          <a:prstGeom prst="rect">
            <a:avLst/>
          </a:prstGeom>
          <a:noFill/>
        </p:spPr>
        <p:txBody>
          <a:bodyPr wrap="square" lIns="36576" rIns="36576" tIns="18288" anchor="t">
            <a:spAutoFit/>
          </a:bodyPr>
          <a:lstStyle/>
          <a:p>
            <a:pPr algn="l"/>
            <a:r>
              <a:rPr sz="1100" b="0">
                <a:solidFill>
                  <a:srgbClr val="1E2328"/>
                </a:solidFill>
                <a:latin typeface="Aptos"/>
              </a:rPr>
              <a:t>Không chỉ hỏi “mô hình nào điểm cao?”, mà hỏi: bộ đánh giá có đủ đáng tin để dùng chưa?</a:t>
            </a:r>
          </a:p>
        </p:txBody>
      </p:sp>
      <p:sp>
        <p:nvSpPr>
          <p:cNvPr id="16" name="Rounded Rectangle 15"/>
          <p:cNvSpPr/>
          <p:nvPr/>
        </p:nvSpPr>
        <p:spPr>
          <a:xfrm>
            <a:off x="8092440" y="1234440"/>
            <a:ext cx="3520440" cy="1828800"/>
          </a:xfrm>
          <a:prstGeom prst="roundRect">
            <a:avLst/>
          </a:prstGeom>
          <a:solidFill>
            <a:srgbClr val="FBEBDB"/>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1234440"/>
            <a:ext cx="73152" cy="1828800"/>
          </a:xfrm>
          <a:prstGeom prst="rect">
            <a:avLst/>
          </a:prstGeom>
          <a:solidFill>
            <a:srgbClr val="E07C30"/>
          </a:solidFill>
          <a:ln>
            <a:solidFill>
              <a:srgbClr val="E07C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57031" y="1344168"/>
            <a:ext cx="3264408" cy="256032"/>
          </a:xfrm>
          <a:prstGeom prst="rect">
            <a:avLst/>
          </a:prstGeom>
          <a:noFill/>
        </p:spPr>
        <p:txBody>
          <a:bodyPr wrap="square" lIns="36576" rIns="36576" tIns="18288" anchor="t">
            <a:spAutoFit/>
          </a:bodyPr>
          <a:lstStyle/>
          <a:p>
            <a:pPr algn="l"/>
            <a:r>
              <a:rPr sz="1300" b="1">
                <a:solidFill>
                  <a:srgbClr val="E07C30"/>
                </a:solidFill>
                <a:latin typeface="Aptos"/>
              </a:rPr>
              <a:t>Phạm vi slide</a:t>
            </a:r>
          </a:p>
        </p:txBody>
      </p:sp>
      <p:sp>
        <p:nvSpPr>
          <p:cNvPr id="19" name="TextBox 18"/>
          <p:cNvSpPr txBox="1"/>
          <p:nvPr/>
        </p:nvSpPr>
        <p:spPr>
          <a:xfrm>
            <a:off x="8257031" y="1673352"/>
            <a:ext cx="3209544" cy="1325880"/>
          </a:xfrm>
          <a:prstGeom prst="rect">
            <a:avLst/>
          </a:prstGeom>
          <a:noFill/>
        </p:spPr>
        <p:txBody>
          <a:bodyPr wrap="square" lIns="36576" rIns="36576" tIns="18288" anchor="t">
            <a:spAutoFit/>
          </a:bodyPr>
          <a:lstStyle/>
          <a:p>
            <a:pPr algn="l"/>
            <a:r>
              <a:rPr sz="1100" b="0">
                <a:solidFill>
                  <a:srgbClr val="1E2328"/>
                </a:solidFill>
                <a:latin typeface="Aptos"/>
              </a:rPr>
              <a:t>Tập trung vào cách bài báo chứng minh chất lượng bộ đánh giá; không phân tích sâu bảng xếp hạng mô hình.</a:t>
            </a:r>
          </a:p>
        </p:txBody>
      </p:sp>
      <p:sp>
        <p:nvSpPr>
          <p:cNvPr id="20" name="Rounded Rectangle 19"/>
          <p:cNvSpPr/>
          <p:nvPr/>
        </p:nvSpPr>
        <p:spPr>
          <a:xfrm>
            <a:off x="594360" y="3657600"/>
            <a:ext cx="11018520" cy="1170432"/>
          </a:xfrm>
          <a:prstGeom prst="roundRect">
            <a:avLst/>
          </a:prstGeom>
          <a:solidFill>
            <a:srgbClr val="F6F9FC"/>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3657600"/>
            <a:ext cx="73152" cy="1170432"/>
          </a:xfrm>
          <a:prstGeom prst="rect">
            <a:avLst/>
          </a:prstGeom>
          <a:solidFill>
            <a:srgbClr val="123458"/>
          </a:solidFill>
          <a:ln>
            <a:solidFill>
              <a:srgbClr val="123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8952" y="3767328"/>
            <a:ext cx="10762488" cy="256032"/>
          </a:xfrm>
          <a:prstGeom prst="rect">
            <a:avLst/>
          </a:prstGeom>
          <a:noFill/>
        </p:spPr>
        <p:txBody>
          <a:bodyPr wrap="square" lIns="36576" rIns="36576" tIns="18288" anchor="t">
            <a:spAutoFit/>
          </a:bodyPr>
          <a:lstStyle/>
          <a:p>
            <a:pPr algn="l"/>
            <a:r>
              <a:rPr sz="1300" b="1">
                <a:solidFill>
                  <a:srgbClr val="123458"/>
                </a:solidFill>
                <a:latin typeface="Aptos"/>
              </a:rPr>
              <a:t>4 bài báo được dùng làm căn cứ</a:t>
            </a:r>
          </a:p>
        </p:txBody>
      </p:sp>
      <p:sp>
        <p:nvSpPr>
          <p:cNvPr id="23" name="TextBox 22"/>
          <p:cNvSpPr txBox="1"/>
          <p:nvPr/>
        </p:nvSpPr>
        <p:spPr>
          <a:xfrm>
            <a:off x="758952" y="4096512"/>
            <a:ext cx="10707624" cy="667512"/>
          </a:xfrm>
          <a:prstGeom prst="rect">
            <a:avLst/>
          </a:prstGeom>
          <a:noFill/>
        </p:spPr>
        <p:txBody>
          <a:bodyPr wrap="square" lIns="36576" rIns="36576" tIns="18288" anchor="t">
            <a:spAutoFit/>
          </a:bodyPr>
          <a:lstStyle/>
          <a:p>
            <a:pPr algn="l"/>
            <a:r>
              <a:rPr sz="1150" b="0">
                <a:solidFill>
                  <a:srgbClr val="1E2328"/>
                </a:solidFill>
                <a:latin typeface="Aptos"/>
              </a:rPr>
              <a:t>MathTutorBench • KMP-Bench • TutorBench • VietLegal/V-Legal
Các tên riêng, tên hệ thống, tên thước đo và nhãn nguồn trong bài báo được giữ nguyên để tiện truy vết.</a:t>
            </a:r>
          </a:p>
        </p:txBody>
      </p:sp>
      <p:sp>
        <p:nvSpPr>
          <p:cNvPr id="24" name="Rounded Rectangle 23"/>
          <p:cNvSpPr/>
          <p:nvPr/>
        </p:nvSpPr>
        <p:spPr>
          <a:xfrm>
            <a:off x="868680" y="5303520"/>
            <a:ext cx="10469880" cy="658368"/>
          </a:xfrm>
          <a:prstGeom prst="roundRect">
            <a:avLst/>
          </a:prstGeom>
          <a:solidFill>
            <a:srgbClr val="FFF8EB"/>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68680" y="5303520"/>
            <a:ext cx="73152" cy="658368"/>
          </a:xfrm>
          <a:prstGeom prst="rect">
            <a:avLst/>
          </a:prstGeom>
          <a:solidFill>
            <a:srgbClr val="E07C30"/>
          </a:solidFill>
          <a:ln>
            <a:solidFill>
              <a:srgbClr val="E07C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33271" y="5413248"/>
            <a:ext cx="10213848" cy="256032"/>
          </a:xfrm>
          <a:prstGeom prst="rect">
            <a:avLst/>
          </a:prstGeom>
          <a:noFill/>
        </p:spPr>
        <p:txBody>
          <a:bodyPr wrap="square" lIns="36576" rIns="36576" tIns="18288" anchor="t">
            <a:spAutoFit/>
          </a:bodyPr>
          <a:lstStyle/>
          <a:p>
            <a:pPr algn="l"/>
            <a:r>
              <a:rPr sz="1250" b="1">
                <a:solidFill>
                  <a:srgbClr val="E07C30"/>
                </a:solidFill>
                <a:latin typeface="Aptos"/>
              </a:rPr>
              <a:t>Cần nhớ</a:t>
            </a:r>
          </a:p>
        </p:txBody>
      </p:sp>
      <p:sp>
        <p:nvSpPr>
          <p:cNvPr id="27" name="TextBox 26"/>
          <p:cNvSpPr txBox="1"/>
          <p:nvPr/>
        </p:nvSpPr>
        <p:spPr>
          <a:xfrm>
            <a:off x="1033271" y="5742431"/>
            <a:ext cx="10158984" cy="155447"/>
          </a:xfrm>
          <a:prstGeom prst="rect">
            <a:avLst/>
          </a:prstGeom>
          <a:noFill/>
        </p:spPr>
        <p:txBody>
          <a:bodyPr wrap="square" lIns="36576" rIns="36576" tIns="18288" anchor="t">
            <a:spAutoFit/>
          </a:bodyPr>
          <a:lstStyle/>
          <a:p>
            <a:pPr algn="l"/>
            <a:r>
              <a:rPr sz="1080" b="0">
                <a:solidFill>
                  <a:srgbClr val="1E2328"/>
                </a:solidFill>
                <a:latin typeface="Aptos"/>
              </a:rPr>
              <a:t>Nếu chỉ nhìn điểm F1, accuracy hoặc bảng xếp hạng mô hình thì chưa đủ. Cần xem dữ liệu được tạo, kiểm tra, bao phủ và chấm điểm như thế nào.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164592"/>
          </a:xfrm>
          <a:prstGeom prst="rect">
            <a:avLst/>
          </a:prstGeom>
          <a:solidFill>
            <a:srgbClr val="123458"/>
          </a:solidFill>
          <a:ln>
            <a:solidFill>
              <a:srgbClr val="123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83464"/>
            <a:ext cx="1143000" cy="292608"/>
          </a:xfrm>
          <a:prstGeom prst="roundRect">
            <a:avLst/>
          </a:prstGeom>
          <a:solidFill>
            <a:srgbClr val="E0EDFA"/>
          </a:solidFill>
          <a:ln>
            <a:solidFill>
              <a:srgbClr val="E0ED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29184"/>
            <a:ext cx="1005840" cy="182880"/>
          </a:xfrm>
          <a:prstGeom prst="rect">
            <a:avLst/>
          </a:prstGeom>
          <a:noFill/>
        </p:spPr>
        <p:txBody>
          <a:bodyPr wrap="square" lIns="36576" rIns="36576" tIns="18288" anchor="t">
            <a:spAutoFit/>
          </a:bodyPr>
          <a:lstStyle/>
          <a:p>
            <a:pPr algn="ctr"/>
            <a:r>
              <a:rPr sz="850" b="1">
                <a:solidFill>
                  <a:srgbClr val="123458"/>
                </a:solidFill>
                <a:latin typeface="Aptos"/>
              </a:rPr>
              <a:t>KHUNG</a:t>
            </a:r>
          </a:p>
        </p:txBody>
      </p:sp>
      <p:sp>
        <p:nvSpPr>
          <p:cNvPr id="5" name="TextBox 4"/>
          <p:cNvSpPr txBox="1"/>
          <p:nvPr/>
        </p:nvSpPr>
        <p:spPr>
          <a:xfrm>
            <a:off x="1755648" y="256032"/>
            <a:ext cx="10515600" cy="530352"/>
          </a:xfrm>
          <a:prstGeom prst="rect">
            <a:avLst/>
          </a:prstGeom>
          <a:noFill/>
        </p:spPr>
        <p:txBody>
          <a:bodyPr wrap="square">
            <a:spAutoFit/>
          </a:bodyPr>
          <a:lstStyle/>
          <a:p>
            <a:r>
              <a:rPr sz="2200" b="1">
                <a:solidFill>
                  <a:srgbClr val="123458"/>
                </a:solidFill>
                <a:latin typeface="Aptos"/>
              </a:rPr>
              <a:t>Khung đọc thống nhất: 3 trục chất lượng</a:t>
            </a:r>
          </a:p>
        </p:txBody>
      </p:sp>
      <p:sp>
        <p:nvSpPr>
          <p:cNvPr id="6" name="TextBox 5"/>
          <p:cNvSpPr txBox="1"/>
          <p:nvPr/>
        </p:nvSpPr>
        <p:spPr>
          <a:xfrm>
            <a:off x="530352" y="804672"/>
            <a:ext cx="10881360" cy="329184"/>
          </a:xfrm>
          <a:prstGeom prst="rect">
            <a:avLst/>
          </a:prstGeom>
          <a:noFill/>
        </p:spPr>
        <p:txBody>
          <a:bodyPr wrap="square">
            <a:spAutoFit/>
          </a:bodyPr>
          <a:lstStyle/>
          <a:p>
            <a:r>
              <a:rPr sz="1050">
                <a:solidFill>
                  <a:srgbClr val="5B6370"/>
                </a:solidFill>
                <a:latin typeface="Aptos"/>
              </a:rPr>
              <a:t>Dùng cùng một khung để so sánh 4 bài báo</a:t>
            </a:r>
          </a:p>
        </p:txBody>
      </p:sp>
      <p:sp>
        <p:nvSpPr>
          <p:cNvPr id="7" name="TextBox 6"/>
          <p:cNvSpPr txBox="1"/>
          <p:nvPr/>
        </p:nvSpPr>
        <p:spPr>
          <a:xfrm>
            <a:off x="502920" y="6528816"/>
            <a:ext cx="11064240" cy="228600"/>
          </a:xfrm>
          <a:prstGeom prst="rect">
            <a:avLst/>
          </a:prstGeom>
          <a:noFill/>
        </p:spPr>
        <p:txBody>
          <a:bodyPr wrap="none">
            <a:spAutoFit/>
          </a:bodyPr>
          <a:lstStyle/>
          <a:p>
            <a:pPr algn="r"/>
            <a:r>
              <a:rPr sz="850">
                <a:solidFill>
                  <a:srgbClr val="78808C"/>
                </a:solidFill>
                <a:latin typeface="Aptos"/>
              </a:rPr>
              <a:t>Tổng hợp 4 bài báo về chất lượng bộ đánh giá • 14/07/2026</a:t>
            </a:r>
          </a:p>
        </p:txBody>
      </p:sp>
      <p:sp>
        <p:nvSpPr>
          <p:cNvPr id="8" name="Rounded Rectangle 7"/>
          <p:cNvSpPr/>
          <p:nvPr/>
        </p:nvSpPr>
        <p:spPr>
          <a:xfrm>
            <a:off x="594360" y="1234440"/>
            <a:ext cx="3520440" cy="3246120"/>
          </a:xfrm>
          <a:prstGeom prst="roundRect">
            <a:avLst/>
          </a:prstGeom>
          <a:solidFill>
            <a:srgbClr val="E0EDFA"/>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234440"/>
            <a:ext cx="73152" cy="3246120"/>
          </a:xfrm>
          <a:prstGeom prst="rect">
            <a:avLst/>
          </a:prstGeom>
          <a:solidFill>
            <a:srgbClr val="2871B9"/>
          </a:solidFill>
          <a:ln>
            <a:solidFill>
              <a:srgbClr val="2871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1344168"/>
            <a:ext cx="3264408" cy="256032"/>
          </a:xfrm>
          <a:prstGeom prst="rect">
            <a:avLst/>
          </a:prstGeom>
          <a:noFill/>
        </p:spPr>
        <p:txBody>
          <a:bodyPr wrap="square" lIns="36576" rIns="36576" tIns="18288" anchor="t">
            <a:spAutoFit/>
          </a:bodyPr>
          <a:lstStyle/>
          <a:p>
            <a:pPr algn="l"/>
            <a:r>
              <a:rPr sz="1400" b="1">
                <a:solidFill>
                  <a:srgbClr val="2871B9"/>
                </a:solidFill>
                <a:latin typeface="Aptos"/>
              </a:rPr>
              <a:t>1. Độ bao phủ</a:t>
            </a:r>
          </a:p>
        </p:txBody>
      </p:sp>
      <p:sp>
        <p:nvSpPr>
          <p:cNvPr id="11" name="TextBox 10"/>
          <p:cNvSpPr txBox="1"/>
          <p:nvPr/>
        </p:nvSpPr>
        <p:spPr>
          <a:xfrm>
            <a:off x="758952" y="1673352"/>
            <a:ext cx="3209544" cy="2743200"/>
          </a:xfrm>
          <a:prstGeom prst="rect">
            <a:avLst/>
          </a:prstGeom>
          <a:noFill/>
        </p:spPr>
        <p:txBody>
          <a:bodyPr wrap="square" lIns="36576" rIns="36576" tIns="18288" anchor="t">
            <a:spAutoFit/>
          </a:bodyPr>
          <a:lstStyle/>
          <a:p>
            <a:pPr algn="l"/>
            <a:r>
              <a:rPr sz="1200" b="0">
                <a:solidFill>
                  <a:srgbClr val="1E2328"/>
                </a:solidFill>
                <a:latin typeface="Aptos"/>
              </a:rPr>
              <a:t>• Phủ kiến thức/chủ đề
• Phủ mức nhận thức hoặc độ khó
• Phủ dạng bài/tình huống
• Phủ hành vi gia sư cần đánh giá</a:t>
            </a:r>
          </a:p>
        </p:txBody>
      </p:sp>
      <p:sp>
        <p:nvSpPr>
          <p:cNvPr id="12" name="Rounded Rectangle 11"/>
          <p:cNvSpPr/>
          <p:nvPr/>
        </p:nvSpPr>
        <p:spPr>
          <a:xfrm>
            <a:off x="4343400" y="1234440"/>
            <a:ext cx="3520440" cy="3246120"/>
          </a:xfrm>
          <a:prstGeom prst="roundRect">
            <a:avLst/>
          </a:prstGeom>
          <a:solidFill>
            <a:srgbClr val="E2F2E7"/>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234440"/>
            <a:ext cx="73152" cy="3246120"/>
          </a:xfrm>
          <a:prstGeom prst="rect">
            <a:avLst/>
          </a:prstGeom>
          <a:solidFill>
            <a:srgbClr val="409753"/>
          </a:solidFill>
          <a:ln>
            <a:solidFill>
              <a:srgbClr val="4097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07992" y="1344168"/>
            <a:ext cx="3264408" cy="256032"/>
          </a:xfrm>
          <a:prstGeom prst="rect">
            <a:avLst/>
          </a:prstGeom>
          <a:noFill/>
        </p:spPr>
        <p:txBody>
          <a:bodyPr wrap="square" lIns="36576" rIns="36576" tIns="18288" anchor="t">
            <a:spAutoFit/>
          </a:bodyPr>
          <a:lstStyle/>
          <a:p>
            <a:pPr algn="l"/>
            <a:r>
              <a:rPr sz="1400" b="1">
                <a:solidFill>
                  <a:srgbClr val="409753"/>
                </a:solidFill>
                <a:latin typeface="Aptos"/>
              </a:rPr>
              <a:t>2. Dữ liệu đáng tin</a:t>
            </a:r>
          </a:p>
        </p:txBody>
      </p:sp>
      <p:sp>
        <p:nvSpPr>
          <p:cNvPr id="15" name="TextBox 14"/>
          <p:cNvSpPr txBox="1"/>
          <p:nvPr/>
        </p:nvSpPr>
        <p:spPr>
          <a:xfrm>
            <a:off x="4507992" y="1673352"/>
            <a:ext cx="3209544" cy="2743200"/>
          </a:xfrm>
          <a:prstGeom prst="rect">
            <a:avLst/>
          </a:prstGeom>
          <a:noFill/>
        </p:spPr>
        <p:txBody>
          <a:bodyPr wrap="square" lIns="36576" rIns="36576" tIns="18288" anchor="t">
            <a:spAutoFit/>
          </a:bodyPr>
          <a:lstStyle/>
          <a:p>
            <a:pPr algn="l"/>
            <a:r>
              <a:rPr sz="1200" b="0">
                <a:solidFill>
                  <a:srgbClr val="1E2328"/>
                </a:solidFill>
                <a:latin typeface="Aptos"/>
              </a:rPr>
              <a:t>• Nguồn dữ liệu rõ
• Người tạo/kiểm tra có chuyên môn
• Kiểm tra chéo hoặc phân xử
• Lọc lỗi, trùng lặp, rò rỉ</a:t>
            </a:r>
          </a:p>
        </p:txBody>
      </p:sp>
      <p:sp>
        <p:nvSpPr>
          <p:cNvPr id="16" name="Rounded Rectangle 15"/>
          <p:cNvSpPr/>
          <p:nvPr/>
        </p:nvSpPr>
        <p:spPr>
          <a:xfrm>
            <a:off x="8092440" y="1234440"/>
            <a:ext cx="3520440" cy="3246120"/>
          </a:xfrm>
          <a:prstGeom prst="roundRect">
            <a:avLst/>
          </a:prstGeom>
          <a:solidFill>
            <a:srgbClr val="FBEBDB"/>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1234440"/>
            <a:ext cx="73152" cy="3246120"/>
          </a:xfrm>
          <a:prstGeom prst="rect">
            <a:avLst/>
          </a:prstGeom>
          <a:solidFill>
            <a:srgbClr val="E07C30"/>
          </a:solidFill>
          <a:ln>
            <a:solidFill>
              <a:srgbClr val="E07C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57031" y="1344168"/>
            <a:ext cx="3264408" cy="256032"/>
          </a:xfrm>
          <a:prstGeom prst="rect">
            <a:avLst/>
          </a:prstGeom>
          <a:noFill/>
        </p:spPr>
        <p:txBody>
          <a:bodyPr wrap="square" lIns="36576" rIns="36576" tIns="18288" anchor="t">
            <a:spAutoFit/>
          </a:bodyPr>
          <a:lstStyle/>
          <a:p>
            <a:pPr algn="l"/>
            <a:r>
              <a:rPr sz="1400" b="1">
                <a:solidFill>
                  <a:srgbClr val="E07C30"/>
                </a:solidFill>
                <a:latin typeface="Aptos"/>
              </a:rPr>
              <a:t>3. Có thể dùng để chấm mô hình</a:t>
            </a:r>
          </a:p>
        </p:txBody>
      </p:sp>
      <p:sp>
        <p:nvSpPr>
          <p:cNvPr id="19" name="TextBox 18"/>
          <p:cNvSpPr txBox="1"/>
          <p:nvPr/>
        </p:nvSpPr>
        <p:spPr>
          <a:xfrm>
            <a:off x="8257031" y="1673352"/>
            <a:ext cx="3209544" cy="2743200"/>
          </a:xfrm>
          <a:prstGeom prst="rect">
            <a:avLst/>
          </a:prstGeom>
          <a:noFill/>
        </p:spPr>
        <p:txBody>
          <a:bodyPr wrap="square" lIns="36576" rIns="36576" tIns="18288" anchor="t">
            <a:spAutoFit/>
          </a:bodyPr>
          <a:lstStyle/>
          <a:p>
            <a:pPr algn="l"/>
            <a:r>
              <a:rPr sz="1200" b="0">
                <a:solidFill>
                  <a:srgbClr val="1E2328"/>
                </a:solidFill>
                <a:latin typeface="Aptos"/>
              </a:rPr>
              <a:t>• Đầu vào/đầu ra rõ
• Tiêu chí chấm quan sát được
• Bộ chấm tự động được kiểm tra
• Có khả năng phân biệt mô hình</a:t>
            </a:r>
          </a:p>
        </p:txBody>
      </p:sp>
      <p:sp>
        <p:nvSpPr>
          <p:cNvPr id="20" name="Rounded Rectangle 19"/>
          <p:cNvSpPr/>
          <p:nvPr/>
        </p:nvSpPr>
        <p:spPr>
          <a:xfrm>
            <a:off x="868680" y="5074920"/>
            <a:ext cx="10469880" cy="868680"/>
          </a:xfrm>
          <a:prstGeom prst="roundRect">
            <a:avLst/>
          </a:prstGeom>
          <a:solidFill>
            <a:srgbClr val="FFF8EB"/>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68680" y="5074920"/>
            <a:ext cx="73152" cy="868680"/>
          </a:xfrm>
          <a:prstGeom prst="rect">
            <a:avLst/>
          </a:prstGeom>
          <a:solidFill>
            <a:srgbClr val="E07C30"/>
          </a:solidFill>
          <a:ln>
            <a:solidFill>
              <a:srgbClr val="E07C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33271" y="5184648"/>
            <a:ext cx="10213848" cy="256032"/>
          </a:xfrm>
          <a:prstGeom prst="rect">
            <a:avLst/>
          </a:prstGeom>
          <a:noFill/>
        </p:spPr>
        <p:txBody>
          <a:bodyPr wrap="square" lIns="36576" rIns="36576" tIns="18288" anchor="t">
            <a:spAutoFit/>
          </a:bodyPr>
          <a:lstStyle/>
          <a:p>
            <a:pPr algn="l"/>
            <a:r>
              <a:rPr sz="1250" b="1">
                <a:solidFill>
                  <a:srgbClr val="E07C30"/>
                </a:solidFill>
                <a:latin typeface="Aptos"/>
              </a:rPr>
              <a:t>Cần nhớ</a:t>
            </a:r>
          </a:p>
        </p:txBody>
      </p:sp>
      <p:sp>
        <p:nvSpPr>
          <p:cNvPr id="23" name="TextBox 22"/>
          <p:cNvSpPr txBox="1"/>
          <p:nvPr/>
        </p:nvSpPr>
        <p:spPr>
          <a:xfrm>
            <a:off x="1033271" y="5513831"/>
            <a:ext cx="10158984" cy="365759"/>
          </a:xfrm>
          <a:prstGeom prst="rect">
            <a:avLst/>
          </a:prstGeom>
          <a:noFill/>
        </p:spPr>
        <p:txBody>
          <a:bodyPr wrap="square" lIns="36576" rIns="36576" tIns="18288" anchor="t">
            <a:spAutoFit/>
          </a:bodyPr>
          <a:lstStyle/>
          <a:p>
            <a:pPr algn="l"/>
            <a:r>
              <a:rPr sz="1080" b="0">
                <a:solidFill>
                  <a:srgbClr val="1E2328"/>
                </a:solidFill>
                <a:latin typeface="Aptos"/>
              </a:rPr>
              <a:t>Quy ước: “thước đo chấm mô hình” không tự động là “bằng chứng chất lượng dữ liệu”. Ví dụ với MathTutorBench, F1/micro-F1 chủ yếu là cách dùng bộ đánh giá để chấm mô hình.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164592"/>
          </a:xfrm>
          <a:prstGeom prst="rect">
            <a:avLst/>
          </a:prstGeom>
          <a:solidFill>
            <a:srgbClr val="123458"/>
          </a:solidFill>
          <a:ln>
            <a:solidFill>
              <a:srgbClr val="123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83464"/>
            <a:ext cx="1143000" cy="292608"/>
          </a:xfrm>
          <a:prstGeom prst="roundRect">
            <a:avLst/>
          </a:prstGeom>
          <a:solidFill>
            <a:srgbClr val="E0EDFA"/>
          </a:solidFill>
          <a:ln>
            <a:solidFill>
              <a:srgbClr val="E0ED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29184"/>
            <a:ext cx="1005840" cy="182880"/>
          </a:xfrm>
          <a:prstGeom prst="rect">
            <a:avLst/>
          </a:prstGeom>
          <a:noFill/>
        </p:spPr>
        <p:txBody>
          <a:bodyPr wrap="square" lIns="36576" rIns="36576" tIns="18288" anchor="t">
            <a:spAutoFit/>
          </a:bodyPr>
          <a:lstStyle/>
          <a:p>
            <a:pPr algn="ctr"/>
            <a:r>
              <a:rPr sz="850" b="1">
                <a:solidFill>
                  <a:srgbClr val="123458"/>
                </a:solidFill>
                <a:latin typeface="Aptos"/>
              </a:rPr>
              <a:t>TỔNG HỢP</a:t>
            </a:r>
          </a:p>
        </p:txBody>
      </p:sp>
      <p:sp>
        <p:nvSpPr>
          <p:cNvPr id="5" name="TextBox 4"/>
          <p:cNvSpPr txBox="1"/>
          <p:nvPr/>
        </p:nvSpPr>
        <p:spPr>
          <a:xfrm>
            <a:off x="1755648" y="256032"/>
            <a:ext cx="10515600" cy="530352"/>
          </a:xfrm>
          <a:prstGeom prst="rect">
            <a:avLst/>
          </a:prstGeom>
          <a:noFill/>
        </p:spPr>
        <p:txBody>
          <a:bodyPr wrap="square">
            <a:spAutoFit/>
          </a:bodyPr>
          <a:lstStyle/>
          <a:p>
            <a:r>
              <a:rPr sz="2200" b="1">
                <a:solidFill>
                  <a:srgbClr val="123458"/>
                </a:solidFill>
                <a:latin typeface="Aptos"/>
              </a:rPr>
              <a:t>Ma trận tổng hợp 4 bài báo theo 3 trục</a:t>
            </a:r>
          </a:p>
        </p:txBody>
      </p:sp>
      <p:sp>
        <p:nvSpPr>
          <p:cNvPr id="6" name="TextBox 5"/>
          <p:cNvSpPr txBox="1"/>
          <p:nvPr/>
        </p:nvSpPr>
        <p:spPr>
          <a:xfrm>
            <a:off x="530352" y="804672"/>
            <a:ext cx="10881360" cy="329184"/>
          </a:xfrm>
          <a:prstGeom prst="rect">
            <a:avLst/>
          </a:prstGeom>
          <a:noFill/>
        </p:spPr>
        <p:txBody>
          <a:bodyPr wrap="square">
            <a:spAutoFit/>
          </a:bodyPr>
          <a:lstStyle/>
          <a:p>
            <a:r>
              <a:rPr sz="1050">
                <a:solidFill>
                  <a:srgbClr val="5B6370"/>
                </a:solidFill>
                <a:latin typeface="Aptos"/>
              </a:rPr>
              <a:t>Nhấn mạnh bằng chứng trực tiếp/gián tiếp về chất lượng bộ đánh giá</a:t>
            </a:r>
          </a:p>
        </p:txBody>
      </p:sp>
      <p:sp>
        <p:nvSpPr>
          <p:cNvPr id="7" name="TextBox 6"/>
          <p:cNvSpPr txBox="1"/>
          <p:nvPr/>
        </p:nvSpPr>
        <p:spPr>
          <a:xfrm>
            <a:off x="502920" y="6528816"/>
            <a:ext cx="11064240" cy="228600"/>
          </a:xfrm>
          <a:prstGeom prst="rect">
            <a:avLst/>
          </a:prstGeom>
          <a:noFill/>
        </p:spPr>
        <p:txBody>
          <a:bodyPr wrap="none">
            <a:spAutoFit/>
          </a:bodyPr>
          <a:lstStyle/>
          <a:p>
            <a:pPr algn="r"/>
            <a:r>
              <a:rPr sz="850">
                <a:solidFill>
                  <a:srgbClr val="78808C"/>
                </a:solidFill>
                <a:latin typeface="Aptos"/>
              </a:rPr>
              <a:t>Tổng hợp 4 bài báo về chất lượng bộ đánh giá • 14/07/2026</a:t>
            </a:r>
          </a:p>
        </p:txBody>
      </p:sp>
      <p:graphicFrame>
        <p:nvGraphicFramePr>
          <p:cNvPr id="8" name="Table 7"/>
          <p:cNvGraphicFramePr>
            <a:graphicFrameLocks noGrp="1"/>
          </p:cNvGraphicFramePr>
          <p:nvPr/>
        </p:nvGraphicFramePr>
        <p:xfrm>
          <a:off x="320040" y="1143000"/>
          <a:ext cx="11567160" cy="5230368"/>
        </p:xfrm>
        <a:graphic>
          <a:graphicData uri="http://schemas.openxmlformats.org/drawingml/2006/table">
            <a:tbl>
              <a:tblPr firstRow="1" bandRow="1">
                <a:tableStyleId>{5C22544A-7EE6-4342-B048-85BDC9FD1C3A}</a:tableStyleId>
              </a:tblPr>
              <a:tblGrid>
                <a:gridCol w="1600200"/>
                <a:gridCol w="2788920"/>
                <a:gridCol w="3657600"/>
                <a:gridCol w="3520440"/>
              </a:tblGrid>
              <a:tr h="1046073">
                <a:tc>
                  <a:txBody>
                    <a:bodyPr/>
                    <a:lstStyle/>
                    <a:p>
                      <a:pPr>
                        <a:spcAft>
                          <a:spcPts val="0"/>
                        </a:spcAft>
                      </a:pPr>
                      <a:r>
                        <a:rPr sz="760" b="1">
                          <a:solidFill>
                            <a:srgbClr val="FFFFFF"/>
                          </a:solidFill>
                          <a:latin typeface="Aptos"/>
                        </a:rPr>
                        <a:t>Bài báo</a:t>
                      </a:r>
                    </a:p>
                  </a:txBody>
                  <a:tcPr marL="36576" marR="36576" marT="22860" marB="22860">
                    <a:solidFill>
                      <a:srgbClr val="123458"/>
                    </a:solidFill>
                  </a:tcPr>
                </a:tc>
                <a:tc>
                  <a:txBody>
                    <a:bodyPr/>
                    <a:lstStyle/>
                    <a:p>
                      <a:pPr>
                        <a:spcAft>
                          <a:spcPts val="0"/>
                        </a:spcAft>
                      </a:pPr>
                      <a:r>
                        <a:rPr sz="760" b="1">
                          <a:solidFill>
                            <a:srgbClr val="FFFFFF"/>
                          </a:solidFill>
                          <a:latin typeface="Aptos"/>
                        </a:rPr>
                        <a:t>Độ bao phủ</a:t>
                      </a:r>
                    </a:p>
                  </a:txBody>
                  <a:tcPr marL="36576" marR="36576" marT="22860" marB="22860">
                    <a:solidFill>
                      <a:srgbClr val="123458"/>
                    </a:solidFill>
                  </a:tcPr>
                </a:tc>
                <a:tc>
                  <a:txBody>
                    <a:bodyPr/>
                    <a:lstStyle/>
                    <a:p>
                      <a:pPr>
                        <a:spcAft>
                          <a:spcPts val="0"/>
                        </a:spcAft>
                      </a:pPr>
                      <a:r>
                        <a:rPr sz="760" b="1">
                          <a:solidFill>
                            <a:srgbClr val="FFFFFF"/>
                          </a:solidFill>
                          <a:latin typeface="Aptos"/>
                        </a:rPr>
                        <a:t>Dữ liệu đáng tin</a:t>
                      </a:r>
                    </a:p>
                  </a:txBody>
                  <a:tcPr marL="36576" marR="36576" marT="22860" marB="22860">
                    <a:solidFill>
                      <a:srgbClr val="123458"/>
                    </a:solidFill>
                  </a:tcPr>
                </a:tc>
                <a:tc>
                  <a:txBody>
                    <a:bodyPr/>
                    <a:lstStyle/>
                    <a:p>
                      <a:pPr>
                        <a:spcAft>
                          <a:spcPts val="0"/>
                        </a:spcAft>
                      </a:pPr>
                      <a:r>
                        <a:rPr sz="760" b="1">
                          <a:solidFill>
                            <a:srgbClr val="FFFFFF"/>
                          </a:solidFill>
                          <a:latin typeface="Aptos"/>
                        </a:rPr>
                        <a:t>Có thể dùng để chấm mô hình</a:t>
                      </a:r>
                    </a:p>
                  </a:txBody>
                  <a:tcPr marL="36576" marR="36576" marT="22860" marB="22860">
                    <a:solidFill>
                      <a:srgbClr val="123458"/>
                    </a:solidFill>
                  </a:tcPr>
                </a:tc>
              </a:tr>
              <a:tr h="1046073">
                <a:tc>
                  <a:txBody>
                    <a:bodyPr/>
                    <a:lstStyle/>
                    <a:p>
                      <a:pPr>
                        <a:spcAft>
                          <a:spcPts val="0"/>
                        </a:spcAft>
                      </a:pPr>
                      <a:r>
                        <a:rPr sz="710" b="1">
                          <a:solidFill>
                            <a:srgbClr val="1E2328"/>
                          </a:solidFill>
                          <a:latin typeface="Aptos"/>
                        </a:rPr>
                        <a:t>MathTutorBench</a:t>
                      </a:r>
                    </a:p>
                  </a:txBody>
                  <a:tcPr marL="36576" marR="36576" marT="22860" marB="22860">
                    <a:solidFill>
                      <a:srgbClr val="EBF1F8"/>
                    </a:solidFill>
                  </a:tcPr>
                </a:tc>
                <a:tc>
                  <a:txBody>
                    <a:bodyPr/>
                    <a:lstStyle/>
                    <a:p>
                      <a:pPr>
                        <a:spcAft>
                          <a:spcPts val="0"/>
                        </a:spcAft>
                      </a:pPr>
                      <a:r>
                        <a:rPr sz="710" b="0">
                          <a:solidFill>
                            <a:srgbClr val="1E2328"/>
                          </a:solidFill>
                          <a:latin typeface="Aptos"/>
                        </a:rPr>
                        <a:t>3 nhóm năng lực; 7 nhiệm vụ; có biến thể hội thoại dài hơn.</a:t>
                      </a:r>
                    </a:p>
                  </a:txBody>
                  <a:tcPr marL="36576" marR="36576" marT="22860" marB="22860">
                    <a:solidFill>
                      <a:srgbClr val="FFFFFF"/>
                    </a:solidFill>
                  </a:tcPr>
                </a:tc>
                <a:tc>
                  <a:txBody>
                    <a:bodyPr/>
                    <a:lstStyle/>
                    <a:p>
                      <a:pPr>
                        <a:spcAft>
                          <a:spcPts val="0"/>
                        </a:spcAft>
                      </a:pPr>
                      <a:r>
                        <a:rPr sz="710" b="0">
                          <a:solidFill>
                            <a:srgbClr val="1E2328"/>
                          </a:solidFill>
                          <a:latin typeface="Aptos"/>
                        </a:rPr>
                        <a:t>Không có quy trình kiểm tra chéo toàn bộ dữ liệu; bằng chứng chủ yếu gián tiếp từ nguồn dữ liệu, ground truth và kiểm tra reward model.</a:t>
                      </a:r>
                    </a:p>
                  </a:txBody>
                  <a:tcPr marL="36576" marR="36576" marT="22860" marB="22860">
                    <a:solidFill>
                      <a:srgbClr val="FFFFFF"/>
                    </a:solidFill>
                  </a:tcPr>
                </a:tc>
                <a:tc>
                  <a:txBody>
                    <a:bodyPr/>
                    <a:lstStyle/>
                    <a:p>
                      <a:pPr>
                        <a:spcAft>
                          <a:spcPts val="0"/>
                        </a:spcAft>
                      </a:pPr>
                      <a:r>
                        <a:rPr sz="710" b="0">
                          <a:solidFill>
                            <a:srgbClr val="1E2328"/>
                          </a:solidFill>
                          <a:latin typeface="Aptos"/>
                        </a:rPr>
                        <a:t>Tách năng lực giải bài khỏi năng lực gia sư; reward model hỗ trợ chấm phản hồi mở.</a:t>
                      </a:r>
                    </a:p>
                  </a:txBody>
                  <a:tcPr marL="36576" marR="36576" marT="22860" marB="22860">
                    <a:solidFill>
                      <a:srgbClr val="FFFFFF"/>
                    </a:solidFill>
                  </a:tcPr>
                </a:tc>
              </a:tr>
              <a:tr h="1046073">
                <a:tc>
                  <a:txBody>
                    <a:bodyPr/>
                    <a:lstStyle/>
                    <a:p>
                      <a:pPr>
                        <a:spcAft>
                          <a:spcPts val="0"/>
                        </a:spcAft>
                      </a:pPr>
                      <a:r>
                        <a:rPr sz="710" b="1">
                          <a:solidFill>
                            <a:srgbClr val="1E2328"/>
                          </a:solidFill>
                          <a:latin typeface="Aptos"/>
                        </a:rPr>
                        <a:t>KMP-Bench</a:t>
                      </a:r>
                    </a:p>
                  </a:txBody>
                  <a:tcPr marL="36576" marR="36576" marT="22860" marB="22860">
                    <a:solidFill>
                      <a:srgbClr val="EBF1F8"/>
                    </a:solidFill>
                  </a:tcPr>
                </a:tc>
                <a:tc>
                  <a:txBody>
                    <a:bodyPr/>
                    <a:lstStyle/>
                    <a:p>
                      <a:pPr>
                        <a:spcAft>
                          <a:spcPts val="0"/>
                        </a:spcAft>
                      </a:pPr>
                      <a:r>
                        <a:rPr sz="710" b="0">
                          <a:solidFill>
                            <a:srgbClr val="1E2328"/>
                          </a:solidFill>
                          <a:latin typeface="Aptos"/>
                        </a:rPr>
                        <a:t>9 nguồn, 11 miền Toán, K–8; 6 nguyên tắc sư phạm; KMP-Dialogue + KMP-Skills.</a:t>
                      </a:r>
                    </a:p>
                  </a:txBody>
                  <a:tcPr marL="36576" marR="36576" marT="22860" marB="22860">
                    <a:solidFill>
                      <a:srgbClr val="F8FBFD"/>
                    </a:solidFill>
                  </a:tcPr>
                </a:tc>
                <a:tc>
                  <a:txBody>
                    <a:bodyPr/>
                    <a:lstStyle/>
                    <a:p>
                      <a:pPr>
                        <a:spcAft>
                          <a:spcPts val="0"/>
                        </a:spcAft>
                      </a:pPr>
                      <a:r>
                        <a:rPr sz="710" b="0">
                          <a:solidFill>
                            <a:srgbClr val="1E2328"/>
                          </a:solidFill>
                          <a:latin typeface="Aptos"/>
                        </a:rPr>
                        <a:t>Quy trình LLM-heavy; vài mẫu do người viết; manual verification cho Dialogue Flow; loại 7.6% flow lỗi; kiểm tra evaluator với người.</a:t>
                      </a:r>
                    </a:p>
                  </a:txBody>
                  <a:tcPr marL="36576" marR="36576" marT="22860" marB="22860">
                    <a:solidFill>
                      <a:srgbClr val="F8FBFD"/>
                    </a:solidFill>
                  </a:tcPr>
                </a:tc>
                <a:tc>
                  <a:txBody>
                    <a:bodyPr/>
                    <a:lstStyle/>
                    <a:p>
                      <a:pPr>
                        <a:spcAft>
                          <a:spcPts val="0"/>
                        </a:spcAft>
                      </a:pPr>
                      <a:r>
                        <a:rPr sz="710" b="0">
                          <a:solidFill>
                            <a:srgbClr val="1E2328"/>
                          </a:solidFill>
                          <a:latin typeface="Aptos"/>
                        </a:rPr>
                        <a:t>Cắt hội thoại tại lượt gia sư; dùng phản hồi tham chiếu; chấm thắng/hòa/thua theo tiêu chí.</a:t>
                      </a:r>
                    </a:p>
                  </a:txBody>
                  <a:tcPr marL="36576" marR="36576" marT="22860" marB="22860">
                    <a:solidFill>
                      <a:srgbClr val="F8FBFD"/>
                    </a:solidFill>
                  </a:tcPr>
                </a:tc>
              </a:tr>
              <a:tr h="1046073">
                <a:tc>
                  <a:txBody>
                    <a:bodyPr/>
                    <a:lstStyle/>
                    <a:p>
                      <a:pPr>
                        <a:spcAft>
                          <a:spcPts val="0"/>
                        </a:spcAft>
                      </a:pPr>
                      <a:r>
                        <a:rPr sz="710" b="1">
                          <a:solidFill>
                            <a:srgbClr val="1E2328"/>
                          </a:solidFill>
                          <a:latin typeface="Aptos"/>
                        </a:rPr>
                        <a:t>TutorBench</a:t>
                      </a:r>
                    </a:p>
                  </a:txBody>
                  <a:tcPr marL="36576" marR="36576" marT="22860" marB="22860">
                    <a:solidFill>
                      <a:srgbClr val="EBF1F8"/>
                    </a:solidFill>
                  </a:tcPr>
                </a:tc>
                <a:tc>
                  <a:txBody>
                    <a:bodyPr/>
                    <a:lstStyle/>
                    <a:p>
                      <a:pPr>
                        <a:spcAft>
                          <a:spcPts val="0"/>
                        </a:spcAft>
                      </a:pPr>
                      <a:r>
                        <a:rPr sz="710" b="0">
                          <a:solidFill>
                            <a:srgbClr val="1E2328"/>
                          </a:solidFill>
                          <a:latin typeface="Aptos"/>
                        </a:rPr>
                        <a:t>1.490 mẫu; 6 môn STEM; 3 tình huống; nhãn Bloom và kỹ năng gia sư.</a:t>
                      </a:r>
                    </a:p>
                  </a:txBody>
                  <a:tcPr marL="36576" marR="36576" marT="22860" marB="22860">
                    <a:solidFill>
                      <a:srgbClr val="FFFFFF"/>
                    </a:solidFill>
                  </a:tcPr>
                </a:tc>
                <a:tc>
                  <a:txBody>
                    <a:bodyPr/>
                    <a:lstStyle/>
                    <a:p>
                      <a:pPr>
                        <a:spcAft>
                          <a:spcPts val="0"/>
                        </a:spcAft>
                      </a:pPr>
                      <a:r>
                        <a:rPr sz="710" b="0">
                          <a:solidFill>
                            <a:srgbClr val="1E2328"/>
                          </a:solidFill>
                          <a:latin typeface="Aptos"/>
                        </a:rPr>
                        <a:t>Chuyên gia viết câu hỏi, phản hồi mẫu và tiêu chí chấm riêng; lọc mẫu quá dễ bằng 5 mô hình mạnh; kiểm tra bộ chấm với 69 chuyên gia.</a:t>
                      </a:r>
                    </a:p>
                  </a:txBody>
                  <a:tcPr marL="36576" marR="36576" marT="22860" marB="22860">
                    <a:solidFill>
                      <a:srgbClr val="FFFFFF"/>
                    </a:solidFill>
                  </a:tcPr>
                </a:tc>
                <a:tc>
                  <a:txBody>
                    <a:bodyPr/>
                    <a:lstStyle/>
                    <a:p>
                      <a:pPr>
                        <a:spcAft>
                          <a:spcPts val="0"/>
                        </a:spcAft>
                      </a:pPr>
                      <a:r>
                        <a:rPr sz="710" b="0">
                          <a:solidFill>
                            <a:srgbClr val="1E2328"/>
                          </a:solidFill>
                          <a:latin typeface="Aptos"/>
                        </a:rPr>
                        <a:t>Không mô hình nào vượt 56%; giao thức chấm một phản hồi cố định; tách rõ với Study mode.</a:t>
                      </a:r>
                    </a:p>
                  </a:txBody>
                  <a:tcPr marL="36576" marR="36576" marT="22860" marB="22860">
                    <a:solidFill>
                      <a:srgbClr val="FFFFFF"/>
                    </a:solidFill>
                  </a:tcPr>
                </a:tc>
              </a:tr>
              <a:tr h="1046076">
                <a:tc>
                  <a:txBody>
                    <a:bodyPr/>
                    <a:lstStyle/>
                    <a:p>
                      <a:pPr>
                        <a:spcAft>
                          <a:spcPts val="0"/>
                        </a:spcAft>
                      </a:pPr>
                      <a:r>
                        <a:rPr sz="710" b="1">
                          <a:solidFill>
                            <a:srgbClr val="1E2328"/>
                          </a:solidFill>
                          <a:latin typeface="Aptos"/>
                        </a:rPr>
                        <a:t>VietLegal/V-Legal</a:t>
                      </a:r>
                    </a:p>
                  </a:txBody>
                  <a:tcPr marL="36576" marR="36576" marT="22860" marB="22860">
                    <a:solidFill>
                      <a:srgbClr val="EBF1F8"/>
                    </a:solidFill>
                  </a:tcPr>
                </a:tc>
                <a:tc>
                  <a:txBody>
                    <a:bodyPr/>
                    <a:lstStyle/>
                    <a:p>
                      <a:pPr>
                        <a:spcAft>
                          <a:spcPts val="0"/>
                        </a:spcAft>
                      </a:pPr>
                      <a:r>
                        <a:rPr sz="710" b="0">
                          <a:solidFill>
                            <a:srgbClr val="1E2328"/>
                          </a:solidFill>
                          <a:latin typeface="Aptos"/>
                        </a:rPr>
                        <a:t>Nguồn pháp luật chính thức; 22 nhiệm vụ; 5 mức nhận thức; nhiều dạng đầu ra.</a:t>
                      </a:r>
                    </a:p>
                  </a:txBody>
                  <a:tcPr marL="36576" marR="36576" marT="22860" marB="22860">
                    <a:solidFill>
                      <a:srgbClr val="F8FBFD"/>
                    </a:solidFill>
                  </a:tcPr>
                </a:tc>
                <a:tc>
                  <a:txBody>
                    <a:bodyPr/>
                    <a:lstStyle/>
                    <a:p>
                      <a:pPr>
                        <a:spcAft>
                          <a:spcPts val="0"/>
                        </a:spcAft>
                      </a:pPr>
                      <a:r>
                        <a:rPr sz="710" b="0">
                          <a:solidFill>
                            <a:srgbClr val="1E2328"/>
                          </a:solidFill>
                          <a:latin typeface="Aptos"/>
                        </a:rPr>
                        <a:t>Chuyên gia nhiều tầng; blind cross-verification; senior adjudication; Cohen’s Kappa; kiểm tra rò rỉ/trùng lặp.</a:t>
                      </a:r>
                    </a:p>
                  </a:txBody>
                  <a:tcPr marL="36576" marR="36576" marT="22860" marB="22860">
                    <a:solidFill>
                      <a:srgbClr val="F8FBFD"/>
                    </a:solidFill>
                  </a:tcPr>
                </a:tc>
                <a:tc>
                  <a:txBody>
                    <a:bodyPr/>
                    <a:lstStyle/>
                    <a:p>
                      <a:pPr>
                        <a:spcAft>
                          <a:spcPts val="0"/>
                        </a:spcAft>
                      </a:pPr>
                      <a:r>
                        <a:rPr sz="710" b="0">
                          <a:solidFill>
                            <a:srgbClr val="1E2328"/>
                          </a:solidFill>
                          <a:latin typeface="Aptos"/>
                        </a:rPr>
                        <a:t>Thước đo theo từng nhiệm vụ; phản hồi người cao hơn mô hình; chứng minh bộ đánh giá bám nguồn và phân hóa mô hình.</a:t>
                      </a:r>
                    </a:p>
                  </a:txBody>
                  <a:tcPr marL="36576" marR="36576" marT="22860" marB="22860">
                    <a:solidFill>
                      <a:srgbClr val="F8FBFD"/>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164592"/>
          </a:xfrm>
          <a:prstGeom prst="rect">
            <a:avLst/>
          </a:prstGeom>
          <a:solidFill>
            <a:srgbClr val="123458"/>
          </a:solidFill>
          <a:ln>
            <a:solidFill>
              <a:srgbClr val="123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83464"/>
            <a:ext cx="1143000" cy="292608"/>
          </a:xfrm>
          <a:prstGeom prst="roundRect">
            <a:avLst/>
          </a:prstGeom>
          <a:solidFill>
            <a:srgbClr val="E0EDFA"/>
          </a:solidFill>
          <a:ln>
            <a:solidFill>
              <a:srgbClr val="E0ED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29184"/>
            <a:ext cx="1005840" cy="182880"/>
          </a:xfrm>
          <a:prstGeom prst="rect">
            <a:avLst/>
          </a:prstGeom>
          <a:noFill/>
        </p:spPr>
        <p:txBody>
          <a:bodyPr wrap="square" lIns="54864" rIns="54864" tIns="27432" anchor="t" bIns="27432">
            <a:spAutoFit/>
          </a:bodyPr>
          <a:lstStyle/>
          <a:p>
            <a:pPr algn="ctr">
              <a:spcBef>
                <a:spcPts val="0"/>
              </a:spcBef>
              <a:spcAft>
                <a:spcPts val="0"/>
              </a:spcAft>
            </a:pPr>
            <a:r>
              <a:rPr sz="1100" b="1">
                <a:solidFill>
                  <a:srgbClr val="FFFFFF"/>
                </a:solidFill>
              </a:rPr>
              <a:t>TRỤC 1</a:t>
            </a:r>
          </a:p>
        </p:txBody>
      </p:sp>
      <p:sp>
        <p:nvSpPr>
          <p:cNvPr id="5" name="TextBox 4"/>
          <p:cNvSpPr txBox="1"/>
          <p:nvPr/>
        </p:nvSpPr>
        <p:spPr>
          <a:xfrm>
            <a:off x="1755648" y="256032"/>
            <a:ext cx="10515600" cy="530352"/>
          </a:xfrm>
          <a:prstGeom prst="rect">
            <a:avLst/>
          </a:prstGeom>
          <a:noFill/>
        </p:spPr>
        <p:txBody>
          <a:bodyPr wrap="square" lIns="54864" rIns="54864" tIns="27432" bIns="27432">
            <a:spAutoFit/>
          </a:bodyPr>
          <a:lstStyle/>
          <a:p>
            <a:pPr>
              <a:spcBef>
                <a:spcPts val="0"/>
              </a:spcBef>
              <a:spcAft>
                <a:spcPts val="0"/>
              </a:spcAft>
            </a:pPr>
            <a:r>
              <a:rPr sz="2350" b="1">
                <a:solidFill>
                  <a:srgbClr val="0B3A67"/>
                </a:solidFill>
              </a:rPr>
              <a:t>Trục 1 — Độ bao phủ trong 4 bài báo: phủ cái gì?</a:t>
            </a:r>
          </a:p>
        </p:txBody>
      </p:sp>
      <p:sp>
        <p:nvSpPr>
          <p:cNvPr id="6" name="TextBox 5"/>
          <p:cNvSpPr txBox="1"/>
          <p:nvPr/>
        </p:nvSpPr>
        <p:spPr>
          <a:xfrm>
            <a:off x="530352" y="804672"/>
            <a:ext cx="10881360" cy="329184"/>
          </a:xfrm>
          <a:prstGeom prst="rect">
            <a:avLst/>
          </a:prstGeom>
          <a:noFill/>
        </p:spPr>
        <p:txBody>
          <a:bodyPr wrap="square" lIns="54864" rIns="54864" tIns="27432" bIns="27432">
            <a:spAutoFit/>
          </a:bodyPr>
          <a:lstStyle/>
          <a:p>
            <a:pPr>
              <a:spcBef>
                <a:spcPts val="0"/>
              </a:spcBef>
              <a:spcAft>
                <a:spcPts val="0"/>
              </a:spcAft>
            </a:pPr>
            <a:r>
              <a:rPr sz="1250" b="0">
                <a:solidFill>
                  <a:srgbClr val="555555"/>
                </a:solidFill>
              </a:rPr>
              <a:t>Mỗi bài báo chứng minh độ phủ theo những lớp khác nhau: kiến thức, độ khó, dạng nhiệm vụ/tình huống và hành vi cần đánh giá</a:t>
            </a:r>
          </a:p>
        </p:txBody>
      </p:sp>
      <p:sp>
        <p:nvSpPr>
          <p:cNvPr id="7" name="TextBox 6"/>
          <p:cNvSpPr txBox="1"/>
          <p:nvPr/>
        </p:nvSpPr>
        <p:spPr>
          <a:xfrm>
            <a:off x="502920" y="6528816"/>
            <a:ext cx="11064240" cy="228600"/>
          </a:xfrm>
          <a:prstGeom prst="rect">
            <a:avLst/>
          </a:prstGeom>
          <a:noFill/>
        </p:spPr>
        <p:txBody>
          <a:bodyPr wrap="none">
            <a:spAutoFit/>
          </a:bodyPr>
          <a:lstStyle/>
          <a:p>
            <a:pPr algn="r"/>
            <a:r>
              <a:rPr sz="850">
                <a:solidFill>
                  <a:srgbClr val="78808C"/>
                </a:solidFill>
                <a:latin typeface="Aptos"/>
              </a:rPr>
              <a:t>Tổng hợp 4 bài báo về chất lượng bộ đánh giá • 14/07/2026</a:t>
            </a:r>
          </a:p>
        </p:txBody>
      </p:sp>
      <p:sp>
        <p:nvSpPr>
          <p:cNvPr id="8" name="Rounded Rectangle 7"/>
          <p:cNvSpPr/>
          <p:nvPr/>
        </p:nvSpPr>
        <p:spPr>
          <a:xfrm>
            <a:off x="502920" y="1078992"/>
            <a:ext cx="5394960" cy="1700784"/>
          </a:xfrm>
          <a:prstGeom prst="roundRect">
            <a:avLst/>
          </a:prstGeom>
          <a:solidFill>
            <a:srgbClr val="E0EDFA"/>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078992"/>
            <a:ext cx="73152" cy="1700784"/>
          </a:xfrm>
          <a:prstGeom prst="rect">
            <a:avLst/>
          </a:prstGeom>
          <a:solidFill>
            <a:srgbClr val="2871B9"/>
          </a:solidFill>
          <a:ln>
            <a:solidFill>
              <a:srgbClr val="2871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197864"/>
            <a:ext cx="5093208" cy="274320"/>
          </a:xfrm>
          <a:prstGeom prst="rect">
            <a:avLst/>
          </a:prstGeom>
          <a:noFill/>
        </p:spPr>
        <p:txBody>
          <a:bodyPr wrap="square" lIns="54864" rIns="54864" tIns="27432" anchor="t" bIns="27432">
            <a:spAutoFit/>
          </a:bodyPr>
          <a:lstStyle/>
          <a:p>
            <a:pPr algn="l">
              <a:spcBef>
                <a:spcPts val="0"/>
              </a:spcBef>
              <a:spcAft>
                <a:spcPts val="0"/>
              </a:spcAft>
            </a:pPr>
            <a:r>
              <a:rPr sz="1300" b="1">
                <a:solidFill>
                  <a:srgbClr val="0B3A67"/>
                </a:solidFill>
              </a:rPr>
              <a:t>MathTutorBench</a:t>
            </a:r>
          </a:p>
        </p:txBody>
      </p:sp>
      <p:sp>
        <p:nvSpPr>
          <p:cNvPr id="11" name="TextBox 10"/>
          <p:cNvSpPr txBox="1"/>
          <p:nvPr/>
        </p:nvSpPr>
        <p:spPr>
          <a:xfrm>
            <a:off x="667512" y="1490472"/>
            <a:ext cx="5065776" cy="1234440"/>
          </a:xfrm>
          <a:prstGeom prst="rect">
            <a:avLst/>
          </a:prstGeom>
          <a:noFill/>
        </p:spPr>
        <p:txBody>
          <a:bodyPr wrap="square" lIns="54864" rIns="54864" tIns="27432" anchor="t" bIns="27432">
            <a:spAutoFit/>
          </a:bodyPr>
          <a:lstStyle/>
          <a:p>
            <a:pPr algn="l">
              <a:spcBef>
                <a:spcPts val="0"/>
              </a:spcBef>
              <a:spcAft>
                <a:spcPts val="0"/>
              </a:spcAft>
            </a:pPr>
            <a:r>
              <a:rPr sz="944" b="0">
                <a:solidFill>
                  <a:srgbClr val="222222"/>
                </a:solidFill>
              </a:rPr>
              <a:t>• Kiến thức: nhiều nguồn Toán như GSM8k, StepVerify, MathDialBridge</a:t>
            </a:r>
          </a:p>
          <a:p>
            <a:pPr>
              <a:spcBef>
                <a:spcPts val="0"/>
              </a:spcBef>
              <a:spcAft>
                <a:spcPts val="0"/>
              </a:spcAft>
            </a:pPr>
            <a:r>
              <a:rPr sz="944" b="0">
                <a:solidFill>
                  <a:srgbClr val="222222"/>
                </a:solidFill>
              </a:rPr>
              <a:t>• Độ khó: hội thoại thường/khó; nhánh khó dài hơn</a:t>
            </a:r>
          </a:p>
          <a:p>
            <a:pPr>
              <a:spcBef>
                <a:spcPts val="0"/>
              </a:spcBef>
              <a:spcAft>
                <a:spcPts val="0"/>
              </a:spcAft>
            </a:pPr>
            <a:r>
              <a:rPr sz="944" b="0">
                <a:solidFill>
                  <a:srgbClr val="222222"/>
                </a:solidFill>
              </a:rPr>
              <a:t>• Dạng nhiệm vụ: giải bài, hỏi Socrates, kiểm tra lời giải, tìm/sửa lỗi, phản hồi giàn giáo</a:t>
            </a:r>
          </a:p>
          <a:p>
            <a:pPr>
              <a:spcBef>
                <a:spcPts val="0"/>
              </a:spcBef>
              <a:spcAft>
                <a:spcPts val="0"/>
              </a:spcAft>
            </a:pPr>
            <a:r>
              <a:rPr sz="944" b="0">
                <a:solidFill>
                  <a:srgbClr val="222222"/>
                </a:solidFill>
              </a:rPr>
              <a:t>• Hành vi: chuyên môn, hiểu học sinh, sinh phản hồi sư phạm</a:t>
            </a:r>
          </a:p>
        </p:txBody>
      </p:sp>
      <p:sp>
        <p:nvSpPr>
          <p:cNvPr id="12" name="Rounded Rectangle 11"/>
          <p:cNvSpPr/>
          <p:nvPr/>
        </p:nvSpPr>
        <p:spPr>
          <a:xfrm>
            <a:off x="6291072" y="1078992"/>
            <a:ext cx="5394960" cy="1700784"/>
          </a:xfrm>
          <a:prstGeom prst="roundRect">
            <a:avLst/>
          </a:prstGeom>
          <a:solidFill>
            <a:srgbClr val="E0EDFA"/>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91072" y="1078992"/>
            <a:ext cx="73152" cy="1700784"/>
          </a:xfrm>
          <a:prstGeom prst="rect">
            <a:avLst/>
          </a:prstGeom>
          <a:solidFill>
            <a:srgbClr val="008D91"/>
          </a:solidFill>
          <a:ln>
            <a:solidFill>
              <a:srgbClr val="008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55664" y="1197864"/>
            <a:ext cx="5093208" cy="274320"/>
          </a:xfrm>
          <a:prstGeom prst="rect">
            <a:avLst/>
          </a:prstGeom>
          <a:noFill/>
        </p:spPr>
        <p:txBody>
          <a:bodyPr wrap="square" lIns="54864" rIns="54864" tIns="27432" anchor="t" bIns="27432">
            <a:spAutoFit/>
          </a:bodyPr>
          <a:lstStyle/>
          <a:p>
            <a:pPr algn="l">
              <a:spcBef>
                <a:spcPts val="0"/>
              </a:spcBef>
              <a:spcAft>
                <a:spcPts val="0"/>
              </a:spcAft>
            </a:pPr>
            <a:r>
              <a:rPr sz="1300" b="1">
                <a:solidFill>
                  <a:srgbClr val="0B3A67"/>
                </a:solidFill>
              </a:rPr>
              <a:t>KMP-Bench</a:t>
            </a:r>
          </a:p>
        </p:txBody>
      </p:sp>
      <p:sp>
        <p:nvSpPr>
          <p:cNvPr id="15" name="TextBox 14"/>
          <p:cNvSpPr txBox="1"/>
          <p:nvPr/>
        </p:nvSpPr>
        <p:spPr>
          <a:xfrm>
            <a:off x="6455664" y="1490472"/>
            <a:ext cx="5065776" cy="1234440"/>
          </a:xfrm>
          <a:prstGeom prst="rect">
            <a:avLst/>
          </a:prstGeom>
          <a:noFill/>
        </p:spPr>
        <p:txBody>
          <a:bodyPr wrap="square" lIns="54864" rIns="54864" tIns="27432" anchor="t" bIns="27432">
            <a:spAutoFit/>
          </a:bodyPr>
          <a:lstStyle/>
          <a:p>
            <a:pPr algn="l">
              <a:spcBef>
                <a:spcPts val="0"/>
              </a:spcBef>
              <a:spcAft>
                <a:spcPts val="0"/>
              </a:spcAft>
            </a:pPr>
            <a:r>
              <a:rPr sz="944" b="0">
                <a:solidFill>
                  <a:srgbClr val="222222"/>
                </a:solidFill>
              </a:rPr>
              <a:t>• Kiến thức: 9 nguồn giáo dục, 11 miền Toán, 9 cấp K–8</a:t>
            </a:r>
          </a:p>
          <a:p>
            <a:pPr>
              <a:spcBef>
                <a:spcPts val="0"/>
              </a:spcBef>
              <a:spcAft>
                <a:spcPts val="0"/>
              </a:spcAft>
            </a:pPr>
            <a:r>
              <a:rPr sz="944" b="0">
                <a:solidFill>
                  <a:srgbClr val="222222"/>
                </a:solidFill>
              </a:rPr>
              <a:t>• Độ khó: bài luyện tập tương tự dễ/trung bình/khó; tránh biến thể tầm thường</a:t>
            </a:r>
          </a:p>
          <a:p>
            <a:pPr>
              <a:spcBef>
                <a:spcPts val="0"/>
              </a:spcBef>
              <a:spcAft>
                <a:spcPts val="0"/>
              </a:spcAft>
            </a:pPr>
            <a:r>
              <a:rPr sz="944" b="0">
                <a:solidFill>
                  <a:srgbClr val="222222"/>
                </a:solidFill>
              </a:rPr>
              <a:t>• Dạng nhiệm vụ: hội thoại gia sư và KMP-Skills</a:t>
            </a:r>
          </a:p>
          <a:p>
            <a:pPr>
              <a:spcBef>
                <a:spcPts val="0"/>
              </a:spcBef>
              <a:spcAft>
                <a:spcPts val="0"/>
              </a:spcAft>
            </a:pPr>
            <a:r>
              <a:rPr sz="944" b="0">
                <a:solidFill>
                  <a:srgbClr val="222222"/>
                </a:solidFill>
              </a:rPr>
              <a:t>• Hành vi: 6 nguyên tắc sư phạm như giải thích, làm mẫu, luyện tập, đặt câu hỏi, phản hồi</a:t>
            </a:r>
          </a:p>
        </p:txBody>
      </p:sp>
      <p:sp>
        <p:nvSpPr>
          <p:cNvPr id="16" name="Rounded Rectangle 15"/>
          <p:cNvSpPr/>
          <p:nvPr/>
        </p:nvSpPr>
        <p:spPr>
          <a:xfrm>
            <a:off x="502920" y="3182112"/>
            <a:ext cx="5394960" cy="1700784"/>
          </a:xfrm>
          <a:prstGeom prst="roundRect">
            <a:avLst/>
          </a:prstGeom>
          <a:solidFill>
            <a:srgbClr val="E0EDFA"/>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3182112"/>
            <a:ext cx="73152" cy="1700784"/>
          </a:xfrm>
          <a:prstGeom prst="rect">
            <a:avLst/>
          </a:prstGeom>
          <a:solidFill>
            <a:srgbClr val="409753"/>
          </a:solidFill>
          <a:ln>
            <a:solidFill>
              <a:srgbClr val="4097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3300984"/>
            <a:ext cx="5093208" cy="274320"/>
          </a:xfrm>
          <a:prstGeom prst="rect">
            <a:avLst/>
          </a:prstGeom>
          <a:noFill/>
        </p:spPr>
        <p:txBody>
          <a:bodyPr wrap="square" lIns="54864" rIns="54864" tIns="27432" anchor="t" bIns="27432">
            <a:spAutoFit/>
          </a:bodyPr>
          <a:lstStyle/>
          <a:p>
            <a:pPr algn="l">
              <a:spcBef>
                <a:spcPts val="0"/>
              </a:spcBef>
              <a:spcAft>
                <a:spcPts val="0"/>
              </a:spcAft>
            </a:pPr>
            <a:r>
              <a:rPr sz="1300" b="1">
                <a:solidFill>
                  <a:srgbClr val="0B3A67"/>
                </a:solidFill>
              </a:rPr>
              <a:t>TutorBench</a:t>
            </a:r>
          </a:p>
        </p:txBody>
      </p:sp>
      <p:sp>
        <p:nvSpPr>
          <p:cNvPr id="19" name="TextBox 18"/>
          <p:cNvSpPr txBox="1"/>
          <p:nvPr/>
        </p:nvSpPr>
        <p:spPr>
          <a:xfrm>
            <a:off x="667512" y="3593592"/>
            <a:ext cx="5065776" cy="1234440"/>
          </a:xfrm>
          <a:prstGeom prst="rect">
            <a:avLst/>
          </a:prstGeom>
          <a:noFill/>
        </p:spPr>
        <p:txBody>
          <a:bodyPr wrap="square" lIns="54864" rIns="54864" tIns="27432" anchor="t" bIns="27432">
            <a:spAutoFit/>
          </a:bodyPr>
          <a:lstStyle/>
          <a:p>
            <a:pPr algn="l">
              <a:spcBef>
                <a:spcPts val="0"/>
              </a:spcBef>
              <a:spcAft>
                <a:spcPts val="0"/>
              </a:spcAft>
            </a:pPr>
            <a:r>
              <a:rPr sz="944" b="0">
                <a:solidFill>
                  <a:srgbClr val="222222"/>
                </a:solidFill>
              </a:rPr>
              <a:t>• Kiến thức: 6 môn STEM/AP, gồm cả mẫu văn bản và mẫu có ảnh</a:t>
            </a:r>
          </a:p>
          <a:p>
            <a:pPr>
              <a:spcBef>
                <a:spcPts val="0"/>
              </a:spcBef>
              <a:spcAft>
                <a:spcPts val="0"/>
              </a:spcAft>
            </a:pPr>
            <a:r>
              <a:rPr sz="944" b="0">
                <a:solidFill>
                  <a:srgbClr val="222222"/>
                </a:solidFill>
              </a:rPr>
              <a:t>• Độ khó: lọc mẫu khi 3/5 mô hình mạnh đạt dưới 50%; phân tích theo Bloom</a:t>
            </a:r>
          </a:p>
          <a:p>
            <a:pPr>
              <a:spcBef>
                <a:spcPts val="0"/>
              </a:spcBef>
              <a:spcAft>
                <a:spcPts val="0"/>
              </a:spcAft>
            </a:pPr>
            <a:r>
              <a:rPr sz="944" b="0">
                <a:solidFill>
                  <a:srgbClr val="222222"/>
                </a:solidFill>
              </a:rPr>
              <a:t>• Tình huống: giải thích thích ứng, đánh giá/phản hồi bài làm, hỗ trợ học chủ động</a:t>
            </a:r>
          </a:p>
          <a:p>
            <a:pPr>
              <a:spcBef>
                <a:spcPts val="0"/>
              </a:spcBef>
              <a:spcAft>
                <a:spcPts val="0"/>
              </a:spcAft>
            </a:pPr>
            <a:r>
              <a:rPr sz="944" b="0">
                <a:solidFill>
                  <a:srgbClr val="222222"/>
                </a:solidFill>
              </a:rPr>
              <a:t>• Hành vi: 8 kỹ năng gia sư được gắn với tiêu chí chấm</a:t>
            </a:r>
          </a:p>
        </p:txBody>
      </p:sp>
      <p:sp>
        <p:nvSpPr>
          <p:cNvPr id="20" name="Rounded Rectangle 19"/>
          <p:cNvSpPr/>
          <p:nvPr/>
        </p:nvSpPr>
        <p:spPr>
          <a:xfrm>
            <a:off x="6291072" y="3182112"/>
            <a:ext cx="5394960" cy="1700784"/>
          </a:xfrm>
          <a:prstGeom prst="roundRect">
            <a:avLst/>
          </a:prstGeom>
          <a:solidFill>
            <a:srgbClr val="E0EDFA"/>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91072" y="3182112"/>
            <a:ext cx="73152" cy="1700784"/>
          </a:xfrm>
          <a:prstGeom prst="rect">
            <a:avLst/>
          </a:prstGeom>
          <a:solidFill>
            <a:srgbClr val="E07C30"/>
          </a:solidFill>
          <a:ln>
            <a:solidFill>
              <a:srgbClr val="E07C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55664" y="3300984"/>
            <a:ext cx="5093208" cy="274320"/>
          </a:xfrm>
          <a:prstGeom prst="rect">
            <a:avLst/>
          </a:prstGeom>
          <a:noFill/>
        </p:spPr>
        <p:txBody>
          <a:bodyPr wrap="square" lIns="54864" rIns="54864" tIns="27432" anchor="t" bIns="27432">
            <a:spAutoFit/>
          </a:bodyPr>
          <a:lstStyle/>
          <a:p>
            <a:pPr algn="l">
              <a:spcBef>
                <a:spcPts val="0"/>
              </a:spcBef>
              <a:spcAft>
                <a:spcPts val="0"/>
              </a:spcAft>
            </a:pPr>
            <a:r>
              <a:rPr sz="1300" b="1">
                <a:solidFill>
                  <a:srgbClr val="0B3A67"/>
                </a:solidFill>
              </a:rPr>
              <a:t>VietLegal/V-Legal</a:t>
            </a:r>
          </a:p>
        </p:txBody>
      </p:sp>
      <p:sp>
        <p:nvSpPr>
          <p:cNvPr id="23" name="TextBox 22"/>
          <p:cNvSpPr txBox="1"/>
          <p:nvPr/>
        </p:nvSpPr>
        <p:spPr>
          <a:xfrm>
            <a:off x="6455664" y="3593592"/>
            <a:ext cx="5065776" cy="1234440"/>
          </a:xfrm>
          <a:prstGeom prst="rect">
            <a:avLst/>
          </a:prstGeom>
          <a:noFill/>
        </p:spPr>
        <p:txBody>
          <a:bodyPr wrap="square" lIns="54864" rIns="54864" tIns="27432" anchor="t" bIns="27432">
            <a:spAutoFit/>
          </a:bodyPr>
          <a:lstStyle/>
          <a:p>
            <a:pPr algn="l">
              <a:spcBef>
                <a:spcPts val="0"/>
              </a:spcBef>
              <a:spcAft>
                <a:spcPts val="0"/>
              </a:spcAft>
            </a:pPr>
            <a:r>
              <a:rPr sz="944" b="0">
                <a:solidFill>
                  <a:srgbClr val="222222"/>
                </a:solidFill>
              </a:rPr>
              <a:t>• Kiến thức: nguồn pháp luật chính thức, có truy vết nguồn</a:t>
            </a:r>
          </a:p>
          <a:p>
            <a:pPr>
              <a:spcBef>
                <a:spcPts val="0"/>
              </a:spcBef>
              <a:spcAft>
                <a:spcPts val="0"/>
              </a:spcAft>
            </a:pPr>
            <a:r>
              <a:rPr sz="944" b="0">
                <a:solidFill>
                  <a:srgbClr val="222222"/>
                </a:solidFill>
              </a:rPr>
              <a:t>• Độ khó: 5 mức nhận thức lấy cảm hứng từ Bloom</a:t>
            </a:r>
          </a:p>
          <a:p>
            <a:pPr>
              <a:spcBef>
                <a:spcPts val="0"/>
              </a:spcBef>
              <a:spcAft>
                <a:spcPts val="0"/>
              </a:spcAft>
            </a:pPr>
            <a:r>
              <a:rPr sz="944" b="0">
                <a:solidFill>
                  <a:srgbClr val="222222"/>
                </a:solidFill>
              </a:rPr>
              <a:t>• Dạng nhiệm vụ: 22 nhiệm vụ, nhiều dạng đầu ra: trắc nghiệm, phân loại, sinh văn bản, đồ thị tri thức</a:t>
            </a:r>
          </a:p>
          <a:p>
            <a:pPr>
              <a:spcBef>
                <a:spcPts val="0"/>
              </a:spcBef>
              <a:spcAft>
                <a:spcPts val="0"/>
              </a:spcAft>
            </a:pPr>
            <a:r>
              <a:rPr sz="944" b="0">
                <a:solidFill>
                  <a:srgbClr val="222222"/>
                </a:solidFill>
              </a:rPr>
              <a:t>• Không đo gia sư; bài học chính là bảng phủ theo nguồn, nhiệm vụ và mức nhận thức</a:t>
            </a:r>
          </a:p>
        </p:txBody>
      </p:sp>
      <p:sp>
        <p:nvSpPr>
          <p:cNvPr id="24" name="Rounded Rectangle 23"/>
          <p:cNvSpPr/>
          <p:nvPr/>
        </p:nvSpPr>
        <p:spPr>
          <a:xfrm>
            <a:off x="713232" y="5230368"/>
            <a:ext cx="10716768" cy="713232"/>
          </a:xfrm>
          <a:prstGeom prst="roundRect">
            <a:avLst/>
          </a:prstGeom>
          <a:solidFill>
            <a:srgbClr val="FFF8EB"/>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13232" y="5230368"/>
            <a:ext cx="73152" cy="713232"/>
          </a:xfrm>
          <a:prstGeom prst="rect">
            <a:avLst/>
          </a:prstGeom>
          <a:solidFill>
            <a:srgbClr val="E07C30"/>
          </a:solidFill>
          <a:ln>
            <a:solidFill>
              <a:srgbClr val="E07C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5321808"/>
            <a:ext cx="1143000" cy="219456"/>
          </a:xfrm>
          <a:prstGeom prst="rect">
            <a:avLst/>
          </a:prstGeom>
          <a:noFill/>
        </p:spPr>
        <p:txBody>
          <a:bodyPr wrap="square" lIns="54864" rIns="54864" tIns="27432" anchor="t" bIns="27432">
            <a:spAutoFit/>
          </a:bodyPr>
          <a:lstStyle/>
          <a:p>
            <a:pPr algn="l">
              <a:spcBef>
                <a:spcPts val="0"/>
              </a:spcBef>
              <a:spcAft>
                <a:spcPts val="0"/>
              </a:spcAft>
            </a:pPr>
            <a:r>
              <a:rPr sz="1250" b="1">
                <a:solidFill>
                  <a:srgbClr val="0B3A67"/>
                </a:solidFill>
              </a:rPr>
              <a:t>Cần nhớ</a:t>
            </a:r>
          </a:p>
        </p:txBody>
      </p:sp>
      <p:sp>
        <p:nvSpPr>
          <p:cNvPr id="27" name="TextBox 26"/>
          <p:cNvSpPr txBox="1"/>
          <p:nvPr/>
        </p:nvSpPr>
        <p:spPr>
          <a:xfrm>
            <a:off x="1874519" y="5294376"/>
            <a:ext cx="9253728" cy="438912"/>
          </a:xfrm>
          <a:prstGeom prst="rect">
            <a:avLst/>
          </a:prstGeom>
          <a:noFill/>
        </p:spPr>
        <p:txBody>
          <a:bodyPr wrap="square" lIns="54864" rIns="54864" tIns="27432" anchor="t" bIns="27432">
            <a:spAutoFit/>
          </a:bodyPr>
          <a:lstStyle/>
          <a:p>
            <a:pPr algn="l">
              <a:spcBef>
                <a:spcPts val="0"/>
              </a:spcBef>
              <a:spcAft>
                <a:spcPts val="0"/>
              </a:spcAft>
            </a:pPr>
            <a:r>
              <a:rPr sz="1080" b="0">
                <a:solidFill>
                  <a:srgbClr val="222222"/>
                </a:solidFill>
              </a:rPr>
              <a:t>Slide này chỉ tổng hợp cách 4 bài báo chứng minh độ phủ của bộ đánh giá. Phần chuyển hóa thành trục kiểm cho dự án Tin học THCS nằm ở slide 7–8.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164592"/>
          </a:xfrm>
          <a:prstGeom prst="rect">
            <a:avLst/>
          </a:prstGeom>
          <a:solidFill>
            <a:srgbClr val="123458"/>
          </a:solidFill>
          <a:ln>
            <a:solidFill>
              <a:srgbClr val="123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83464"/>
            <a:ext cx="1143000" cy="292608"/>
          </a:xfrm>
          <a:prstGeom prst="roundRect">
            <a:avLst/>
          </a:prstGeom>
          <a:solidFill>
            <a:srgbClr val="E0EDFA"/>
          </a:solidFill>
          <a:ln>
            <a:solidFill>
              <a:srgbClr val="E0ED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29184"/>
            <a:ext cx="1005840" cy="182880"/>
          </a:xfrm>
          <a:prstGeom prst="rect">
            <a:avLst/>
          </a:prstGeom>
          <a:noFill/>
        </p:spPr>
        <p:txBody>
          <a:bodyPr wrap="square" lIns="36576" rIns="36576" tIns="18288" anchor="t">
            <a:spAutoFit/>
          </a:bodyPr>
          <a:lstStyle/>
          <a:p>
            <a:pPr algn="ctr"/>
            <a:r>
              <a:rPr sz="850" b="1">
                <a:solidFill>
                  <a:srgbClr val="123458"/>
                </a:solidFill>
                <a:latin typeface="Aptos"/>
              </a:rPr>
              <a:t>TRỤC 2</a:t>
            </a:r>
          </a:p>
        </p:txBody>
      </p:sp>
      <p:sp>
        <p:nvSpPr>
          <p:cNvPr id="5" name="TextBox 4"/>
          <p:cNvSpPr txBox="1"/>
          <p:nvPr/>
        </p:nvSpPr>
        <p:spPr>
          <a:xfrm>
            <a:off x="1755648" y="256032"/>
            <a:ext cx="10515600" cy="530352"/>
          </a:xfrm>
          <a:prstGeom prst="rect">
            <a:avLst/>
          </a:prstGeom>
          <a:noFill/>
        </p:spPr>
        <p:txBody>
          <a:bodyPr wrap="square">
            <a:spAutoFit/>
          </a:bodyPr>
          <a:lstStyle/>
          <a:p>
            <a:r>
              <a:rPr sz="2200" b="1">
                <a:solidFill>
                  <a:srgbClr val="123458"/>
                </a:solidFill>
                <a:latin typeface="Aptos"/>
              </a:rPr>
              <a:t>Trục 2 — Độ chính xác &amp; nhất quán dữ liệu</a:t>
            </a:r>
          </a:p>
        </p:txBody>
      </p:sp>
      <p:sp>
        <p:nvSpPr>
          <p:cNvPr id="6" name="TextBox 5"/>
          <p:cNvSpPr txBox="1"/>
          <p:nvPr/>
        </p:nvSpPr>
        <p:spPr>
          <a:xfrm>
            <a:off x="530352" y="804672"/>
            <a:ext cx="10881360" cy="329184"/>
          </a:xfrm>
          <a:prstGeom prst="rect">
            <a:avLst/>
          </a:prstGeom>
          <a:noFill/>
        </p:spPr>
        <p:txBody>
          <a:bodyPr wrap="square">
            <a:spAutoFit/>
          </a:bodyPr>
          <a:lstStyle/>
          <a:p>
            <a:r>
              <a:rPr sz="1050">
                <a:solidFill>
                  <a:srgbClr val="5B6370"/>
                </a:solidFill>
                <a:latin typeface="Aptos"/>
              </a:rPr>
              <a:t>4 bài báo nằm trên một phổ từ “con người kiểm định chính” đến “LLM hỗ trợ mạnh”</a:t>
            </a:r>
          </a:p>
        </p:txBody>
      </p:sp>
      <p:sp>
        <p:nvSpPr>
          <p:cNvPr id="7" name="TextBox 6"/>
          <p:cNvSpPr txBox="1"/>
          <p:nvPr/>
        </p:nvSpPr>
        <p:spPr>
          <a:xfrm>
            <a:off x="502920" y="6528816"/>
            <a:ext cx="11064240" cy="228600"/>
          </a:xfrm>
          <a:prstGeom prst="rect">
            <a:avLst/>
          </a:prstGeom>
          <a:noFill/>
        </p:spPr>
        <p:txBody>
          <a:bodyPr wrap="none">
            <a:spAutoFit/>
          </a:bodyPr>
          <a:lstStyle/>
          <a:p>
            <a:pPr algn="r"/>
            <a:r>
              <a:rPr sz="850">
                <a:solidFill>
                  <a:srgbClr val="78808C"/>
                </a:solidFill>
                <a:latin typeface="Aptos"/>
              </a:rPr>
              <a:t>Tổng hợp 4 bài báo về chất lượng bộ đánh giá • 14/07/2026</a:t>
            </a:r>
          </a:p>
        </p:txBody>
      </p:sp>
      <p:sp>
        <p:nvSpPr>
          <p:cNvPr id="8" name="TextBox 7"/>
          <p:cNvSpPr txBox="1"/>
          <p:nvPr/>
        </p:nvSpPr>
        <p:spPr>
          <a:xfrm>
            <a:off x="640080" y="1170432"/>
            <a:ext cx="10972800" cy="320040"/>
          </a:xfrm>
          <a:prstGeom prst="rect">
            <a:avLst/>
          </a:prstGeom>
          <a:noFill/>
        </p:spPr>
        <p:txBody>
          <a:bodyPr wrap="square" lIns="36576" rIns="36576" tIns="18288" anchor="t">
            <a:spAutoFit/>
          </a:bodyPr>
          <a:lstStyle/>
          <a:p>
            <a:pPr algn="ctr"/>
            <a:r>
              <a:rPr sz="1500" b="1">
                <a:solidFill>
                  <a:srgbClr val="123458"/>
                </a:solidFill>
                <a:latin typeface="Aptos"/>
              </a:rPr>
              <a:t>Phổ kiểm định dữ liệu</a:t>
            </a:r>
          </a:p>
        </p:txBody>
      </p:sp>
      <p:sp>
        <p:nvSpPr>
          <p:cNvPr id="9" name="Rectangle 8"/>
          <p:cNvSpPr/>
          <p:nvPr/>
        </p:nvSpPr>
        <p:spPr>
          <a:xfrm>
            <a:off x="1051560" y="1828800"/>
            <a:ext cx="10058400" cy="73152"/>
          </a:xfrm>
          <a:prstGeom prst="rect">
            <a:avLst/>
          </a:prstGeom>
          <a:solidFill>
            <a:srgbClr val="C8D2DC"/>
          </a:solidFill>
          <a:ln>
            <a:solidFill>
              <a:srgbClr val="C8D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78992" y="1673352"/>
            <a:ext cx="384048" cy="384048"/>
          </a:xfrm>
          <a:prstGeom prst="ellipse">
            <a:avLst/>
          </a:prstGeom>
          <a:solidFill>
            <a:srgbClr val="409753"/>
          </a:solidFill>
          <a:ln>
            <a:solidFill>
              <a:srgbClr val="4097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3" y="2121408"/>
            <a:ext cx="1417320" cy="329184"/>
          </a:xfrm>
          <a:prstGeom prst="rect">
            <a:avLst/>
          </a:prstGeom>
          <a:noFill/>
        </p:spPr>
        <p:txBody>
          <a:bodyPr wrap="square" lIns="36576" rIns="36576" tIns="18288" anchor="t">
            <a:spAutoFit/>
          </a:bodyPr>
          <a:lstStyle/>
          <a:p>
            <a:pPr algn="ctr"/>
            <a:r>
              <a:rPr sz="930" b="1">
                <a:solidFill>
                  <a:srgbClr val="409753"/>
                </a:solidFill>
                <a:latin typeface="Aptos"/>
              </a:rPr>
              <a:t>VietLegal/V-Legal</a:t>
            </a:r>
          </a:p>
        </p:txBody>
      </p:sp>
      <p:sp>
        <p:nvSpPr>
          <p:cNvPr id="12" name="Oval 11"/>
          <p:cNvSpPr/>
          <p:nvPr/>
        </p:nvSpPr>
        <p:spPr>
          <a:xfrm>
            <a:off x="3611880" y="1673352"/>
            <a:ext cx="384048" cy="384048"/>
          </a:xfrm>
          <a:prstGeom prst="ellipse">
            <a:avLst/>
          </a:prstGeom>
          <a:solidFill>
            <a:srgbClr val="008D91"/>
          </a:solidFill>
          <a:ln>
            <a:solidFill>
              <a:srgbClr val="008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36392" y="2121408"/>
            <a:ext cx="1417320" cy="329184"/>
          </a:xfrm>
          <a:prstGeom prst="rect">
            <a:avLst/>
          </a:prstGeom>
          <a:noFill/>
        </p:spPr>
        <p:txBody>
          <a:bodyPr wrap="square" lIns="36576" rIns="36576" tIns="18288" anchor="t">
            <a:spAutoFit/>
          </a:bodyPr>
          <a:lstStyle/>
          <a:p>
            <a:pPr algn="ctr"/>
            <a:r>
              <a:rPr sz="930" b="1">
                <a:solidFill>
                  <a:srgbClr val="008D91"/>
                </a:solidFill>
                <a:latin typeface="Aptos"/>
              </a:rPr>
              <a:t>TutorBench</a:t>
            </a:r>
          </a:p>
        </p:txBody>
      </p:sp>
      <p:sp>
        <p:nvSpPr>
          <p:cNvPr id="14" name="Oval 13"/>
          <p:cNvSpPr/>
          <p:nvPr/>
        </p:nvSpPr>
        <p:spPr>
          <a:xfrm>
            <a:off x="6355080" y="1673352"/>
            <a:ext cx="384048" cy="384048"/>
          </a:xfrm>
          <a:prstGeom prst="ellipse">
            <a:avLst/>
          </a:prstGeom>
          <a:solidFill>
            <a:srgbClr val="E07C30"/>
          </a:solidFill>
          <a:ln>
            <a:solidFill>
              <a:srgbClr val="E07C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79592" y="2121408"/>
            <a:ext cx="1417320" cy="329184"/>
          </a:xfrm>
          <a:prstGeom prst="rect">
            <a:avLst/>
          </a:prstGeom>
          <a:noFill/>
        </p:spPr>
        <p:txBody>
          <a:bodyPr wrap="square" lIns="36576" rIns="36576" tIns="18288" anchor="t">
            <a:spAutoFit/>
          </a:bodyPr>
          <a:lstStyle/>
          <a:p>
            <a:pPr algn="ctr"/>
            <a:r>
              <a:rPr sz="930" b="1">
                <a:solidFill>
                  <a:srgbClr val="E07C30"/>
                </a:solidFill>
                <a:latin typeface="Aptos"/>
              </a:rPr>
              <a:t>KMP-Bench</a:t>
            </a:r>
          </a:p>
        </p:txBody>
      </p:sp>
      <p:sp>
        <p:nvSpPr>
          <p:cNvPr id="16" name="Oval 15"/>
          <p:cNvSpPr/>
          <p:nvPr/>
        </p:nvSpPr>
        <p:spPr>
          <a:xfrm>
            <a:off x="9189720" y="1673352"/>
            <a:ext cx="384048" cy="384048"/>
          </a:xfrm>
          <a:prstGeom prst="ellipse">
            <a:avLst/>
          </a:prstGeom>
          <a:solidFill>
            <a:srgbClr val="2871B9"/>
          </a:solidFill>
          <a:ln>
            <a:solidFill>
              <a:srgbClr val="2871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14232" y="2121408"/>
            <a:ext cx="1417320" cy="329184"/>
          </a:xfrm>
          <a:prstGeom prst="rect">
            <a:avLst/>
          </a:prstGeom>
          <a:noFill/>
        </p:spPr>
        <p:txBody>
          <a:bodyPr wrap="square" lIns="36576" rIns="36576" tIns="18288" anchor="t">
            <a:spAutoFit/>
          </a:bodyPr>
          <a:lstStyle/>
          <a:p>
            <a:pPr algn="ctr"/>
            <a:r>
              <a:rPr sz="930" b="1">
                <a:solidFill>
                  <a:srgbClr val="2871B9"/>
                </a:solidFill>
                <a:latin typeface="Aptos"/>
              </a:rPr>
              <a:t>MathTutorBench</a:t>
            </a:r>
          </a:p>
        </p:txBody>
      </p:sp>
      <p:sp>
        <p:nvSpPr>
          <p:cNvPr id="18" name="Rounded Rectangle 17"/>
          <p:cNvSpPr/>
          <p:nvPr/>
        </p:nvSpPr>
        <p:spPr>
          <a:xfrm>
            <a:off x="502920" y="2743200"/>
            <a:ext cx="2743200" cy="2331720"/>
          </a:xfrm>
          <a:prstGeom prst="roundRect">
            <a:avLst/>
          </a:prstGeom>
          <a:solidFill>
            <a:srgbClr val="E2F2E7"/>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2743200"/>
            <a:ext cx="73152" cy="2331720"/>
          </a:xfrm>
          <a:prstGeom prst="rect">
            <a:avLst/>
          </a:prstGeom>
          <a:solidFill>
            <a:srgbClr val="409753"/>
          </a:solidFill>
          <a:ln>
            <a:solidFill>
              <a:srgbClr val="4097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 y="2852928"/>
            <a:ext cx="2487168" cy="256032"/>
          </a:xfrm>
          <a:prstGeom prst="rect">
            <a:avLst/>
          </a:prstGeom>
          <a:noFill/>
        </p:spPr>
        <p:txBody>
          <a:bodyPr wrap="square" lIns="36576" rIns="36576" tIns="18288" anchor="t">
            <a:spAutoFit/>
          </a:bodyPr>
          <a:lstStyle/>
          <a:p>
            <a:pPr algn="l"/>
            <a:r>
              <a:rPr sz="1230" b="1">
                <a:solidFill>
                  <a:srgbClr val="409753"/>
                </a:solidFill>
                <a:latin typeface="Aptos"/>
              </a:rPr>
              <a:t>Con người kiểm định mạnh</a:t>
            </a:r>
          </a:p>
        </p:txBody>
      </p:sp>
      <p:sp>
        <p:nvSpPr>
          <p:cNvPr id="21" name="TextBox 20"/>
          <p:cNvSpPr txBox="1"/>
          <p:nvPr/>
        </p:nvSpPr>
        <p:spPr>
          <a:xfrm>
            <a:off x="667512" y="3182112"/>
            <a:ext cx="2432304" cy="1828799"/>
          </a:xfrm>
          <a:prstGeom prst="rect">
            <a:avLst/>
          </a:prstGeom>
          <a:noFill/>
        </p:spPr>
        <p:txBody>
          <a:bodyPr wrap="square" lIns="36576" rIns="36576" tIns="18288" anchor="t">
            <a:spAutoFit/>
          </a:bodyPr>
          <a:lstStyle/>
          <a:p>
            <a:pPr algn="l"/>
            <a:r>
              <a:rPr sz="1019" b="0">
                <a:solidFill>
                  <a:srgbClr val="1E2328"/>
                </a:solidFill>
                <a:latin typeface="Aptos"/>
              </a:rPr>
              <a:t>VietLegal: kiểm tra chéo mù, phân xử bởi chuyên gia cao cấp, Cohen’s Kappa, kiểm tra rò rỉ/trùng lặp.</a:t>
            </a:r>
          </a:p>
        </p:txBody>
      </p:sp>
      <p:sp>
        <p:nvSpPr>
          <p:cNvPr id="22" name="Rounded Rectangle 21"/>
          <p:cNvSpPr/>
          <p:nvPr/>
        </p:nvSpPr>
        <p:spPr>
          <a:xfrm>
            <a:off x="3429000" y="2743200"/>
            <a:ext cx="2743200" cy="2331720"/>
          </a:xfrm>
          <a:prstGeom prst="roundRect">
            <a:avLst/>
          </a:prstGeom>
          <a:solidFill>
            <a:srgbClr val="E2F2E7"/>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429000" y="2743200"/>
            <a:ext cx="73152" cy="2331720"/>
          </a:xfrm>
          <a:prstGeom prst="rect">
            <a:avLst/>
          </a:prstGeom>
          <a:solidFill>
            <a:srgbClr val="008D91"/>
          </a:solidFill>
          <a:ln>
            <a:solidFill>
              <a:srgbClr val="008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93592" y="2852928"/>
            <a:ext cx="2487168" cy="256032"/>
          </a:xfrm>
          <a:prstGeom prst="rect">
            <a:avLst/>
          </a:prstGeom>
          <a:noFill/>
        </p:spPr>
        <p:txBody>
          <a:bodyPr wrap="square" lIns="36576" rIns="36576" tIns="18288" anchor="t">
            <a:spAutoFit/>
          </a:bodyPr>
          <a:lstStyle/>
          <a:p>
            <a:pPr algn="l"/>
            <a:r>
              <a:rPr sz="1230" b="1">
                <a:solidFill>
                  <a:srgbClr val="008D91"/>
                </a:solidFill>
                <a:latin typeface="Aptos"/>
              </a:rPr>
              <a:t>Chuyên gia tạo mẫu</a:t>
            </a:r>
          </a:p>
        </p:txBody>
      </p:sp>
      <p:sp>
        <p:nvSpPr>
          <p:cNvPr id="25" name="TextBox 24"/>
          <p:cNvSpPr txBox="1"/>
          <p:nvPr/>
        </p:nvSpPr>
        <p:spPr>
          <a:xfrm>
            <a:off x="3593592" y="3182112"/>
            <a:ext cx="2432304" cy="1828799"/>
          </a:xfrm>
          <a:prstGeom prst="rect">
            <a:avLst/>
          </a:prstGeom>
          <a:noFill/>
        </p:spPr>
        <p:txBody>
          <a:bodyPr wrap="square" lIns="36576" rIns="36576" tIns="18288" anchor="t">
            <a:spAutoFit/>
          </a:bodyPr>
          <a:lstStyle/>
          <a:p>
            <a:pPr algn="l"/>
            <a:r>
              <a:rPr sz="1019" b="0">
                <a:solidFill>
                  <a:srgbClr val="1E2328"/>
                </a:solidFill>
                <a:latin typeface="Aptos"/>
              </a:rPr>
              <a:t>TutorBench: chuyên gia viết mẫu và tiêu chí; bộ chấm tự động được so với nhiều lượt chấm của người.</a:t>
            </a:r>
          </a:p>
        </p:txBody>
      </p:sp>
      <p:sp>
        <p:nvSpPr>
          <p:cNvPr id="26" name="Rounded Rectangle 25"/>
          <p:cNvSpPr/>
          <p:nvPr/>
        </p:nvSpPr>
        <p:spPr>
          <a:xfrm>
            <a:off x="6355080" y="2743200"/>
            <a:ext cx="2743200" cy="2331720"/>
          </a:xfrm>
          <a:prstGeom prst="roundRect">
            <a:avLst/>
          </a:prstGeom>
          <a:solidFill>
            <a:srgbClr val="FBEBDB"/>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55080" y="2743200"/>
            <a:ext cx="73152" cy="2331720"/>
          </a:xfrm>
          <a:prstGeom prst="rect">
            <a:avLst/>
          </a:prstGeom>
          <a:solidFill>
            <a:srgbClr val="E07C30"/>
          </a:solidFill>
          <a:ln>
            <a:solidFill>
              <a:srgbClr val="E07C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19672" y="2852928"/>
            <a:ext cx="2487168" cy="256032"/>
          </a:xfrm>
          <a:prstGeom prst="rect">
            <a:avLst/>
          </a:prstGeom>
          <a:noFill/>
        </p:spPr>
        <p:txBody>
          <a:bodyPr wrap="square" lIns="36576" rIns="36576" tIns="18288" anchor="t">
            <a:spAutoFit/>
          </a:bodyPr>
          <a:lstStyle/>
          <a:p>
            <a:pPr algn="l"/>
            <a:r>
              <a:rPr sz="1230" b="1">
                <a:solidFill>
                  <a:srgbClr val="E07C30"/>
                </a:solidFill>
                <a:latin typeface="Aptos"/>
              </a:rPr>
              <a:t>LLM-heavy có cổng người</a:t>
            </a:r>
          </a:p>
        </p:txBody>
      </p:sp>
      <p:sp>
        <p:nvSpPr>
          <p:cNvPr id="29" name="TextBox 28"/>
          <p:cNvSpPr txBox="1"/>
          <p:nvPr/>
        </p:nvSpPr>
        <p:spPr>
          <a:xfrm>
            <a:off x="6519672" y="3182112"/>
            <a:ext cx="2432304" cy="1828799"/>
          </a:xfrm>
          <a:prstGeom prst="rect">
            <a:avLst/>
          </a:prstGeom>
          <a:noFill/>
        </p:spPr>
        <p:txBody>
          <a:bodyPr wrap="square" lIns="36576" rIns="36576" tIns="18288" anchor="t">
            <a:spAutoFit/>
          </a:bodyPr>
          <a:lstStyle/>
          <a:p>
            <a:pPr algn="l"/>
            <a:r>
              <a:rPr sz="1019" b="0">
                <a:solidFill>
                  <a:srgbClr val="1E2328"/>
                </a:solidFill>
                <a:latin typeface="Aptos"/>
              </a:rPr>
              <a:t>KMP-Bench: LLM sinh phần lớn quy trình; Dialogue Flow vẫn được manual verification; KMP-Pile mới dùng LLM verifier.</a:t>
            </a:r>
          </a:p>
        </p:txBody>
      </p:sp>
      <p:sp>
        <p:nvSpPr>
          <p:cNvPr id="30" name="Rounded Rectangle 29"/>
          <p:cNvSpPr/>
          <p:nvPr/>
        </p:nvSpPr>
        <p:spPr>
          <a:xfrm>
            <a:off x="9281160" y="2743200"/>
            <a:ext cx="2743200" cy="2331720"/>
          </a:xfrm>
          <a:prstGeom prst="roundRect">
            <a:avLst/>
          </a:prstGeom>
          <a:solidFill>
            <a:srgbClr val="E0EDFA"/>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281160" y="2743200"/>
            <a:ext cx="73152" cy="2331720"/>
          </a:xfrm>
          <a:prstGeom prst="rect">
            <a:avLst/>
          </a:prstGeom>
          <a:solidFill>
            <a:srgbClr val="2871B9"/>
          </a:solidFill>
          <a:ln>
            <a:solidFill>
              <a:srgbClr val="2871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445752" y="2852928"/>
            <a:ext cx="2487168" cy="256032"/>
          </a:xfrm>
          <a:prstGeom prst="rect">
            <a:avLst/>
          </a:prstGeom>
          <a:noFill/>
        </p:spPr>
        <p:txBody>
          <a:bodyPr wrap="square" lIns="36576" rIns="36576" tIns="18288" anchor="t">
            <a:spAutoFit/>
          </a:bodyPr>
          <a:lstStyle/>
          <a:p>
            <a:pPr algn="l"/>
            <a:r>
              <a:rPr sz="1230" b="1">
                <a:solidFill>
                  <a:srgbClr val="2871B9"/>
                </a:solidFill>
                <a:latin typeface="Aptos"/>
              </a:rPr>
              <a:t>Bằng chứng gián tiếp</a:t>
            </a:r>
          </a:p>
        </p:txBody>
      </p:sp>
      <p:sp>
        <p:nvSpPr>
          <p:cNvPr id="33" name="TextBox 32"/>
          <p:cNvSpPr txBox="1"/>
          <p:nvPr/>
        </p:nvSpPr>
        <p:spPr>
          <a:xfrm>
            <a:off x="9445752" y="3182112"/>
            <a:ext cx="2432304" cy="1828799"/>
          </a:xfrm>
          <a:prstGeom prst="rect">
            <a:avLst/>
          </a:prstGeom>
          <a:noFill/>
        </p:spPr>
        <p:txBody>
          <a:bodyPr wrap="square" lIns="36576" rIns="36576" tIns="18288" anchor="t">
            <a:spAutoFit/>
          </a:bodyPr>
          <a:lstStyle/>
          <a:p>
            <a:pPr algn="l"/>
            <a:r>
              <a:rPr sz="1019" b="0">
                <a:solidFill>
                  <a:srgbClr val="1E2328"/>
                </a:solidFill>
                <a:latin typeface="Aptos"/>
              </a:rPr>
              <a:t>MathTutorBench: chủ yếu dựa vào nguồn dữ liệu và kiểm tra reward model; không có quy trình kiểm tra chéo benchmark rõ.</a:t>
            </a:r>
          </a:p>
        </p:txBody>
      </p:sp>
      <p:sp>
        <p:nvSpPr>
          <p:cNvPr id="34" name="Rounded Rectangle 33"/>
          <p:cNvSpPr/>
          <p:nvPr/>
        </p:nvSpPr>
        <p:spPr>
          <a:xfrm>
            <a:off x="822960" y="5577840"/>
            <a:ext cx="10607040" cy="749808"/>
          </a:xfrm>
          <a:prstGeom prst="roundRect">
            <a:avLst/>
          </a:prstGeom>
          <a:solidFill>
            <a:srgbClr val="FFF8EB"/>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2960" y="5577840"/>
            <a:ext cx="73152" cy="749808"/>
          </a:xfrm>
          <a:prstGeom prst="rect">
            <a:avLst/>
          </a:prstGeom>
          <a:solidFill>
            <a:srgbClr val="E07C30"/>
          </a:solidFill>
          <a:ln>
            <a:solidFill>
              <a:srgbClr val="E07C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87552" y="5687568"/>
            <a:ext cx="10351008" cy="256032"/>
          </a:xfrm>
          <a:prstGeom prst="rect">
            <a:avLst/>
          </a:prstGeom>
          <a:noFill/>
        </p:spPr>
        <p:txBody>
          <a:bodyPr wrap="square" lIns="36576" rIns="36576" tIns="18288" anchor="t">
            <a:spAutoFit/>
          </a:bodyPr>
          <a:lstStyle/>
          <a:p>
            <a:pPr algn="l"/>
            <a:r>
              <a:rPr sz="1250" b="1">
                <a:solidFill>
                  <a:srgbClr val="E07C30"/>
                </a:solidFill>
                <a:latin typeface="Aptos"/>
              </a:rPr>
              <a:t>Cần nhớ</a:t>
            </a:r>
          </a:p>
        </p:txBody>
      </p:sp>
      <p:sp>
        <p:nvSpPr>
          <p:cNvPr id="37" name="TextBox 36"/>
          <p:cNvSpPr txBox="1"/>
          <p:nvPr/>
        </p:nvSpPr>
        <p:spPr>
          <a:xfrm>
            <a:off x="987552" y="6016752"/>
            <a:ext cx="10296144" cy="246887"/>
          </a:xfrm>
          <a:prstGeom prst="rect">
            <a:avLst/>
          </a:prstGeom>
          <a:noFill/>
        </p:spPr>
        <p:txBody>
          <a:bodyPr wrap="square" lIns="36576" rIns="36576" tIns="18288" anchor="t">
            <a:spAutoFit/>
          </a:bodyPr>
          <a:lstStyle/>
          <a:p>
            <a:pPr algn="l"/>
            <a:r>
              <a:rPr sz="1080" b="0">
                <a:solidFill>
                  <a:srgbClr val="1E2328"/>
                </a:solidFill>
                <a:latin typeface="Aptos"/>
              </a:rPr>
              <a:t>Kết luận thực dụng: LLM có thể hỗ trợ rà lỗi, nhưng dữ liệu quan trọng vẫn cần người kiểm tra chéo hoặc phân xử. Không nên để LLM tự xác nhận chất lượng dữ liệu ngay từ đầu.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164592"/>
          </a:xfrm>
          <a:prstGeom prst="rect">
            <a:avLst/>
          </a:prstGeom>
          <a:solidFill>
            <a:srgbClr val="123458"/>
          </a:solidFill>
          <a:ln>
            <a:solidFill>
              <a:srgbClr val="123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83464"/>
            <a:ext cx="1143000" cy="292608"/>
          </a:xfrm>
          <a:prstGeom prst="roundRect">
            <a:avLst/>
          </a:prstGeom>
          <a:solidFill>
            <a:srgbClr val="E0EDFA"/>
          </a:solidFill>
          <a:ln>
            <a:solidFill>
              <a:srgbClr val="E0ED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29184"/>
            <a:ext cx="1005840" cy="182880"/>
          </a:xfrm>
          <a:prstGeom prst="rect">
            <a:avLst/>
          </a:prstGeom>
          <a:noFill/>
        </p:spPr>
        <p:txBody>
          <a:bodyPr wrap="square" lIns="36576" rIns="36576" tIns="18288" anchor="t">
            <a:spAutoFit/>
          </a:bodyPr>
          <a:lstStyle/>
          <a:p>
            <a:pPr algn="ctr"/>
            <a:r>
              <a:rPr sz="850" b="1">
                <a:solidFill>
                  <a:srgbClr val="123458"/>
                </a:solidFill>
                <a:latin typeface="Aptos"/>
              </a:rPr>
              <a:t>TRỤC 3</a:t>
            </a:r>
          </a:p>
        </p:txBody>
      </p:sp>
      <p:sp>
        <p:nvSpPr>
          <p:cNvPr id="5" name="TextBox 4"/>
          <p:cNvSpPr txBox="1"/>
          <p:nvPr/>
        </p:nvSpPr>
        <p:spPr>
          <a:xfrm>
            <a:off x="1755648" y="256032"/>
            <a:ext cx="10515600" cy="530352"/>
          </a:xfrm>
          <a:prstGeom prst="rect">
            <a:avLst/>
          </a:prstGeom>
          <a:noFill/>
        </p:spPr>
        <p:txBody>
          <a:bodyPr wrap="square">
            <a:spAutoFit/>
          </a:bodyPr>
          <a:lstStyle/>
          <a:p>
            <a:r>
              <a:rPr sz="2200" b="1">
                <a:solidFill>
                  <a:srgbClr val="123458"/>
                </a:solidFill>
                <a:latin typeface="Aptos"/>
              </a:rPr>
              <a:t>Trục 3 — Bộ đánh giá có dùng được để chấm mô hình không?</a:t>
            </a:r>
          </a:p>
        </p:txBody>
      </p:sp>
      <p:sp>
        <p:nvSpPr>
          <p:cNvPr id="6" name="TextBox 5"/>
          <p:cNvSpPr txBox="1"/>
          <p:nvPr/>
        </p:nvSpPr>
        <p:spPr>
          <a:xfrm>
            <a:off x="530352" y="804672"/>
            <a:ext cx="10881360" cy="329184"/>
          </a:xfrm>
          <a:prstGeom prst="rect">
            <a:avLst/>
          </a:prstGeom>
          <a:noFill/>
        </p:spPr>
        <p:txBody>
          <a:bodyPr wrap="square">
            <a:spAutoFit/>
          </a:bodyPr>
          <a:lstStyle/>
          <a:p>
            <a:r>
              <a:rPr sz="1050">
                <a:solidFill>
                  <a:srgbClr val="5B6370"/>
                </a:solidFill>
                <a:latin typeface="Aptos"/>
              </a:rPr>
              <a:t>Tính áp dụng đến từ giao thức rõ, bộ chấm đáng tin và điểm có khả năng phân hóa</a:t>
            </a:r>
          </a:p>
        </p:txBody>
      </p:sp>
      <p:sp>
        <p:nvSpPr>
          <p:cNvPr id="7" name="TextBox 6"/>
          <p:cNvSpPr txBox="1"/>
          <p:nvPr/>
        </p:nvSpPr>
        <p:spPr>
          <a:xfrm>
            <a:off x="502920" y="6528816"/>
            <a:ext cx="11064240" cy="228600"/>
          </a:xfrm>
          <a:prstGeom prst="rect">
            <a:avLst/>
          </a:prstGeom>
          <a:noFill/>
        </p:spPr>
        <p:txBody>
          <a:bodyPr wrap="none">
            <a:spAutoFit/>
          </a:bodyPr>
          <a:lstStyle/>
          <a:p>
            <a:pPr algn="r"/>
            <a:r>
              <a:rPr sz="850">
                <a:solidFill>
                  <a:srgbClr val="78808C"/>
                </a:solidFill>
                <a:latin typeface="Aptos"/>
              </a:rPr>
              <a:t>Tổng hợp 4 bài báo về chất lượng bộ đánh giá • 14/07/2026</a:t>
            </a:r>
          </a:p>
        </p:txBody>
      </p:sp>
      <p:sp>
        <p:nvSpPr>
          <p:cNvPr id="8" name="Rounded Rectangle 7"/>
          <p:cNvSpPr/>
          <p:nvPr/>
        </p:nvSpPr>
        <p:spPr>
          <a:xfrm>
            <a:off x="548640" y="1143000"/>
            <a:ext cx="3657600" cy="1828800"/>
          </a:xfrm>
          <a:prstGeom prst="roundRect">
            <a:avLst/>
          </a:prstGeom>
          <a:solidFill>
            <a:srgbClr val="E0EDFA"/>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143000"/>
            <a:ext cx="73152" cy="1828800"/>
          </a:xfrm>
          <a:prstGeom prst="rect">
            <a:avLst/>
          </a:prstGeom>
          <a:solidFill>
            <a:srgbClr val="2871B9"/>
          </a:solidFill>
          <a:ln>
            <a:solidFill>
              <a:srgbClr val="2871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252728"/>
            <a:ext cx="3401568" cy="256032"/>
          </a:xfrm>
          <a:prstGeom prst="rect">
            <a:avLst/>
          </a:prstGeom>
          <a:noFill/>
        </p:spPr>
        <p:txBody>
          <a:bodyPr wrap="square" lIns="36576" rIns="36576" tIns="18288" anchor="t">
            <a:spAutoFit/>
          </a:bodyPr>
          <a:lstStyle/>
          <a:p>
            <a:pPr algn="l"/>
            <a:r>
              <a:rPr sz="1300" b="1">
                <a:solidFill>
                  <a:srgbClr val="2871B9"/>
                </a:solidFill>
                <a:latin typeface="Aptos"/>
              </a:rPr>
              <a:t>1. Giao thức chấm rõ</a:t>
            </a:r>
          </a:p>
        </p:txBody>
      </p:sp>
      <p:sp>
        <p:nvSpPr>
          <p:cNvPr id="11" name="TextBox 10"/>
          <p:cNvSpPr txBox="1"/>
          <p:nvPr/>
        </p:nvSpPr>
        <p:spPr>
          <a:xfrm>
            <a:off x="713232" y="1581912"/>
            <a:ext cx="3346704" cy="1325880"/>
          </a:xfrm>
          <a:prstGeom prst="rect">
            <a:avLst/>
          </a:prstGeom>
          <a:noFill/>
        </p:spPr>
        <p:txBody>
          <a:bodyPr wrap="square" lIns="36576" rIns="36576" tIns="18288" anchor="t">
            <a:spAutoFit/>
          </a:bodyPr>
          <a:lstStyle/>
          <a:p>
            <a:pPr algn="l"/>
            <a:r>
              <a:rPr sz="1100" b="0">
                <a:solidFill>
                  <a:srgbClr val="1E2328"/>
                </a:solidFill>
                <a:latin typeface="Aptos"/>
              </a:rPr>
              <a:t>KMP-Bench và TutorBench đều chốt bối cảnh đầu vào, lượt phản hồi cần sinh và cách chấm một phản hồi cố định.</a:t>
            </a:r>
          </a:p>
        </p:txBody>
      </p:sp>
      <p:sp>
        <p:nvSpPr>
          <p:cNvPr id="12" name="Rounded Rectangle 11"/>
          <p:cNvSpPr/>
          <p:nvPr/>
        </p:nvSpPr>
        <p:spPr>
          <a:xfrm>
            <a:off x="4434840" y="1143000"/>
            <a:ext cx="3657600" cy="1828800"/>
          </a:xfrm>
          <a:prstGeom prst="roundRect">
            <a:avLst/>
          </a:prstGeom>
          <a:solidFill>
            <a:srgbClr val="E0EDFA"/>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34840" y="1143000"/>
            <a:ext cx="73152" cy="1828800"/>
          </a:xfrm>
          <a:prstGeom prst="rect">
            <a:avLst/>
          </a:prstGeom>
          <a:solidFill>
            <a:srgbClr val="008D91"/>
          </a:solidFill>
          <a:ln>
            <a:solidFill>
              <a:srgbClr val="008D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9431" y="1252728"/>
            <a:ext cx="3401568" cy="256032"/>
          </a:xfrm>
          <a:prstGeom prst="rect">
            <a:avLst/>
          </a:prstGeom>
          <a:noFill/>
        </p:spPr>
        <p:txBody>
          <a:bodyPr wrap="square" lIns="36576" rIns="36576" tIns="18288" anchor="t">
            <a:spAutoFit/>
          </a:bodyPr>
          <a:lstStyle/>
          <a:p>
            <a:pPr algn="l"/>
            <a:r>
              <a:rPr sz="1300" b="1">
                <a:solidFill>
                  <a:srgbClr val="008D91"/>
                </a:solidFill>
                <a:latin typeface="Aptos"/>
              </a:rPr>
              <a:t>2. Có căn cứ tham chiếu</a:t>
            </a:r>
          </a:p>
        </p:txBody>
      </p:sp>
      <p:sp>
        <p:nvSpPr>
          <p:cNvPr id="15" name="TextBox 14"/>
          <p:cNvSpPr txBox="1"/>
          <p:nvPr/>
        </p:nvSpPr>
        <p:spPr>
          <a:xfrm>
            <a:off x="4599431" y="1581912"/>
            <a:ext cx="3346704" cy="1325880"/>
          </a:xfrm>
          <a:prstGeom prst="rect">
            <a:avLst/>
          </a:prstGeom>
          <a:noFill/>
        </p:spPr>
        <p:txBody>
          <a:bodyPr wrap="square" lIns="36576" rIns="36576" tIns="18288" anchor="t">
            <a:spAutoFit/>
          </a:bodyPr>
          <a:lstStyle/>
          <a:p>
            <a:pPr algn="l"/>
            <a:r>
              <a:rPr sz="1100" b="0">
                <a:solidFill>
                  <a:srgbClr val="1E2328"/>
                </a:solidFill>
                <a:latin typeface="Aptos"/>
              </a:rPr>
              <a:t>KMP-Bench dùng phản hồi tham chiếu; TutorBench dùng tiêu chí chấm riêng theo mẫu; MathTutorBench dùng reward model cho phản hồi mở.</a:t>
            </a:r>
          </a:p>
        </p:txBody>
      </p:sp>
      <p:sp>
        <p:nvSpPr>
          <p:cNvPr id="16" name="Rounded Rectangle 15"/>
          <p:cNvSpPr/>
          <p:nvPr/>
        </p:nvSpPr>
        <p:spPr>
          <a:xfrm>
            <a:off x="8321040" y="1143000"/>
            <a:ext cx="3657600" cy="1828800"/>
          </a:xfrm>
          <a:prstGeom prst="roundRect">
            <a:avLst/>
          </a:prstGeom>
          <a:solidFill>
            <a:srgbClr val="E2F2E7"/>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21040" y="1143000"/>
            <a:ext cx="73152" cy="1828800"/>
          </a:xfrm>
          <a:prstGeom prst="rect">
            <a:avLst/>
          </a:prstGeom>
          <a:solidFill>
            <a:srgbClr val="409753"/>
          </a:solidFill>
          <a:ln>
            <a:solidFill>
              <a:srgbClr val="4097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85632" y="1252728"/>
            <a:ext cx="3401568" cy="256032"/>
          </a:xfrm>
          <a:prstGeom prst="rect">
            <a:avLst/>
          </a:prstGeom>
          <a:noFill/>
        </p:spPr>
        <p:txBody>
          <a:bodyPr wrap="square" lIns="36576" rIns="36576" tIns="18288" anchor="t">
            <a:spAutoFit/>
          </a:bodyPr>
          <a:lstStyle/>
          <a:p>
            <a:pPr algn="l"/>
            <a:r>
              <a:rPr sz="1300" b="1">
                <a:solidFill>
                  <a:srgbClr val="409753"/>
                </a:solidFill>
                <a:latin typeface="Aptos"/>
              </a:rPr>
              <a:t>3. Bộ chấm được kiểm tra</a:t>
            </a:r>
          </a:p>
        </p:txBody>
      </p:sp>
      <p:sp>
        <p:nvSpPr>
          <p:cNvPr id="19" name="TextBox 18"/>
          <p:cNvSpPr txBox="1"/>
          <p:nvPr/>
        </p:nvSpPr>
        <p:spPr>
          <a:xfrm>
            <a:off x="8485632" y="1581912"/>
            <a:ext cx="3346704" cy="1325880"/>
          </a:xfrm>
          <a:prstGeom prst="rect">
            <a:avLst/>
          </a:prstGeom>
          <a:noFill/>
        </p:spPr>
        <p:txBody>
          <a:bodyPr wrap="square" lIns="36576" rIns="36576" tIns="18288" anchor="t">
            <a:spAutoFit/>
          </a:bodyPr>
          <a:lstStyle/>
          <a:p>
            <a:pPr algn="l"/>
            <a:r>
              <a:rPr sz="1100" b="0">
                <a:solidFill>
                  <a:srgbClr val="1E2328"/>
                </a:solidFill>
                <a:latin typeface="Aptos"/>
              </a:rPr>
              <a:t>KMP-Bench kiểm tra evaluator với người; TutorBench kiểm tra bộ chấm tự động với 69 chuyên gia.</a:t>
            </a:r>
          </a:p>
        </p:txBody>
      </p:sp>
      <p:sp>
        <p:nvSpPr>
          <p:cNvPr id="20" name="Rounded Rectangle 19"/>
          <p:cNvSpPr/>
          <p:nvPr/>
        </p:nvSpPr>
        <p:spPr>
          <a:xfrm>
            <a:off x="548640" y="3520440"/>
            <a:ext cx="3657600" cy="1828800"/>
          </a:xfrm>
          <a:prstGeom prst="roundRect">
            <a:avLst/>
          </a:prstGeom>
          <a:solidFill>
            <a:srgbClr val="FBEBDB"/>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3520440"/>
            <a:ext cx="73152" cy="1828800"/>
          </a:xfrm>
          <a:prstGeom prst="rect">
            <a:avLst/>
          </a:prstGeom>
          <a:solidFill>
            <a:srgbClr val="E07C30"/>
          </a:solidFill>
          <a:ln>
            <a:solidFill>
              <a:srgbClr val="E07C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3630168"/>
            <a:ext cx="3401568" cy="256032"/>
          </a:xfrm>
          <a:prstGeom prst="rect">
            <a:avLst/>
          </a:prstGeom>
          <a:noFill/>
        </p:spPr>
        <p:txBody>
          <a:bodyPr wrap="square" lIns="36576" rIns="36576" tIns="18288" anchor="t">
            <a:spAutoFit/>
          </a:bodyPr>
          <a:lstStyle/>
          <a:p>
            <a:pPr algn="l"/>
            <a:r>
              <a:rPr sz="1300" b="1">
                <a:solidFill>
                  <a:srgbClr val="E07C30"/>
                </a:solidFill>
                <a:latin typeface="Aptos"/>
              </a:rPr>
              <a:t>4. Điểm không bị bão hòa</a:t>
            </a:r>
          </a:p>
        </p:txBody>
      </p:sp>
      <p:sp>
        <p:nvSpPr>
          <p:cNvPr id="23" name="TextBox 22"/>
          <p:cNvSpPr txBox="1"/>
          <p:nvPr/>
        </p:nvSpPr>
        <p:spPr>
          <a:xfrm>
            <a:off x="713232" y="3959352"/>
            <a:ext cx="3346704" cy="1325880"/>
          </a:xfrm>
          <a:prstGeom prst="rect">
            <a:avLst/>
          </a:prstGeom>
          <a:noFill/>
        </p:spPr>
        <p:txBody>
          <a:bodyPr wrap="square" lIns="36576" rIns="36576" tIns="18288" anchor="t">
            <a:spAutoFit/>
          </a:bodyPr>
          <a:lstStyle/>
          <a:p>
            <a:pPr algn="l"/>
            <a:r>
              <a:rPr sz="1100" b="0">
                <a:solidFill>
                  <a:srgbClr val="1E2328"/>
                </a:solidFill>
                <a:latin typeface="Aptos"/>
              </a:rPr>
              <a:t>TutorBench lọc mẫu quá dễ; không mô hình nào vượt 56%. Đây là dấu hiệu bộ đánh giá còn khả năng phân biệt.</a:t>
            </a:r>
          </a:p>
        </p:txBody>
      </p:sp>
      <p:sp>
        <p:nvSpPr>
          <p:cNvPr id="24" name="Rounded Rectangle 23"/>
          <p:cNvSpPr/>
          <p:nvPr/>
        </p:nvSpPr>
        <p:spPr>
          <a:xfrm>
            <a:off x="4434840" y="3520440"/>
            <a:ext cx="3657600" cy="1828800"/>
          </a:xfrm>
          <a:prstGeom prst="roundRect">
            <a:avLst/>
          </a:prstGeom>
          <a:solidFill>
            <a:srgbClr val="FBEBDB"/>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434840" y="3520440"/>
            <a:ext cx="73152" cy="1828800"/>
          </a:xfrm>
          <a:prstGeom prst="rect">
            <a:avLst/>
          </a:prstGeom>
          <a:solidFill>
            <a:srgbClr val="BE4137"/>
          </a:solidFill>
          <a:ln>
            <a:solidFill>
              <a:srgbClr val="BE41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99431" y="3630168"/>
            <a:ext cx="3401568" cy="256032"/>
          </a:xfrm>
          <a:prstGeom prst="rect">
            <a:avLst/>
          </a:prstGeom>
          <a:noFill/>
        </p:spPr>
        <p:txBody>
          <a:bodyPr wrap="square" lIns="36576" rIns="36576" tIns="18288" anchor="t">
            <a:spAutoFit/>
          </a:bodyPr>
          <a:lstStyle/>
          <a:p>
            <a:pPr algn="l"/>
            <a:r>
              <a:rPr sz="1300" b="1">
                <a:solidFill>
                  <a:srgbClr val="BE4137"/>
                </a:solidFill>
                <a:latin typeface="Aptos"/>
              </a:rPr>
              <a:t>5. Tách đúng năng lực cần đo</a:t>
            </a:r>
          </a:p>
        </p:txBody>
      </p:sp>
      <p:sp>
        <p:nvSpPr>
          <p:cNvPr id="27" name="TextBox 26"/>
          <p:cNvSpPr txBox="1"/>
          <p:nvPr/>
        </p:nvSpPr>
        <p:spPr>
          <a:xfrm>
            <a:off x="4599431" y="3959352"/>
            <a:ext cx="3346704" cy="1325880"/>
          </a:xfrm>
          <a:prstGeom prst="rect">
            <a:avLst/>
          </a:prstGeom>
          <a:noFill/>
        </p:spPr>
        <p:txBody>
          <a:bodyPr wrap="square" lIns="36576" rIns="36576" tIns="18288" anchor="t">
            <a:spAutoFit/>
          </a:bodyPr>
          <a:lstStyle/>
          <a:p>
            <a:pPr algn="l"/>
            <a:r>
              <a:rPr sz="1100" b="0">
                <a:solidFill>
                  <a:srgbClr val="1E2328"/>
                </a:solidFill>
                <a:latin typeface="Aptos"/>
              </a:rPr>
              <a:t>MathTutorBench và KMP-Bench đều cho thấy mô hình giỏi giải bài chưa chắc giỏi làm gia sư.</a:t>
            </a:r>
          </a:p>
        </p:txBody>
      </p:sp>
      <p:sp>
        <p:nvSpPr>
          <p:cNvPr id="28" name="Rounded Rectangle 27"/>
          <p:cNvSpPr/>
          <p:nvPr/>
        </p:nvSpPr>
        <p:spPr>
          <a:xfrm>
            <a:off x="8321040" y="3520440"/>
            <a:ext cx="3657600" cy="1828800"/>
          </a:xfrm>
          <a:prstGeom prst="roundRect">
            <a:avLst/>
          </a:prstGeom>
          <a:solidFill>
            <a:srgbClr val="E2F2E7"/>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321040" y="3520440"/>
            <a:ext cx="73152" cy="1828800"/>
          </a:xfrm>
          <a:prstGeom prst="rect">
            <a:avLst/>
          </a:prstGeom>
          <a:solidFill>
            <a:srgbClr val="123458"/>
          </a:solidFill>
          <a:ln>
            <a:solidFill>
              <a:srgbClr val="123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85632" y="3630168"/>
            <a:ext cx="3401568" cy="256032"/>
          </a:xfrm>
          <a:prstGeom prst="rect">
            <a:avLst/>
          </a:prstGeom>
          <a:noFill/>
        </p:spPr>
        <p:txBody>
          <a:bodyPr wrap="square" lIns="36576" rIns="36576" tIns="18288" anchor="t">
            <a:spAutoFit/>
          </a:bodyPr>
          <a:lstStyle/>
          <a:p>
            <a:pPr algn="l"/>
            <a:r>
              <a:rPr sz="1300" b="1">
                <a:solidFill>
                  <a:srgbClr val="123458"/>
                </a:solidFill>
                <a:latin typeface="Aptos"/>
              </a:rPr>
              <a:t>6. Bám nguồn chính thức</a:t>
            </a:r>
          </a:p>
        </p:txBody>
      </p:sp>
      <p:sp>
        <p:nvSpPr>
          <p:cNvPr id="31" name="TextBox 30"/>
          <p:cNvSpPr txBox="1"/>
          <p:nvPr/>
        </p:nvSpPr>
        <p:spPr>
          <a:xfrm>
            <a:off x="8485632" y="3959352"/>
            <a:ext cx="3346704" cy="1325880"/>
          </a:xfrm>
          <a:prstGeom prst="rect">
            <a:avLst/>
          </a:prstGeom>
          <a:noFill/>
        </p:spPr>
        <p:txBody>
          <a:bodyPr wrap="square" lIns="36576" rIns="36576" tIns="18288" anchor="t">
            <a:spAutoFit/>
          </a:bodyPr>
          <a:lstStyle/>
          <a:p>
            <a:pPr algn="l"/>
            <a:r>
              <a:rPr sz="1100" b="0">
                <a:solidFill>
                  <a:srgbClr val="1E2328"/>
                </a:solidFill>
                <a:latin typeface="Aptos"/>
              </a:rPr>
              <a:t>VietLegal cho thấy nguồn chính thức và công cụ truy xuất là nền để kiểm tra câu trả lời và dữ liệu.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164592"/>
          </a:xfrm>
          <a:prstGeom prst="rect">
            <a:avLst/>
          </a:prstGeom>
          <a:solidFill>
            <a:srgbClr val="123458"/>
          </a:solidFill>
          <a:ln>
            <a:solidFill>
              <a:srgbClr val="123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83464"/>
            <a:ext cx="1143000" cy="292608"/>
          </a:xfrm>
          <a:prstGeom prst="roundRect">
            <a:avLst/>
          </a:prstGeom>
          <a:solidFill>
            <a:srgbClr val="E0EDFA"/>
          </a:solidFill>
          <a:ln>
            <a:solidFill>
              <a:srgbClr val="E0ED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29184"/>
            <a:ext cx="1005840" cy="182880"/>
          </a:xfrm>
          <a:prstGeom prst="rect">
            <a:avLst/>
          </a:prstGeom>
          <a:noFill/>
        </p:spPr>
        <p:txBody>
          <a:bodyPr wrap="square" lIns="36576" rIns="36576" tIns="18288" anchor="t">
            <a:spAutoFit/>
          </a:bodyPr>
          <a:lstStyle/>
          <a:p>
            <a:pPr algn="ctr"/>
            <a:r>
              <a:rPr sz="1100" b="1">
                <a:solidFill>
                  <a:srgbClr val="FFFFFF"/>
                </a:solidFill>
              </a:rPr>
              <a:t>KHUNG V0</a:t>
            </a:r>
          </a:p>
        </p:txBody>
      </p:sp>
      <p:sp>
        <p:nvSpPr>
          <p:cNvPr id="5" name="TextBox 4"/>
          <p:cNvSpPr txBox="1"/>
          <p:nvPr/>
        </p:nvSpPr>
        <p:spPr>
          <a:xfrm>
            <a:off x="1755648" y="256032"/>
            <a:ext cx="10515600" cy="530352"/>
          </a:xfrm>
          <a:prstGeom prst="rect">
            <a:avLst/>
          </a:prstGeom>
          <a:noFill/>
        </p:spPr>
        <p:txBody>
          <a:bodyPr wrap="square">
            <a:spAutoFit/>
          </a:bodyPr>
          <a:lstStyle/>
          <a:p>
            <a:r>
              <a:rPr sz="2300" b="1">
                <a:solidFill>
                  <a:srgbClr val="0B3A67"/>
                </a:solidFill>
              </a:rPr>
              <a:t>Khung kiểm định V0 — kiểm độ phủ trên những trục nào?</a:t>
            </a:r>
          </a:p>
        </p:txBody>
      </p:sp>
      <p:sp>
        <p:nvSpPr>
          <p:cNvPr id="6" name="TextBox 5"/>
          <p:cNvSpPr txBox="1"/>
          <p:nvPr/>
        </p:nvSpPr>
        <p:spPr>
          <a:xfrm>
            <a:off x="530352" y="804672"/>
            <a:ext cx="10881360" cy="329184"/>
          </a:xfrm>
          <a:prstGeom prst="rect">
            <a:avLst/>
          </a:prstGeom>
          <a:noFill/>
        </p:spPr>
        <p:txBody>
          <a:bodyPr wrap="square">
            <a:spAutoFit/>
          </a:bodyPr>
          <a:lstStyle/>
          <a:p>
            <a:r>
              <a:rPr sz="1200" b="0">
                <a:solidFill>
                  <a:srgbClr val="555555"/>
                </a:solidFill>
              </a:rPr>
              <a:t>Mục tiêu: biến “độ phủ” thành bảng kiểm có thể đo, giải thích và phản hồi lại HNMU</a:t>
            </a:r>
          </a:p>
        </p:txBody>
      </p:sp>
      <p:sp>
        <p:nvSpPr>
          <p:cNvPr id="7" name="TextBox 6"/>
          <p:cNvSpPr txBox="1"/>
          <p:nvPr/>
        </p:nvSpPr>
        <p:spPr>
          <a:xfrm>
            <a:off x="502920" y="6528816"/>
            <a:ext cx="11064240" cy="228600"/>
          </a:xfrm>
          <a:prstGeom prst="rect">
            <a:avLst/>
          </a:prstGeom>
          <a:noFill/>
        </p:spPr>
        <p:txBody>
          <a:bodyPr wrap="none">
            <a:spAutoFit/>
          </a:bodyPr>
          <a:lstStyle/>
          <a:p>
            <a:pPr algn="r"/>
            <a:r>
              <a:rPr sz="850">
                <a:solidFill>
                  <a:srgbClr val="78808C"/>
                </a:solidFill>
                <a:latin typeface="Aptos"/>
              </a:rPr>
              <a:t>Tổng hợp 4 bài báo về chất lượng bộ đánh giá • 14/07/2026</a:t>
            </a:r>
          </a:p>
        </p:txBody>
      </p:sp>
      <p:sp>
        <p:nvSpPr>
          <p:cNvPr id="8" name="Rounded Rectangle 7"/>
          <p:cNvSpPr/>
          <p:nvPr/>
        </p:nvSpPr>
        <p:spPr>
          <a:xfrm>
            <a:off x="594360" y="1143000"/>
            <a:ext cx="3566160" cy="4251960"/>
          </a:xfrm>
          <a:prstGeom prst="roundRect">
            <a:avLst/>
          </a:prstGeom>
          <a:solidFill>
            <a:srgbClr val="E0EDFA"/>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143000"/>
            <a:ext cx="73152" cy="4251960"/>
          </a:xfrm>
          <a:prstGeom prst="rect">
            <a:avLst/>
          </a:prstGeom>
          <a:solidFill>
            <a:srgbClr val="2871B9"/>
          </a:solidFill>
          <a:ln>
            <a:solidFill>
              <a:srgbClr val="2871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1252728"/>
            <a:ext cx="3310128" cy="256032"/>
          </a:xfrm>
          <a:prstGeom prst="rect">
            <a:avLst/>
          </a:prstGeom>
          <a:noFill/>
        </p:spPr>
        <p:txBody>
          <a:bodyPr wrap="square" lIns="36576" rIns="36576" tIns="18288" anchor="t">
            <a:spAutoFit/>
          </a:bodyPr>
          <a:lstStyle/>
          <a:p>
            <a:pPr algn="l"/>
            <a:r>
              <a:rPr sz="1200" b="1">
                <a:solidFill>
                  <a:srgbClr val="0B3A67"/>
                </a:solidFill>
              </a:rPr>
              <a:t>1. Học liệu và chủ đề</a:t>
            </a:r>
          </a:p>
        </p:txBody>
      </p:sp>
      <p:sp>
        <p:nvSpPr>
          <p:cNvPr id="11" name="TextBox 10"/>
          <p:cNvSpPr txBox="1"/>
          <p:nvPr/>
        </p:nvSpPr>
        <p:spPr>
          <a:xfrm>
            <a:off x="758952" y="1581912"/>
            <a:ext cx="3255264" cy="3749040"/>
          </a:xfrm>
          <a:prstGeom prst="rect">
            <a:avLst/>
          </a:prstGeom>
          <a:noFill/>
        </p:spPr>
        <p:txBody>
          <a:bodyPr wrap="square" lIns="36576" rIns="36576" tIns="18288" anchor="t">
            <a:spAutoFit/>
          </a:bodyPr>
          <a:lstStyle/>
          <a:p>
            <a:pPr algn="l"/>
            <a:r>
              <a:rPr sz="1019" b="0">
                <a:solidFill>
                  <a:srgbClr val="222222"/>
                </a:solidFill>
              </a:rPr>
              <a:t>• Lớp học: Tin học 6, 7, 8, 9</a:t>
            </a:r>
          </a:p>
          <a:p>
            <a:r>
              <a:rPr sz="1019" b="0">
                <a:solidFill>
                  <a:srgbClr val="222222"/>
                </a:solidFill>
              </a:rPr>
              <a:t>• Nguồn: SGK, SGV, tài liệu tập huấn</a:t>
            </a:r>
          </a:p>
          <a:p>
            <a:r>
              <a:rPr sz="1019" b="0">
                <a:solidFill>
                  <a:srgbClr val="222222"/>
                </a:solidFill>
              </a:rPr>
              <a:t>• Chủ đề, bài học, trang hoặc đoạn học liệu</a:t>
            </a:r>
          </a:p>
          <a:p>
            <a:r>
              <a:rPr sz="1019" b="0">
                <a:solidFill>
                  <a:srgbClr val="222222"/>
                </a:solidFill>
              </a:rPr>
              <a:t>• Quan hệ với tiền kiến thức cần dùng trong hội thoại</a:t>
            </a:r>
          </a:p>
        </p:txBody>
      </p:sp>
      <p:sp>
        <p:nvSpPr>
          <p:cNvPr id="12" name="Rounded Rectangle 11"/>
          <p:cNvSpPr/>
          <p:nvPr/>
        </p:nvSpPr>
        <p:spPr>
          <a:xfrm>
            <a:off x="4343400" y="1143000"/>
            <a:ext cx="3566160" cy="4251960"/>
          </a:xfrm>
          <a:prstGeom prst="roundRect">
            <a:avLst/>
          </a:prstGeom>
          <a:solidFill>
            <a:srgbClr val="E2F2E7"/>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143000"/>
            <a:ext cx="73152" cy="4251960"/>
          </a:xfrm>
          <a:prstGeom prst="rect">
            <a:avLst/>
          </a:prstGeom>
          <a:solidFill>
            <a:srgbClr val="409753"/>
          </a:solidFill>
          <a:ln>
            <a:solidFill>
              <a:srgbClr val="4097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07992" y="1252728"/>
            <a:ext cx="3310128" cy="256032"/>
          </a:xfrm>
          <a:prstGeom prst="rect">
            <a:avLst/>
          </a:prstGeom>
          <a:noFill/>
        </p:spPr>
        <p:txBody>
          <a:bodyPr wrap="square" lIns="36576" rIns="36576" tIns="18288" anchor="t">
            <a:spAutoFit/>
          </a:bodyPr>
          <a:lstStyle/>
          <a:p>
            <a:pPr algn="l"/>
            <a:r>
              <a:rPr sz="1200" b="1">
                <a:solidFill>
                  <a:srgbClr val="0B3A67"/>
                </a:solidFill>
              </a:rPr>
              <a:t>2. Mức nhận thức và dạng bài</a:t>
            </a:r>
          </a:p>
        </p:txBody>
      </p:sp>
      <p:sp>
        <p:nvSpPr>
          <p:cNvPr id="15" name="TextBox 14"/>
          <p:cNvSpPr txBox="1"/>
          <p:nvPr/>
        </p:nvSpPr>
        <p:spPr>
          <a:xfrm>
            <a:off x="4507992" y="1581912"/>
            <a:ext cx="3255264" cy="3749040"/>
          </a:xfrm>
          <a:prstGeom prst="rect">
            <a:avLst/>
          </a:prstGeom>
          <a:noFill/>
        </p:spPr>
        <p:txBody>
          <a:bodyPr wrap="square" lIns="36576" rIns="36576" tIns="18288" anchor="t">
            <a:spAutoFit/>
          </a:bodyPr>
          <a:lstStyle/>
          <a:p>
            <a:pPr algn="l"/>
            <a:r>
              <a:rPr sz="1019" b="0">
                <a:solidFill>
                  <a:srgbClr val="222222"/>
                </a:solidFill>
              </a:rPr>
              <a:t>• Mức nhận thức: Biết, Hiểu, Vận dụng</a:t>
            </a:r>
          </a:p>
          <a:p>
            <a:r>
              <a:rPr sz="1019" b="0">
                <a:solidFill>
                  <a:srgbClr val="222222"/>
                </a:solidFill>
              </a:rPr>
              <a:t>• Dạng bài: trắc nghiệm; tự luận lý thuyết; sửa lỗi Scratch/Python; viết chương trình</a:t>
            </a:r>
          </a:p>
          <a:p>
            <a:r>
              <a:rPr sz="1019" b="0">
                <a:solidFill>
                  <a:srgbClr val="222222"/>
                </a:solidFill>
              </a:rPr>
              <a:t>• Độ khó/độ phức tạp: một bước, nhiều bước, cần gợi mở hay cần phản hồi bài làm</a:t>
            </a:r>
          </a:p>
        </p:txBody>
      </p:sp>
      <p:sp>
        <p:nvSpPr>
          <p:cNvPr id="16" name="Rounded Rectangle 15"/>
          <p:cNvSpPr/>
          <p:nvPr/>
        </p:nvSpPr>
        <p:spPr>
          <a:xfrm>
            <a:off x="8092440" y="1143000"/>
            <a:ext cx="3566160" cy="4251960"/>
          </a:xfrm>
          <a:prstGeom prst="roundRect">
            <a:avLst/>
          </a:prstGeom>
          <a:solidFill>
            <a:srgbClr val="FBEBDB"/>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1143000"/>
            <a:ext cx="73152" cy="4251960"/>
          </a:xfrm>
          <a:prstGeom prst="rect">
            <a:avLst/>
          </a:prstGeom>
          <a:solidFill>
            <a:srgbClr val="E07C30"/>
          </a:solidFill>
          <a:ln>
            <a:solidFill>
              <a:srgbClr val="E07C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57031" y="1252728"/>
            <a:ext cx="3310128" cy="256032"/>
          </a:xfrm>
          <a:prstGeom prst="rect">
            <a:avLst/>
          </a:prstGeom>
          <a:noFill/>
        </p:spPr>
        <p:txBody>
          <a:bodyPr wrap="square" lIns="36576" rIns="36576" tIns="18288" anchor="t">
            <a:spAutoFit/>
          </a:bodyPr>
          <a:lstStyle/>
          <a:p>
            <a:pPr algn="l"/>
            <a:r>
              <a:rPr sz="1200" b="1">
                <a:solidFill>
                  <a:srgbClr val="0B3A67"/>
                </a:solidFill>
              </a:rPr>
              <a:t>3. Hành vi gia sư và tiêu chí chấm</a:t>
            </a:r>
          </a:p>
        </p:txBody>
      </p:sp>
      <p:sp>
        <p:nvSpPr>
          <p:cNvPr id="19" name="TextBox 18"/>
          <p:cNvSpPr txBox="1"/>
          <p:nvPr/>
        </p:nvSpPr>
        <p:spPr>
          <a:xfrm>
            <a:off x="8257031" y="1581912"/>
            <a:ext cx="3255264" cy="3749040"/>
          </a:xfrm>
          <a:prstGeom prst="rect">
            <a:avLst/>
          </a:prstGeom>
          <a:noFill/>
        </p:spPr>
        <p:txBody>
          <a:bodyPr wrap="square" lIns="36576" rIns="36576" tIns="18288" anchor="t">
            <a:spAutoFit/>
          </a:bodyPr>
          <a:lstStyle/>
          <a:p>
            <a:pPr algn="l"/>
            <a:r>
              <a:rPr sz="1000" b="0">
                <a:solidFill>
                  <a:srgbClr val="222222"/>
                </a:solidFill>
              </a:rPr>
              <a:t>• Nhiệm vụ gia sư: giải thích, gợi mở, phản hồi bài làm, sửa lỗi, điều hướng khi lệch phạm vi</a:t>
            </a:r>
          </a:p>
          <a:p>
            <a:r>
              <a:rPr sz="1000" b="0">
                <a:solidFill>
                  <a:srgbClr val="222222"/>
                </a:solidFill>
              </a:rPr>
              <a:t>• Tiêu chí chấm: đúng kiến thức, bám yêu cầu, giàn giáo, tuân thủ phạm vi, giao tiếp phù hợp</a:t>
            </a:r>
          </a:p>
          <a:p>
            <a:r>
              <a:rPr sz="1000" b="0">
                <a:solidFill>
                  <a:srgbClr val="222222"/>
                </a:solidFill>
              </a:rPr>
              <a:t>• Dữ liệu hội thoại: yêu cầu ban đầu, lịch sử hội thoại, đáp án, phản hồi mong muốn</a:t>
            </a:r>
          </a:p>
        </p:txBody>
      </p:sp>
      <p:sp>
        <p:nvSpPr>
          <p:cNvPr id="20" name="Rounded Rectangle 19"/>
          <p:cNvSpPr/>
          <p:nvPr/>
        </p:nvSpPr>
        <p:spPr>
          <a:xfrm>
            <a:off x="822960" y="5715000"/>
            <a:ext cx="10607040" cy="594360"/>
          </a:xfrm>
          <a:prstGeom prst="roundRect">
            <a:avLst/>
          </a:prstGeom>
          <a:solidFill>
            <a:srgbClr val="FFF8EB"/>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960" y="5715000"/>
            <a:ext cx="73152" cy="594360"/>
          </a:xfrm>
          <a:prstGeom prst="rect">
            <a:avLst/>
          </a:prstGeom>
          <a:solidFill>
            <a:srgbClr val="E07C30"/>
          </a:solidFill>
          <a:ln>
            <a:solidFill>
              <a:srgbClr val="E07C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7552" y="5824728"/>
            <a:ext cx="10351008" cy="256032"/>
          </a:xfrm>
          <a:prstGeom prst="rect">
            <a:avLst/>
          </a:prstGeom>
          <a:noFill/>
        </p:spPr>
        <p:txBody>
          <a:bodyPr wrap="square" lIns="36576" rIns="36576" tIns="18288" anchor="t">
            <a:spAutoFit/>
          </a:bodyPr>
          <a:lstStyle/>
          <a:p>
            <a:pPr algn="l"/>
            <a:r>
              <a:rPr sz="1200" b="1">
                <a:solidFill>
                  <a:srgbClr val="0B3A67"/>
                </a:solidFill>
              </a:rPr>
              <a:t>Cách đọc độ phủ</a:t>
            </a:r>
          </a:p>
        </p:txBody>
      </p:sp>
      <p:sp>
        <p:nvSpPr>
          <p:cNvPr id="23" name="TextBox 22"/>
          <p:cNvSpPr txBox="1"/>
          <p:nvPr/>
        </p:nvSpPr>
        <p:spPr>
          <a:xfrm>
            <a:off x="987552" y="6153912"/>
            <a:ext cx="10296144" cy="91439"/>
          </a:xfrm>
          <a:prstGeom prst="rect">
            <a:avLst/>
          </a:prstGeom>
          <a:noFill/>
        </p:spPr>
        <p:txBody>
          <a:bodyPr wrap="square" lIns="36576" rIns="36576" tIns="18288" anchor="t">
            <a:spAutoFit/>
          </a:bodyPr>
          <a:lstStyle/>
          <a:p>
            <a:pPr algn="l"/>
            <a:r>
              <a:rPr sz="1100" b="0">
                <a:solidFill>
                  <a:srgbClr val="222222"/>
                </a:solidFill>
              </a:rPr>
              <a:t>Không yêu cầu phân bố tuyệt đối đồng đều. Điều cần có là phân bố có chủ đích, giải thích được: vì sao chủ đề này nhiều mẫu hơn, vì sao dạng bài kia còn thiếu, và phần nào cần HNMU bổ sung.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64592"/>
          </a:xfrm>
          <a:prstGeom prst="rect">
            <a:avLst/>
          </a:prstGeom>
          <a:solidFill>
            <a:srgbClr val="123458"/>
          </a:solidFill>
          <a:ln>
            <a:solidFill>
              <a:srgbClr val="123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83464"/>
            <a:ext cx="1143000" cy="292608"/>
          </a:xfrm>
          <a:prstGeom prst="roundRect">
            <a:avLst/>
          </a:prstGeom>
          <a:solidFill>
            <a:srgbClr val="E0EDFA"/>
          </a:solidFill>
          <a:ln>
            <a:solidFill>
              <a:srgbClr val="E0ED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29184"/>
            <a:ext cx="1005840" cy="182880"/>
          </a:xfrm>
          <a:prstGeom prst="rect">
            <a:avLst/>
          </a:prstGeom>
          <a:noFill/>
        </p:spPr>
        <p:txBody>
          <a:bodyPr wrap="square" lIns="36576" rIns="36576" tIns="18288" anchor="t">
            <a:spAutoFit/>
          </a:bodyPr>
          <a:lstStyle/>
          <a:p>
            <a:pPr algn="ctr"/>
            <a:r>
              <a:rPr sz="1100" b="1">
                <a:solidFill>
                  <a:srgbClr val="FFFFFF"/>
                </a:solidFill>
              </a:rPr>
              <a:t>QUY TRÌNH</a:t>
            </a:r>
          </a:p>
        </p:txBody>
      </p:sp>
      <p:sp>
        <p:nvSpPr>
          <p:cNvPr id="5" name="TextBox 4"/>
          <p:cNvSpPr txBox="1"/>
          <p:nvPr/>
        </p:nvSpPr>
        <p:spPr>
          <a:xfrm>
            <a:off x="1755648" y="256032"/>
            <a:ext cx="10515600" cy="530352"/>
          </a:xfrm>
          <a:prstGeom prst="rect">
            <a:avLst/>
          </a:prstGeom>
          <a:noFill/>
        </p:spPr>
        <p:txBody>
          <a:bodyPr wrap="square">
            <a:spAutoFit/>
          </a:bodyPr>
          <a:lstStyle/>
          <a:p>
            <a:r>
              <a:rPr sz="2300" b="1">
                <a:solidFill>
                  <a:srgbClr val="0B3A67"/>
                </a:solidFill>
              </a:rPr>
              <a:t>Khung kiểm định V0 — các pha thực hiện và công cụ</a:t>
            </a:r>
          </a:p>
        </p:txBody>
      </p:sp>
      <p:sp>
        <p:nvSpPr>
          <p:cNvPr id="6" name="TextBox 5"/>
          <p:cNvSpPr txBox="1"/>
          <p:nvPr/>
        </p:nvSpPr>
        <p:spPr>
          <a:xfrm>
            <a:off x="530352" y="804672"/>
            <a:ext cx="10881360" cy="329184"/>
          </a:xfrm>
          <a:prstGeom prst="rect">
            <a:avLst/>
          </a:prstGeom>
          <a:noFill/>
        </p:spPr>
        <p:txBody>
          <a:bodyPr wrap="square">
            <a:spAutoFit/>
          </a:bodyPr>
          <a:lstStyle/>
          <a:p>
            <a:r>
              <a:rPr sz="1200" b="0">
                <a:solidFill>
                  <a:srgbClr val="555555"/>
                </a:solidFill>
              </a:rPr>
              <a:t>Code kiểm tra phần lặp lại; agent chuyên trách gợi ý/luận giải; giáo viên và giáo sư chốt nội dung sư phạm</a:t>
            </a:r>
          </a:p>
        </p:txBody>
      </p:sp>
      <p:sp>
        <p:nvSpPr>
          <p:cNvPr id="7" name="TextBox 6"/>
          <p:cNvSpPr txBox="1"/>
          <p:nvPr/>
        </p:nvSpPr>
        <p:spPr>
          <a:xfrm>
            <a:off x="502920" y="6528816"/>
            <a:ext cx="11064240" cy="228600"/>
          </a:xfrm>
          <a:prstGeom prst="rect">
            <a:avLst/>
          </a:prstGeom>
          <a:noFill/>
        </p:spPr>
        <p:txBody>
          <a:bodyPr wrap="none">
            <a:spAutoFit/>
          </a:bodyPr>
          <a:lstStyle/>
          <a:p>
            <a:pPr algn="r"/>
            <a:r>
              <a:rPr sz="850">
                <a:solidFill>
                  <a:srgbClr val="78808C"/>
                </a:solidFill>
                <a:latin typeface="Aptos"/>
              </a:rPr>
              <a:t>Tổng hợp 4 bài báo về chất lượng bộ đánh giá • 14/07/2026</a:t>
            </a:r>
          </a:p>
        </p:txBody>
      </p:sp>
      <p:sp>
        <p:nvSpPr>
          <p:cNvPr id="8" name="Rounded Rectangle 7"/>
          <p:cNvSpPr/>
          <p:nvPr/>
        </p:nvSpPr>
        <p:spPr>
          <a:xfrm>
            <a:off x="594360" y="1143000"/>
            <a:ext cx="3566160" cy="4251960"/>
          </a:xfrm>
          <a:prstGeom prst="roundRect">
            <a:avLst/>
          </a:prstGeom>
          <a:solidFill>
            <a:srgbClr val="E0EDFA"/>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143000"/>
            <a:ext cx="73152" cy="4251960"/>
          </a:xfrm>
          <a:prstGeom prst="rect">
            <a:avLst/>
          </a:prstGeom>
          <a:solidFill>
            <a:srgbClr val="2871B9"/>
          </a:solidFill>
          <a:ln>
            <a:solidFill>
              <a:srgbClr val="2871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1252728"/>
            <a:ext cx="3310128" cy="256032"/>
          </a:xfrm>
          <a:prstGeom prst="rect">
            <a:avLst/>
          </a:prstGeom>
          <a:noFill/>
        </p:spPr>
        <p:txBody>
          <a:bodyPr wrap="square" lIns="36576" rIns="36576" tIns="18288" anchor="t">
            <a:spAutoFit/>
          </a:bodyPr>
          <a:lstStyle/>
          <a:p>
            <a:pPr algn="l"/>
            <a:r>
              <a:rPr sz="1200" b="1">
                <a:solidFill>
                  <a:srgbClr val="0B3A67"/>
                </a:solidFill>
              </a:rPr>
              <a:t>Pha 1. Kiểm dữ liệu thô</a:t>
            </a:r>
          </a:p>
        </p:txBody>
      </p:sp>
      <p:sp>
        <p:nvSpPr>
          <p:cNvPr id="11" name="TextBox 10"/>
          <p:cNvSpPr txBox="1"/>
          <p:nvPr/>
        </p:nvSpPr>
        <p:spPr>
          <a:xfrm>
            <a:off x="758952" y="1581912"/>
            <a:ext cx="3255264" cy="3749040"/>
          </a:xfrm>
          <a:prstGeom prst="rect">
            <a:avLst/>
          </a:prstGeom>
          <a:noFill/>
        </p:spPr>
        <p:txBody>
          <a:bodyPr wrap="square" lIns="36576" rIns="36576" tIns="18288" anchor="t">
            <a:spAutoFit/>
          </a:bodyPr>
          <a:lstStyle/>
          <a:p>
            <a:pPr algn="l"/>
            <a:r>
              <a:rPr sz="940" b="0">
                <a:solidFill>
                  <a:srgbClr val="222222"/>
                </a:solidFill>
              </a:rPr>
              <a:t>• Đầu vào: mẫu hội thoại và thông tin phụ trợ do HNMU gửi</a:t>
            </a:r>
          </a:p>
          <a:p>
            <a:r>
              <a:rPr sz="940" b="0">
                <a:solidFill>
                  <a:srgbClr val="222222"/>
                </a:solidFill>
              </a:rPr>
              <a:t>• Code trong src/: kiểm thiếu trường, kiểu dữ liệu, trùng/gần trùng, thống kê độ phủ thô</a:t>
            </a:r>
          </a:p>
          <a:p>
            <a:r>
              <a:rPr sz="940" b="0">
                <a:solidFill>
                  <a:srgbClr val="222222"/>
                </a:solidFill>
              </a:rPr>
              <a:t>• Agent học liệu: gợi ý ánh xạ SGK/chủ đề/bài học, chỉ gắn cờ khi chưa chắc</a:t>
            </a:r>
          </a:p>
          <a:p>
            <a:r>
              <a:rPr sz="940" b="0">
                <a:solidFill>
                  <a:srgbClr val="222222"/>
                </a:solidFill>
              </a:rPr>
              <a:t>• Đầu ra: báo cáo thiếu, lệch, trùng và vùng cần HNMU bổ sung</a:t>
            </a:r>
          </a:p>
        </p:txBody>
      </p:sp>
      <p:sp>
        <p:nvSpPr>
          <p:cNvPr id="12" name="Rounded Rectangle 11"/>
          <p:cNvSpPr/>
          <p:nvPr/>
        </p:nvSpPr>
        <p:spPr>
          <a:xfrm>
            <a:off x="4343400" y="1143000"/>
            <a:ext cx="3566160" cy="4251960"/>
          </a:xfrm>
          <a:prstGeom prst="roundRect">
            <a:avLst/>
          </a:prstGeom>
          <a:solidFill>
            <a:srgbClr val="E2F2E7"/>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143000"/>
            <a:ext cx="73152" cy="4251960"/>
          </a:xfrm>
          <a:prstGeom prst="rect">
            <a:avLst/>
          </a:prstGeom>
          <a:solidFill>
            <a:srgbClr val="409753"/>
          </a:solidFill>
          <a:ln>
            <a:solidFill>
              <a:srgbClr val="4097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07992" y="1252728"/>
            <a:ext cx="3310128" cy="256032"/>
          </a:xfrm>
          <a:prstGeom prst="rect">
            <a:avLst/>
          </a:prstGeom>
          <a:noFill/>
        </p:spPr>
        <p:txBody>
          <a:bodyPr wrap="square" lIns="36576" rIns="36576" tIns="18288" anchor="t">
            <a:spAutoFit/>
          </a:bodyPr>
          <a:lstStyle/>
          <a:p>
            <a:pPr algn="l"/>
            <a:r>
              <a:rPr sz="1200" b="1">
                <a:solidFill>
                  <a:srgbClr val="0B3A67"/>
                </a:solidFill>
              </a:rPr>
              <a:t>Pha 2. Chuyển thành mẫu bộ đánh giá</a:t>
            </a:r>
          </a:p>
        </p:txBody>
      </p:sp>
      <p:sp>
        <p:nvSpPr>
          <p:cNvPr id="15" name="TextBox 14"/>
          <p:cNvSpPr txBox="1"/>
          <p:nvPr/>
        </p:nvSpPr>
        <p:spPr>
          <a:xfrm>
            <a:off x="4507992" y="1581912"/>
            <a:ext cx="3255264" cy="3749040"/>
          </a:xfrm>
          <a:prstGeom prst="rect">
            <a:avLst/>
          </a:prstGeom>
          <a:noFill/>
        </p:spPr>
        <p:txBody>
          <a:bodyPr wrap="square" lIns="36576" rIns="36576" tIns="18288" anchor="t">
            <a:spAutoFit/>
          </a:bodyPr>
          <a:lstStyle/>
          <a:p>
            <a:pPr algn="l"/>
            <a:r>
              <a:rPr sz="940" b="0">
                <a:solidFill>
                  <a:srgbClr val="222222"/>
                </a:solidFill>
              </a:rPr>
              <a:t>• Đầu vào: hội thoại đã qua kiểm tra + danh mục học liệu + nhiệm vụ/tiêu chí chấm v0</a:t>
            </a:r>
          </a:p>
          <a:p>
            <a:r>
              <a:rPr sz="940" b="0">
                <a:solidFill>
                  <a:srgbClr val="222222"/>
                </a:solidFill>
              </a:rPr>
              <a:t>• Agent thiết kế benchmark: gợi ý nhiệm vụ, tiêu chí chấm, mức nhận thức, dạng bài; nêu rõ lý do</a:t>
            </a:r>
          </a:p>
          <a:p>
            <a:r>
              <a:rPr sz="940" b="0">
                <a:solidFill>
                  <a:srgbClr val="222222"/>
                </a:solidFill>
              </a:rPr>
              <a:t>• Code: tạo bản dẫn xuất, giữ liên kết tới hội thoại gốc và học liệu</a:t>
            </a:r>
          </a:p>
          <a:p>
            <a:r>
              <a:rPr sz="940" b="0">
                <a:solidFill>
                  <a:srgbClr val="222222"/>
                </a:solidFill>
              </a:rPr>
              <a:t>• Đầu ra: phiếu tác giả đã ánh xạ, kèm danh sách điểm cần người xác nhận</a:t>
            </a:r>
          </a:p>
        </p:txBody>
      </p:sp>
      <p:sp>
        <p:nvSpPr>
          <p:cNvPr id="16" name="Rounded Rectangle 15"/>
          <p:cNvSpPr/>
          <p:nvPr/>
        </p:nvSpPr>
        <p:spPr>
          <a:xfrm>
            <a:off x="8092440" y="1143000"/>
            <a:ext cx="3566160" cy="4251960"/>
          </a:xfrm>
          <a:prstGeom prst="roundRect">
            <a:avLst/>
          </a:prstGeom>
          <a:solidFill>
            <a:srgbClr val="FBEBDB"/>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1143000"/>
            <a:ext cx="73152" cy="4251960"/>
          </a:xfrm>
          <a:prstGeom prst="rect">
            <a:avLst/>
          </a:prstGeom>
          <a:solidFill>
            <a:srgbClr val="E07C30"/>
          </a:solidFill>
          <a:ln>
            <a:solidFill>
              <a:srgbClr val="E07C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57031" y="1252728"/>
            <a:ext cx="3310128" cy="256032"/>
          </a:xfrm>
          <a:prstGeom prst="rect">
            <a:avLst/>
          </a:prstGeom>
          <a:noFill/>
        </p:spPr>
        <p:txBody>
          <a:bodyPr wrap="square" lIns="36576" rIns="36576" tIns="18288" anchor="t">
            <a:spAutoFit/>
          </a:bodyPr>
          <a:lstStyle/>
          <a:p>
            <a:pPr algn="l"/>
            <a:r>
              <a:rPr sz="1200" b="1">
                <a:solidFill>
                  <a:srgbClr val="0B3A67"/>
                </a:solidFill>
              </a:rPr>
              <a:t>Pha 3. Chấm thử và kiểm độ ổn định</a:t>
            </a:r>
          </a:p>
        </p:txBody>
      </p:sp>
      <p:sp>
        <p:nvSpPr>
          <p:cNvPr id="19" name="TextBox 18"/>
          <p:cNvSpPr txBox="1"/>
          <p:nvPr/>
        </p:nvSpPr>
        <p:spPr>
          <a:xfrm>
            <a:off x="8257031" y="1581912"/>
            <a:ext cx="3255264" cy="3749040"/>
          </a:xfrm>
          <a:prstGeom prst="rect">
            <a:avLst/>
          </a:prstGeom>
          <a:noFill/>
        </p:spPr>
        <p:txBody>
          <a:bodyPr wrap="square" lIns="36576" rIns="36576" tIns="18288" anchor="t">
            <a:spAutoFit/>
          </a:bodyPr>
          <a:lstStyle/>
          <a:p>
            <a:pPr algn="l"/>
            <a:r>
              <a:rPr sz="940" b="0">
                <a:solidFill>
                  <a:srgbClr val="222222"/>
                </a:solidFill>
              </a:rPr>
              <a:t>• Đầu vào: mẫu đã chuyển đổi + phản hồi của nhiều mô hình hoặc nhiều mức chất lượng</a:t>
            </a:r>
          </a:p>
          <a:p>
            <a:r>
              <a:rPr sz="940" b="0">
                <a:solidFill>
                  <a:srgbClr val="222222"/>
                </a:solidFill>
              </a:rPr>
              <a:t>• Code: chạy chấm thử, tính phân bố điểm, phát hiện điểm trần/sàn và mẫu không phân biệt được</a:t>
            </a:r>
          </a:p>
          <a:p>
            <a:r>
              <a:rPr sz="940" b="0">
                <a:solidFill>
                  <a:srgbClr val="222222"/>
                </a:solidFill>
              </a:rPr>
              <a:t>• Người chấm: chấm một tập nhỏ để so với bộ chấm tự động nếu có</a:t>
            </a:r>
          </a:p>
          <a:p>
            <a:r>
              <a:rPr sz="940" b="0">
                <a:solidFill>
                  <a:srgbClr val="222222"/>
                </a:solidFill>
              </a:rPr>
              <a:t>• Đầu ra: báo cáo độ khớp, khả năng phân biệt và đề xuất sửa nhiệm vụ/tiêu chí</a:t>
            </a:r>
          </a:p>
        </p:txBody>
      </p:sp>
      <p:sp>
        <p:nvSpPr>
          <p:cNvPr id="20" name="Rounded Rectangle 19"/>
          <p:cNvSpPr/>
          <p:nvPr/>
        </p:nvSpPr>
        <p:spPr>
          <a:xfrm>
            <a:off x="822960" y="5715000"/>
            <a:ext cx="10607040" cy="594360"/>
          </a:xfrm>
          <a:prstGeom prst="roundRect">
            <a:avLst/>
          </a:prstGeom>
          <a:solidFill>
            <a:srgbClr val="FFF8EB"/>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960" y="5715000"/>
            <a:ext cx="73152" cy="594360"/>
          </a:xfrm>
          <a:prstGeom prst="rect">
            <a:avLst/>
          </a:prstGeom>
          <a:solidFill>
            <a:srgbClr val="E07C30"/>
          </a:solidFill>
          <a:ln>
            <a:solidFill>
              <a:srgbClr val="E07C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7552" y="5824728"/>
            <a:ext cx="10351008" cy="256032"/>
          </a:xfrm>
          <a:prstGeom prst="rect">
            <a:avLst/>
          </a:prstGeom>
          <a:noFill/>
        </p:spPr>
        <p:txBody>
          <a:bodyPr wrap="square" lIns="36576" rIns="36576" tIns="18288" anchor="t">
            <a:spAutoFit/>
          </a:bodyPr>
          <a:lstStyle/>
          <a:p>
            <a:pPr algn="l"/>
            <a:r>
              <a:rPr sz="1200" b="1">
                <a:solidFill>
                  <a:srgbClr val="0B3A67"/>
                </a:solidFill>
              </a:rPr>
              <a:t>Nguyên tắc dùng công cụ</a:t>
            </a:r>
          </a:p>
        </p:txBody>
      </p:sp>
      <p:sp>
        <p:nvSpPr>
          <p:cNvPr id="23" name="TextBox 22"/>
          <p:cNvSpPr txBox="1"/>
          <p:nvPr/>
        </p:nvSpPr>
        <p:spPr>
          <a:xfrm>
            <a:off x="987552" y="6153912"/>
            <a:ext cx="10296144" cy="91439"/>
          </a:xfrm>
          <a:prstGeom prst="rect">
            <a:avLst/>
          </a:prstGeom>
          <a:noFill/>
        </p:spPr>
        <p:txBody>
          <a:bodyPr wrap="square" lIns="36576" rIns="36576" tIns="18288" anchor="t">
            <a:spAutoFit/>
          </a:bodyPr>
          <a:lstStyle/>
          <a:p>
            <a:pPr algn="l"/>
            <a:r>
              <a:rPr sz="1100" b="0">
                <a:solidFill>
                  <a:srgbClr val="222222"/>
                </a:solidFill>
              </a:rPr>
              <a:t>Code dùng cho kiểm tra cơ học và tái lập được. Agent chuyên trách dùng cho gợi ý ngữ nghĩa, ánh xạ khó và viết luận giải. Quyết định cuối về kiến thức, sư phạm và mẫu hợp lệ vẫn thuộc HNMU/UET.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2000" cy="164592"/>
          </a:xfrm>
          <a:prstGeom prst="rect">
            <a:avLst/>
          </a:prstGeom>
          <a:solidFill>
            <a:srgbClr val="123458"/>
          </a:solidFill>
          <a:ln>
            <a:solidFill>
              <a:srgbClr val="123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02920" y="283464"/>
            <a:ext cx="1143000" cy="292608"/>
          </a:xfrm>
          <a:prstGeom prst="roundRect">
            <a:avLst/>
          </a:prstGeom>
          <a:solidFill>
            <a:srgbClr val="E0EDFA"/>
          </a:solidFill>
          <a:ln>
            <a:solidFill>
              <a:srgbClr val="E0ED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29184"/>
            <a:ext cx="1005840" cy="182880"/>
          </a:xfrm>
          <a:prstGeom prst="rect">
            <a:avLst/>
          </a:prstGeom>
          <a:noFill/>
        </p:spPr>
        <p:txBody>
          <a:bodyPr wrap="square" lIns="36576" rIns="36576" tIns="18288" anchor="t">
            <a:spAutoFit/>
          </a:bodyPr>
          <a:lstStyle/>
          <a:p>
            <a:pPr algn="ctr"/>
            <a:r>
              <a:rPr sz="850" b="1">
                <a:solidFill>
                  <a:srgbClr val="123458"/>
                </a:solidFill>
                <a:latin typeface="Aptos"/>
              </a:rPr>
              <a:t>OUTRO</a:t>
            </a:r>
          </a:p>
        </p:txBody>
      </p:sp>
      <p:sp>
        <p:nvSpPr>
          <p:cNvPr id="5" name="TextBox 4"/>
          <p:cNvSpPr txBox="1"/>
          <p:nvPr/>
        </p:nvSpPr>
        <p:spPr>
          <a:xfrm>
            <a:off x="1755648" y="256032"/>
            <a:ext cx="10515600" cy="530352"/>
          </a:xfrm>
          <a:prstGeom prst="rect">
            <a:avLst/>
          </a:prstGeom>
          <a:noFill/>
        </p:spPr>
        <p:txBody>
          <a:bodyPr wrap="square">
            <a:spAutoFit/>
          </a:bodyPr>
          <a:lstStyle/>
          <a:p>
            <a:r>
              <a:rPr sz="2200" b="1">
                <a:solidFill>
                  <a:srgbClr val="123458"/>
                </a:solidFill>
                <a:latin typeface="Aptos"/>
              </a:rPr>
              <a:t>Kết luận — Những gì nên chốt sau phần rà soát</a:t>
            </a:r>
          </a:p>
        </p:txBody>
      </p:sp>
      <p:sp>
        <p:nvSpPr>
          <p:cNvPr id="6" name="TextBox 5"/>
          <p:cNvSpPr txBox="1"/>
          <p:nvPr/>
        </p:nvSpPr>
        <p:spPr>
          <a:xfrm>
            <a:off x="530352" y="804672"/>
            <a:ext cx="10881360" cy="329184"/>
          </a:xfrm>
          <a:prstGeom prst="rect">
            <a:avLst/>
          </a:prstGeom>
          <a:noFill/>
        </p:spPr>
        <p:txBody>
          <a:bodyPr wrap="square">
            <a:spAutoFit/>
          </a:bodyPr>
          <a:lstStyle/>
          <a:p>
            <a:r>
              <a:rPr sz="1200" b="0">
                <a:solidFill>
                  <a:srgbClr val="555555"/>
                </a:solidFill>
              </a:rPr>
              <a:t>Tóm tắt quyết định thiết kế và cách biến thành quy trình kiểm định dữ liệu</a:t>
            </a:r>
          </a:p>
        </p:txBody>
      </p:sp>
      <p:sp>
        <p:nvSpPr>
          <p:cNvPr id="7" name="TextBox 6"/>
          <p:cNvSpPr txBox="1"/>
          <p:nvPr/>
        </p:nvSpPr>
        <p:spPr>
          <a:xfrm>
            <a:off x="502920" y="6528816"/>
            <a:ext cx="11064240" cy="228600"/>
          </a:xfrm>
          <a:prstGeom prst="rect">
            <a:avLst/>
          </a:prstGeom>
          <a:noFill/>
        </p:spPr>
        <p:txBody>
          <a:bodyPr wrap="none">
            <a:spAutoFit/>
          </a:bodyPr>
          <a:lstStyle/>
          <a:p>
            <a:pPr algn="r"/>
            <a:r>
              <a:rPr sz="850">
                <a:solidFill>
                  <a:srgbClr val="78808C"/>
                </a:solidFill>
                <a:latin typeface="Aptos"/>
              </a:rPr>
              <a:t>Tổng hợp 4 bài báo về chất lượng bộ đánh giá • 14/07/2026</a:t>
            </a:r>
          </a:p>
        </p:txBody>
      </p:sp>
      <p:sp>
        <p:nvSpPr>
          <p:cNvPr id="8" name="Rounded Rectangle 7"/>
          <p:cNvSpPr/>
          <p:nvPr/>
        </p:nvSpPr>
        <p:spPr>
          <a:xfrm>
            <a:off x="594360" y="1143000"/>
            <a:ext cx="5440680" cy="1143000"/>
          </a:xfrm>
          <a:prstGeom prst="roundRect">
            <a:avLst/>
          </a:prstGeom>
          <a:solidFill>
            <a:srgbClr val="E0EDFA"/>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143000"/>
            <a:ext cx="73152" cy="1143000"/>
          </a:xfrm>
          <a:prstGeom prst="rect">
            <a:avLst/>
          </a:prstGeom>
          <a:solidFill>
            <a:srgbClr val="2871B9"/>
          </a:solidFill>
          <a:ln>
            <a:solidFill>
              <a:srgbClr val="2871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1252728"/>
            <a:ext cx="5184648" cy="256032"/>
          </a:xfrm>
          <a:prstGeom prst="rect">
            <a:avLst/>
          </a:prstGeom>
          <a:noFill/>
        </p:spPr>
        <p:txBody>
          <a:bodyPr wrap="square" lIns="36576" rIns="36576" tIns="18288" anchor="t">
            <a:spAutoFit/>
          </a:bodyPr>
          <a:lstStyle/>
          <a:p>
            <a:pPr algn="l"/>
            <a:r>
              <a:rPr sz="1300" b="1">
                <a:solidFill>
                  <a:srgbClr val="2871B9"/>
                </a:solidFill>
                <a:latin typeface="Aptos"/>
              </a:rPr>
              <a:t>1. Không dùng số lượng mẫu làm bằng chứng duy nhất</a:t>
            </a:r>
          </a:p>
        </p:txBody>
      </p:sp>
      <p:sp>
        <p:nvSpPr>
          <p:cNvPr id="11" name="TextBox 10"/>
          <p:cNvSpPr txBox="1"/>
          <p:nvPr/>
        </p:nvSpPr>
        <p:spPr>
          <a:xfrm>
            <a:off x="758952" y="1581912"/>
            <a:ext cx="5129784" cy="640080"/>
          </a:xfrm>
          <a:prstGeom prst="rect">
            <a:avLst/>
          </a:prstGeom>
          <a:noFill/>
        </p:spPr>
        <p:txBody>
          <a:bodyPr wrap="square" lIns="36576" rIns="36576" tIns="18288" anchor="t">
            <a:spAutoFit/>
          </a:bodyPr>
          <a:lstStyle/>
          <a:p>
            <a:pPr algn="l"/>
            <a:r>
              <a:rPr sz="1100" b="0">
                <a:solidFill>
                  <a:srgbClr val="1E2328"/>
                </a:solidFill>
                <a:latin typeface="Aptos"/>
              </a:rPr>
              <a:t>Cần báo cáo độ bao phủ theo học liệu, mức nhận thức, dạng bài, nhiệm vụ gia sư và tiêu chí chấm.</a:t>
            </a:r>
          </a:p>
        </p:txBody>
      </p:sp>
      <p:sp>
        <p:nvSpPr>
          <p:cNvPr id="12" name="Rounded Rectangle 11"/>
          <p:cNvSpPr/>
          <p:nvPr/>
        </p:nvSpPr>
        <p:spPr>
          <a:xfrm>
            <a:off x="6217920" y="1143000"/>
            <a:ext cx="5440680" cy="1143000"/>
          </a:xfrm>
          <a:prstGeom prst="roundRect">
            <a:avLst/>
          </a:prstGeom>
          <a:solidFill>
            <a:srgbClr val="E2F2E7"/>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143000"/>
            <a:ext cx="73152" cy="1143000"/>
          </a:xfrm>
          <a:prstGeom prst="rect">
            <a:avLst/>
          </a:prstGeom>
          <a:solidFill>
            <a:srgbClr val="409753"/>
          </a:solidFill>
          <a:ln>
            <a:solidFill>
              <a:srgbClr val="4097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1252728"/>
            <a:ext cx="5184648" cy="256032"/>
          </a:xfrm>
          <a:prstGeom prst="rect">
            <a:avLst/>
          </a:prstGeom>
          <a:noFill/>
        </p:spPr>
        <p:txBody>
          <a:bodyPr wrap="square" lIns="36576" rIns="36576" tIns="18288" anchor="t">
            <a:spAutoFit/>
          </a:bodyPr>
          <a:lstStyle/>
          <a:p>
            <a:pPr algn="l"/>
            <a:r>
              <a:rPr sz="1300" b="1">
                <a:solidFill>
                  <a:srgbClr val="409753"/>
                </a:solidFill>
                <a:latin typeface="Aptos"/>
              </a:rPr>
              <a:t>2. Không để bộ chấm tự động tự xác nhận chính nó</a:t>
            </a:r>
          </a:p>
        </p:txBody>
      </p:sp>
      <p:sp>
        <p:nvSpPr>
          <p:cNvPr id="15" name="TextBox 14"/>
          <p:cNvSpPr txBox="1"/>
          <p:nvPr/>
        </p:nvSpPr>
        <p:spPr>
          <a:xfrm>
            <a:off x="6382512" y="1581912"/>
            <a:ext cx="5129784" cy="640080"/>
          </a:xfrm>
          <a:prstGeom prst="rect">
            <a:avLst/>
          </a:prstGeom>
          <a:noFill/>
        </p:spPr>
        <p:txBody>
          <a:bodyPr wrap="square" lIns="36576" rIns="36576" tIns="18288" anchor="t">
            <a:spAutoFit/>
          </a:bodyPr>
          <a:lstStyle/>
          <a:p>
            <a:pPr algn="l"/>
            <a:r>
              <a:rPr sz="1100" b="0">
                <a:solidFill>
                  <a:srgbClr val="1E2328"/>
                </a:solidFill>
                <a:latin typeface="Aptos"/>
              </a:rPr>
              <a:t>Nếu dùng LLM để rà lỗi hoặc chấm, phải có tập người chấm để đo độ khớp.</a:t>
            </a:r>
          </a:p>
        </p:txBody>
      </p:sp>
      <p:sp>
        <p:nvSpPr>
          <p:cNvPr id="16" name="Rounded Rectangle 15"/>
          <p:cNvSpPr/>
          <p:nvPr/>
        </p:nvSpPr>
        <p:spPr>
          <a:xfrm>
            <a:off x="594360" y="2697480"/>
            <a:ext cx="5440680" cy="1143000"/>
          </a:xfrm>
          <a:prstGeom prst="roundRect">
            <a:avLst/>
          </a:prstGeom>
          <a:solidFill>
            <a:srgbClr val="FBEBDB"/>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94360" y="2697480"/>
            <a:ext cx="73152" cy="1143000"/>
          </a:xfrm>
          <a:prstGeom prst="rect">
            <a:avLst/>
          </a:prstGeom>
          <a:solidFill>
            <a:srgbClr val="E07C30"/>
          </a:solidFill>
          <a:ln>
            <a:solidFill>
              <a:srgbClr val="E07C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2807208"/>
            <a:ext cx="5184648" cy="256032"/>
          </a:xfrm>
          <a:prstGeom prst="rect">
            <a:avLst/>
          </a:prstGeom>
          <a:noFill/>
        </p:spPr>
        <p:txBody>
          <a:bodyPr wrap="square" lIns="36576" rIns="36576" tIns="18288" anchor="t">
            <a:spAutoFit/>
          </a:bodyPr>
          <a:lstStyle/>
          <a:p>
            <a:pPr algn="l"/>
            <a:r>
              <a:rPr sz="1300" b="1">
                <a:solidFill>
                  <a:srgbClr val="E07C30"/>
                </a:solidFill>
                <a:latin typeface="Aptos"/>
              </a:rPr>
              <a:t>3. Phải kiểm tra dữ liệu trước khi chuyển đổi hàng loạt</a:t>
            </a:r>
          </a:p>
        </p:txBody>
      </p:sp>
      <p:sp>
        <p:nvSpPr>
          <p:cNvPr id="19" name="TextBox 18"/>
          <p:cNvSpPr txBox="1"/>
          <p:nvPr/>
        </p:nvSpPr>
        <p:spPr>
          <a:xfrm>
            <a:off x="758952" y="3136392"/>
            <a:ext cx="5129784" cy="640080"/>
          </a:xfrm>
          <a:prstGeom prst="rect">
            <a:avLst/>
          </a:prstGeom>
          <a:noFill/>
        </p:spPr>
        <p:txBody>
          <a:bodyPr wrap="square" lIns="36576" rIns="36576" tIns="18288" anchor="t">
            <a:spAutoFit/>
          </a:bodyPr>
          <a:lstStyle/>
          <a:p>
            <a:pPr algn="l"/>
            <a:r>
              <a:rPr sz="1100" b="0">
                <a:solidFill>
                  <a:srgbClr val="1E2328"/>
                </a:solidFill>
                <a:latin typeface="Aptos"/>
              </a:rPr>
              <a:t>Ưu tiên kiểm tra thiếu trường, nhất quán, trùng/gần trùng, bám SGK và tính hợp lý sư phạm.</a:t>
            </a:r>
          </a:p>
        </p:txBody>
      </p:sp>
      <p:sp>
        <p:nvSpPr>
          <p:cNvPr id="20" name="Rounded Rectangle 19"/>
          <p:cNvSpPr/>
          <p:nvPr/>
        </p:nvSpPr>
        <p:spPr>
          <a:xfrm>
            <a:off x="6217920" y="2697480"/>
            <a:ext cx="5440680" cy="1143000"/>
          </a:xfrm>
          <a:prstGeom prst="roundRect">
            <a:avLst/>
          </a:prstGeom>
          <a:solidFill>
            <a:srgbClr val="FCE5E2"/>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2697480"/>
            <a:ext cx="73152" cy="1143000"/>
          </a:xfrm>
          <a:prstGeom prst="rect">
            <a:avLst/>
          </a:prstGeom>
          <a:solidFill>
            <a:srgbClr val="BE4137"/>
          </a:solidFill>
          <a:ln>
            <a:solidFill>
              <a:srgbClr val="BE41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82512" y="2807208"/>
            <a:ext cx="5184648" cy="256032"/>
          </a:xfrm>
          <a:prstGeom prst="rect">
            <a:avLst/>
          </a:prstGeom>
          <a:noFill/>
        </p:spPr>
        <p:txBody>
          <a:bodyPr wrap="square" lIns="36576" rIns="36576" tIns="18288" anchor="t">
            <a:spAutoFit/>
          </a:bodyPr>
          <a:lstStyle/>
          <a:p>
            <a:pPr algn="l"/>
            <a:r>
              <a:rPr sz="1300" b="1">
                <a:solidFill>
                  <a:srgbClr val="BE4137"/>
                </a:solidFill>
                <a:latin typeface="Aptos"/>
              </a:rPr>
              <a:t>4. Phải thử khả năng phân biệt mô hình</a:t>
            </a:r>
          </a:p>
        </p:txBody>
      </p:sp>
      <p:sp>
        <p:nvSpPr>
          <p:cNvPr id="23" name="TextBox 22"/>
          <p:cNvSpPr txBox="1"/>
          <p:nvPr/>
        </p:nvSpPr>
        <p:spPr>
          <a:xfrm>
            <a:off x="6382512" y="3136392"/>
            <a:ext cx="5129784" cy="640080"/>
          </a:xfrm>
          <a:prstGeom prst="rect">
            <a:avLst/>
          </a:prstGeom>
          <a:noFill/>
        </p:spPr>
        <p:txBody>
          <a:bodyPr wrap="square" lIns="36576" rIns="36576" tIns="18288" anchor="t">
            <a:spAutoFit/>
          </a:bodyPr>
          <a:lstStyle/>
          <a:p>
            <a:pPr algn="l"/>
            <a:r>
              <a:rPr sz="1100" b="0">
                <a:solidFill>
                  <a:srgbClr val="1E2328"/>
                </a:solidFill>
                <a:latin typeface="Aptos"/>
              </a:rPr>
              <a:t>Bộ đánh giá cần phân biệt phản hồi tốt, trung bình, kém; tránh quá dễ hoặc chỉ đo khả năng giải bài.</a:t>
            </a:r>
          </a:p>
        </p:txBody>
      </p:sp>
      <p:sp>
        <p:nvSpPr>
          <p:cNvPr id="24" name="Rounded Rectangle 23"/>
          <p:cNvSpPr/>
          <p:nvPr/>
        </p:nvSpPr>
        <p:spPr>
          <a:xfrm>
            <a:off x="868680" y="4617720"/>
            <a:ext cx="10469880" cy="1051560"/>
          </a:xfrm>
          <a:prstGeom prst="roundRect">
            <a:avLst/>
          </a:prstGeom>
          <a:solidFill>
            <a:srgbClr val="F6F9FC"/>
          </a:solidFill>
          <a:ln>
            <a:solidFill>
              <a:srgbClr val="DCE4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68680" y="4617720"/>
            <a:ext cx="73152" cy="1051560"/>
          </a:xfrm>
          <a:prstGeom prst="rect">
            <a:avLst/>
          </a:prstGeom>
          <a:solidFill>
            <a:srgbClr val="123458"/>
          </a:solidFill>
          <a:ln>
            <a:solidFill>
              <a:srgbClr val="1234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33271" y="4727448"/>
            <a:ext cx="10213848" cy="256032"/>
          </a:xfrm>
          <a:prstGeom prst="rect">
            <a:avLst/>
          </a:prstGeom>
          <a:noFill/>
        </p:spPr>
        <p:txBody>
          <a:bodyPr wrap="square" lIns="36576" rIns="36576" tIns="18288" anchor="t">
            <a:spAutoFit/>
          </a:bodyPr>
          <a:lstStyle/>
          <a:p>
            <a:pPr algn="l"/>
            <a:r>
              <a:rPr sz="1500" b="1">
                <a:solidFill>
                  <a:srgbClr val="123458"/>
                </a:solidFill>
                <a:latin typeface="Aptos"/>
              </a:rPr>
              <a:t>Thông điệp cuối</a:t>
            </a:r>
          </a:p>
        </p:txBody>
      </p:sp>
      <p:sp>
        <p:nvSpPr>
          <p:cNvPr id="27" name="TextBox 26"/>
          <p:cNvSpPr txBox="1"/>
          <p:nvPr/>
        </p:nvSpPr>
        <p:spPr>
          <a:xfrm>
            <a:off x="1033271" y="5056631"/>
            <a:ext cx="10158984" cy="548639"/>
          </a:xfrm>
          <a:prstGeom prst="rect">
            <a:avLst/>
          </a:prstGeom>
          <a:noFill/>
        </p:spPr>
        <p:txBody>
          <a:bodyPr wrap="square" lIns="36576" rIns="36576" tIns="18288" anchor="t">
            <a:spAutoFit/>
          </a:bodyPr>
          <a:lstStyle/>
          <a:p>
            <a:pPr algn="l"/>
            <a:r>
              <a:rPr sz="1100" b="0">
                <a:solidFill>
                  <a:srgbClr val="222222"/>
                </a:solidFill>
              </a:rPr>
              <a:t>Một bộ đánh giá đáng tin cho gia sư AI cần đi qua ba cổng: bao phủ có chủ đích, dữ liệu nhất quán do người kiểm soát, và giao thức chấm đã được kiểm tra trước khi dùng rộng rãi.</a:t>
            </a:r>
          </a:p>
        </p:txBody>
      </p:sp>
      <p:sp>
        <p:nvSpPr>
          <p:cNvPr id="28" name="TextBox 27"/>
          <p:cNvSpPr txBox="1"/>
          <p:nvPr/>
        </p:nvSpPr>
        <p:spPr>
          <a:xfrm>
            <a:off x="868680" y="5989320"/>
            <a:ext cx="10469880" cy="320040"/>
          </a:xfrm>
          <a:prstGeom prst="rect">
            <a:avLst/>
          </a:prstGeom>
          <a:noFill/>
        </p:spPr>
        <p:txBody>
          <a:bodyPr wrap="square" lIns="36576" rIns="36576" tIns="18288" anchor="t">
            <a:spAutoFit/>
          </a:bodyPr>
          <a:lstStyle/>
          <a:p>
            <a:pPr algn="ctr"/>
            <a:r>
              <a:rPr sz="1200" b="0">
                <a:solidFill>
                  <a:srgbClr val="0B3A67"/>
                </a:solidFill>
              </a:rPr>
              <a:t>Bước tiếp theo: biến khung V0 thành checklist kiểm toán dữ liệu HNMU, mã kiểm tra trong src/ và quy trình agent hỗ trợ nhưng không thay quyết định chuyên môn.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0</Words>
  <Application>Microsoft Office PowerPoint</Application>
  <PresentationFormat>Widescreen</PresentationFormat>
  <Paragraphs>0</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Calibri Light</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Harry Hiếu Nguyễn</cp:lastModifiedBy>
  <cp:revision>4</cp:revision>
  <dcterms:created xsi:type="dcterms:W3CDTF">2019-02-22T04:49:27Z</dcterms:created>
  <dcterms:modified xsi:type="dcterms:W3CDTF">2019-03-21T03:36:09Z</dcterms:modified>
</cp:coreProperties>
</file>