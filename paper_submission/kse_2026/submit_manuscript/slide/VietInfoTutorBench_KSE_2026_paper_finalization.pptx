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Noto Sans"/>
              </a:rPr>
              <a:t>VietInfoTutorBench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74523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Noto Sans"/>
              </a:rPr>
              <a:t>Benchmark gia sư AI Tin học THCS tiếng Việt
từ hội thoại do giáo viên biên soạn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401568"/>
            <a:ext cx="53492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529584"/>
            <a:ext cx="49194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THUYẾT TRÌNH CHỐT BÀI BÁO KSE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133087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9E2EC"/>
                </a:solidFill>
                <a:latin typeface="Noto Sans"/>
              </a:rPr>
              <a:t>30/07/2026  •  Nhóm UET – HNMU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508760"/>
            <a:ext cx="16002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636776"/>
            <a:ext cx="1344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891B2"/>
                </a:solidFill>
                <a:latin typeface="Noto Sans"/>
              </a:rPr>
              <a:t>1.050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148839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hội thoại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02368" y="1508760"/>
            <a:ext cx="16002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0384" y="1636776"/>
            <a:ext cx="1344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F766E"/>
                </a:solidFill>
                <a:latin typeface="Noto Sans"/>
              </a:rPr>
              <a:t>665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48672" y="2148839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đạt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108960"/>
            <a:ext cx="16002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3236976"/>
            <a:ext cx="1344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7C3AED"/>
                </a:solidFill>
                <a:latin typeface="Noto Sans"/>
              </a:rPr>
              <a:t>2.028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3749039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candidate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3108960"/>
            <a:ext cx="16002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3236976"/>
            <a:ext cx="1344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Noto Sans"/>
              </a:rPr>
              <a:t>1.400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749039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eligible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35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FB3C8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9FB3C8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563EB"/>
                </a:solidFill>
                <a:latin typeface="Noto Sans"/>
              </a:rPr>
              <a:t>CÂU CHUYỆN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Bài báo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3657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Noto Sans"/>
              </a:rPr>
              <a:t>BA KHOẢNG TRỐNG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498348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73152" cy="8778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883664"/>
            <a:ext cx="43891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8366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40507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Miền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450799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Chủ yếu Toán/STEM rộng; thiếu Tin học THCS chuyên biệt.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98064"/>
            <a:ext cx="498348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73152" cy="8778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980944"/>
            <a:ext cx="438912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98094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962656"/>
            <a:ext cx="40507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Ngôn ngữ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38144"/>
            <a:ext cx="450799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Đánh giá chủ yếu bằng tiếng Anh; ít hội thoại gia sư tiếng Việt.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95344"/>
            <a:ext cx="498348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95344"/>
            <a:ext cx="73152" cy="8778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4078224"/>
            <a:ext cx="43891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0782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059935"/>
            <a:ext cx="40507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Dữ liệu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450799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Ít quy trình bắt đầu từ hội thoại giáo viên thông thường và giữ truy vết.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1298448"/>
            <a:ext cx="3657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3AED"/>
                </a:solidFill>
                <a:latin typeface="Noto Sans"/>
              </a:rPr>
              <a:t>BA ĐÓNG GÓP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7608" y="1700784"/>
            <a:ext cx="523036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07608" y="1700784"/>
            <a:ext cx="73152" cy="8778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8776" y="1883664"/>
            <a:ext cx="438912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188366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1865376"/>
            <a:ext cx="42976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340864"/>
            <a:ext cx="4754879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Audit → candidate → requirement → deterministic lock.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07608" y="2798064"/>
            <a:ext cx="523036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07608" y="2798064"/>
            <a:ext cx="73152" cy="8778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08776" y="2980944"/>
            <a:ext cx="438912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298094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2962656"/>
            <a:ext cx="42976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Đo lường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38144"/>
            <a:ext cx="4754879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6 nguyên tắc + 6 năng lực → rubric 4 + 3n.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07608" y="3895344"/>
            <a:ext cx="523036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07608" y="3895344"/>
            <a:ext cx="73152" cy="8778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08776" y="4078224"/>
            <a:ext cx="43891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40782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4059935"/>
            <a:ext cx="42976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Benchmark &amp;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35424"/>
            <a:ext cx="4754879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1.400 mẫu; 3 tutor × 2 judge.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4712" y="5175504"/>
            <a:ext cx="9921240" cy="43891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25880" y="5285232"/>
            <a:ext cx="9509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Đánh giá gia sư là bài toán thiết kế phép đo sư phạm trong ngữ cảnh — không chỉ chấm đáp án đúng/sai.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Novelty nằm ở tổ hợp miền × ngôn ngữ × quy trình dữ liệu, không dùng tuyên bố “đầu tiên” tuyệt đối.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Sections I–II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Noto Sans"/>
              </a:rPr>
              <a:t>XÂY DỰNG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Pipeline xây dựng VietInfoTutorBench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185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verall_pipeline_illust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55031"/>
            <a:ext cx="10716768" cy="3549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Phase 1 bảo đảm chất lượng dữ liệu; Phase 2 bảo đảm cấu trúc đo lường; Phase 3 kết hợp hai đầu vào thành benchmark.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Figure 1 trong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Noto Sans"/>
              </a:rPr>
              <a:t>XÂY DỰNG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Phase 1 — Kiểm toán 1.050 hội thoại giáo viên</a:t>
            </a:r>
          </a:p>
        </p:txBody>
      </p:sp>
      <p:pic>
        <p:nvPicPr>
          <p:cNvPr id="5" name="Picture 4" descr="phase_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2005938"/>
            <a:ext cx="5230368" cy="29192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25312" y="1353312"/>
            <a:ext cx="27797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25312" y="1353312"/>
            <a:ext cx="73152" cy="12984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63056" y="1517904"/>
            <a:ext cx="236829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Grounding học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2011680"/>
            <a:ext cx="2304288" cy="5029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150" b="0" i="0">
                <a:solidFill>
                  <a:srgbClr val="52606D"/>
                </a:solidFill>
                <a:latin typeface="Noto Sans"/>
              </a:rPr>
              <a:t>154 đơn vị SGK/SGV.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150" b="0" i="0">
                <a:solidFill>
                  <a:srgbClr val="52606D"/>
                </a:solidFill>
                <a:latin typeface="Noto Sans"/>
              </a:rPr>
              <a:t>2.750 fragment + SQLite 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3104" y="1353312"/>
            <a:ext cx="26700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33104" y="1353312"/>
            <a:ext cx="73152" cy="12984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517904"/>
            <a:ext cx="22585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Hybrid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2011680"/>
            <a:ext cx="2194560" cy="5029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150" b="0" i="0">
                <a:solidFill>
                  <a:srgbClr val="52606D"/>
                </a:solidFill>
                <a:latin typeface="Noto Sans"/>
              </a:rPr>
              <a:t>Code + gpt-5.4-mini.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150" b="0" i="0">
                <a:solidFill>
                  <a:srgbClr val="52606D"/>
                </a:solidFill>
                <a:latin typeface="Noto Sans"/>
              </a:rPr>
              <a:t>18 tiêu chí có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25312" y="2880360"/>
            <a:ext cx="166420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3008376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Noto Sans"/>
              </a:rPr>
              <a:t>665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52043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904487"/>
            <a:ext cx="1408176" cy="1920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2606D"/>
                </a:solidFill>
                <a:latin typeface="Noto Sans"/>
              </a:rPr>
              <a:t>được conversion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8392" y="2880360"/>
            <a:ext cx="166420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3008376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Noto Sans"/>
              </a:rPr>
              <a:t>382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52043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904487"/>
            <a:ext cx="1408176" cy="1920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2606D"/>
                </a:solidFill>
                <a:latin typeface="Noto Sans"/>
              </a:rPr>
              <a:t>không dùng hiện tại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2880360"/>
            <a:ext cx="166420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3008376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52043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904487"/>
            <a:ext cx="1408176" cy="1920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2606D"/>
                </a:solidFill>
                <a:latin typeface="Noto Sans"/>
              </a:rPr>
              <a:t>bị loại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312" y="4434840"/>
            <a:ext cx="5230368" cy="100584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599432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706"/>
                </a:solidFill>
                <a:latin typeface="Noto Sans"/>
              </a:rPr>
              <a:t>Strict aggregation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553712"/>
            <a:ext cx="33832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102A43"/>
                </a:solidFill>
                <a:latin typeface="Noto Sans"/>
              </a:rPr>
              <a:t>Có fail → failed; không fail nhưng có uncertain → review; còn lại → pass.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Audit giữ truy vết tới học liệu và criterion; chỉ 665 hội thoại pass đi vào conversion.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Section III.A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Noto Sans"/>
              </a:rPr>
              <a:t>XÂY DỰNG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Phase 2 — Sáu nguyên tắc và sáu năng lực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075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NGUYÊN TẮC SƯ PHẠM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55648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20240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95728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Yêu cầu nhận thức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1755648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27832" y="1755648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920240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395728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Làm rõ ý/quan hệ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06624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706624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871216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346704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Biểu diễn cách làm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2706624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27832" y="2706624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76" y="2871216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346704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Cơ hội luyện tập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65760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657600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3822191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297680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Nhận xét + cải thiện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365760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27832" y="3657600"/>
            <a:ext cx="73152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3822191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Questioning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3864" y="4297680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Hỏi để tiến triển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13075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7C3AED"/>
                </a:solidFill>
                <a:latin typeface="Noto Sans"/>
              </a:rPr>
              <a:t>NĂNG LỰC GIA SƯ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3368" y="1755648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73368" y="1755648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920240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395728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Đúng + có căn cứ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7" y="1755648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87967" y="1755648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1" y="1920240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Learner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2395728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Hiểu trạng thái HS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3368" y="2706624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73368" y="2706624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2871216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Strategy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346704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Chọn chiến lược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87967" y="2706624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87967" y="2706624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1" y="2871216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Scaffolding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999" y="3346704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Điều tiết hỗ trợ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3368" y="365760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73368" y="3657600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3822191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Diagnosis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297680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Chẩn đoán lỗi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7" y="365760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887967" y="3657600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5711" y="3822191"/>
            <a:ext cx="19202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Communication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3999" y="4297680"/>
            <a:ext cx="1856231" cy="-18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Rõ + đúng lứa tuổi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68112" y="1956816"/>
            <a:ext cx="502920" cy="269748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04688" y="295351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D97706"/>
                </a:solidFill>
                <a:latin typeface="Noto Sans"/>
              </a:rPr>
              <a:t>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34440" y="4882896"/>
            <a:ext cx="9720072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3040" y="5029200"/>
            <a:ext cx="9281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Nguyên tắc kích hoạt yêu cầu theo mẫu; năng lực tổ chức coverage và observable evidence của rubric.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Ranh giới then chốt: state ≠ diagnosis; strategy ≠ scaffolding; explanation ≠ modelling.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Allison &amp; Tharby; KMP-Bench; adaptive scaffolding; ECD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Noto Sans"/>
              </a:rPr>
              <a:t>XÂY DỰNG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Phase 3 — Từ hội thoại thô đến 1.400 mẫu eligible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3401568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73152" cy="36393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1. Turn-level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1993392"/>
            <a:ext cx="2944368" cy="4114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84832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563EB"/>
                </a:solidFill>
                <a:latin typeface="Noto San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206654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02A43"/>
                </a:solidFill>
                <a:latin typeface="Noto Sans"/>
              </a:rPr>
              <a:t>Em không biết làm sao để ra 101...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523744"/>
            <a:ext cx="2944368" cy="411480"/>
          </a:xfrm>
          <a:prstGeom prst="roundRect">
            <a:avLst/>
          </a:prstGeom>
          <a:solidFill>
            <a:srgbClr val="E8F5F2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15184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Noto Sans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596896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02A43"/>
                </a:solidFill>
                <a:latin typeface="Noto Sans"/>
              </a:rPr>
              <a:t>Chia dãy 0–7; số 5 ở bên nào?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3054096"/>
            <a:ext cx="2944368" cy="4114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45536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563EB"/>
                </a:solidFill>
                <a:latin typeface="Noto Sans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31272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02A43"/>
                </a:solidFill>
                <a:latin typeface="Noto Sans"/>
              </a:rPr>
              <a:t>Bên phải; ghi bit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3584448"/>
            <a:ext cx="2944368" cy="411480"/>
          </a:xfrm>
          <a:prstGeom prst="roundRect">
            <a:avLst/>
          </a:prstGeom>
          <a:solidFill>
            <a:srgbClr val="E8F5F2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675887"/>
            <a:ext cx="320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Noto Sans"/>
              </a:rP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3657600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02A43"/>
                </a:solidFill>
                <a:latin typeface="Noto Sans"/>
              </a:rPr>
              <a:t>Đúng! Chia tiếp dãy chứa số 5...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24528"/>
            <a:ext cx="2834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Noto Sans"/>
              </a:rPr>
              <a:t>D1 → C1 (∅ history) + C2 (T1,S2) + C3 (...)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353312"/>
            <a:ext cx="3218688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1353312"/>
            <a:ext cx="73152" cy="36393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1517904"/>
            <a:ext cx="28072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2. Requirement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011680"/>
            <a:ext cx="2743200" cy="28437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Input: context + source question + gold_answer.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Không dùng gold_response.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Chấm đủ 6 nguyên tắc theo thang 1–5.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Code chọn score ≥ 4.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1353312"/>
            <a:ext cx="3584448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36992" y="1353312"/>
            <a:ext cx="73152" cy="36393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51790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3. Deterministic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3" y="2011680"/>
            <a:ext cx="3108960" cy="28437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1–3 nguyên tắc bắt buộc.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Independent need + counterfactual.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Không xung đột optionality.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2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220" b="0" i="0">
                <a:solidFill>
                  <a:srgbClr val="52606D"/>
                </a:solidFill>
                <a:latin typeface="Noto Sans"/>
              </a:rPr>
              <a:t>Tổ hợp đủ support theo candidate/family.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230368"/>
            <a:ext cx="9738360" cy="438912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340096"/>
            <a:ext cx="9281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2.028 candidate  →  12.168 scores  →  1.400 eligible / 655 family  +  628 bị loại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Model xử lý ngữ nghĩa; code xử lý threshold, validation, join và eligibility.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Section III.C; candidate HNMU-G6-R0041-STT12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Noto Sans"/>
              </a:rPr>
              <a:t>XÂY DỰNG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Pool 1.400 mẫu: phân bố nguyên tắc và hội thoại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07592"/>
            <a:ext cx="110642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3_candidate_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46751"/>
            <a:ext cx="10881360" cy="35290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Pool phủ đủ lớp 6–9 và lịch sử đa lượt, nhưng Challenge (8) và Practice (27) còn rất hiếm.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Figure 2 trong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3AED"/>
                </a:solidFill>
                <a:latin typeface="Noto Sans"/>
              </a:rPr>
              <a:t>KHUNG ĐÁNH GIÁ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Evaluation framework — từ context đến Win/Tie/Lose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2014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_tutor_prompting_and_jud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53" y="1444752"/>
            <a:ext cx="10724988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" y="5340096"/>
            <a:ext cx="3429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94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Noto Sans"/>
              </a:rPr>
              <a:t>Native roles: USER ↔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5340096"/>
            <a:ext cx="3429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5394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Noto Sans"/>
              </a:rPr>
              <a:t>Tutor không thấy: gold / rubric /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5340096"/>
            <a:ext cx="3429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5394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7C3AED"/>
                </a:solidFill>
                <a:latin typeface="Noto Sans"/>
              </a:rPr>
              <a:t>Rubric theo mẫu: 4 chung + 3n riêng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Judge so sánh mù tutor response với teacher reference theo từng rubric và một holistic judgment độc lập.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Section IV; 22 rubric đã được giáo viên HNMU xác nhận sơ bộ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Noto Sans"/>
              </a:rPr>
              <a:t>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Thiết kế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3657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7706"/>
                </a:solidFill>
                <a:latin typeface="Noto Sans"/>
              </a:rPr>
              <a:t>3 CẤU HÌNH AI TUTOR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19072"/>
            <a:ext cx="404164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719072"/>
            <a:ext cx="73152" cy="8046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36301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Gemini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9152"/>
            <a:ext cx="3566160" cy="365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Gemini 3.5 Flash • baseline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724912"/>
            <a:ext cx="404164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2724912"/>
            <a:ext cx="73152" cy="8046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89504"/>
            <a:ext cx="36301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Gemini + LearnLM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64991"/>
            <a:ext cx="3566160" cy="365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Cùng base model • LearnLM-oriented instruction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730752"/>
            <a:ext cx="404164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3730752"/>
            <a:ext cx="73152" cy="8046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95344"/>
            <a:ext cx="36301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Llama 4 Maverick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370832"/>
            <a:ext cx="3566160" cy="365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Llama MaaS • baseline instruction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298448"/>
            <a:ext cx="2743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7706"/>
                </a:solidFill>
                <a:latin typeface="Noto Sans"/>
              </a:rPr>
              <a:t>2 LLM JUDGE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1719072"/>
            <a:ext cx="276148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10912" y="1719072"/>
            <a:ext cx="73152" cy="10241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1883664"/>
            <a:ext cx="23500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Gemini 3.5 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359152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606D"/>
                </a:solidFill>
                <a:latin typeface="Noto Sans"/>
              </a:rPr>
              <a:t>thinking level = medium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2944368"/>
            <a:ext cx="276148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10912" y="2944368"/>
            <a:ext cx="73152" cy="10241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3108960"/>
            <a:ext cx="23500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GPT-5.4-mini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358444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606D"/>
                </a:solidFill>
                <a:latin typeface="Noto Sans"/>
              </a:rPr>
              <a:t>reasoning effort = medium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4178808"/>
            <a:ext cx="2761488" cy="105156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70832"/>
            <a:ext cx="23591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Báo riêng từng judge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736592"/>
            <a:ext cx="235915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606D"/>
                </a:solidFill>
                <a:latin typeface="Noto Sans"/>
              </a:rPr>
              <a:t>Không lấy trung bình để che bất đồng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1298448"/>
            <a:ext cx="2743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7706"/>
                </a:solidFill>
                <a:latin typeface="Noto Sans"/>
              </a:rPr>
              <a:t>QUY MÔ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1719072"/>
            <a:ext cx="1517904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847088"/>
            <a:ext cx="12618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F766E"/>
                </a:solidFill>
                <a:latin typeface="Noto Sans"/>
              </a:rPr>
              <a:t>1.400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359152"/>
            <a:ext cx="1225295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samples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1719072"/>
            <a:ext cx="1517904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2096" y="1847088"/>
            <a:ext cx="12618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Noto Sans"/>
              </a:rPr>
              <a:t>4.200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359152"/>
            <a:ext cx="1225295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responses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090672"/>
            <a:ext cx="1517904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218688"/>
            <a:ext cx="12618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C2626"/>
                </a:solidFill>
                <a:latin typeface="Noto Sans"/>
              </a:rPr>
              <a:t>8.400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3730752"/>
            <a:ext cx="1225295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overall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3090672"/>
            <a:ext cx="1517904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2096" y="3218688"/>
            <a:ext cx="12618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7C3AED"/>
                </a:solidFill>
                <a:latin typeface="Noto Sans"/>
              </a:rPr>
              <a:t>77.664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3730752"/>
            <a:ext cx="1225295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rubric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01583" y="4462272"/>
            <a:ext cx="3200400" cy="74980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4617720"/>
            <a:ext cx="2788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Noto Sans"/>
              </a:rPr>
              <a:t>5.000 cluster-bootstrap
resamples theo sample_id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Ba target được so với cùng teacher reference trên cùng 1.400 sample và cùng rubric contract.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Section V.A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Noto Sans"/>
              </a:rPr>
              <a:t>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Kết quả chính — phân biệt lớn, chưa ổn định ở khác biệt nhỏ</a:t>
            </a:r>
          </a:p>
        </p:txBody>
      </p:sp>
      <p:pic>
        <p:nvPicPr>
          <p:cNvPr id="5" name="Picture 4" descr="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984090"/>
            <a:ext cx="5623560" cy="2844099"/>
          </a:xfrm>
          <a:prstGeom prst="rect">
            <a:avLst/>
          </a:prstGeom>
        </p:spPr>
      </p:pic>
      <p:pic>
        <p:nvPicPr>
          <p:cNvPr id="6" name="Picture 5" descr="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75091"/>
            <a:ext cx="5623560" cy="26895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321808"/>
            <a:ext cx="3328416" cy="384048"/>
          </a:xfrm>
          <a:prstGeom prst="roundRect">
            <a:avLst/>
          </a:prstGeom>
          <a:solidFill>
            <a:srgbClr val="E8F5F2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404104"/>
            <a:ext cx="30906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6A34A"/>
                </a:solidFill>
                <a:latin typeface="Noto Sans"/>
              </a:rPr>
              <a:t>4/4 Gemini–Llama CI không chứa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321808"/>
            <a:ext cx="3328416" cy="384048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5404104"/>
            <a:ext cx="30906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Noto Sans"/>
              </a:rPr>
              <a:t>Family-macro không đảo thứ hạng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321808"/>
            <a:ext cx="3328416" cy="38404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5404104"/>
            <a:ext cx="30906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C2626"/>
                </a:solidFill>
                <a:latin typeface="Noto Sans"/>
              </a:rPr>
              <a:t>Baseline–LearnLM đảo theo 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Claim mạnh nhất: benchmark phân biệt bền vững khoảng cách lớn Gemini–Llama; chưa xếp hạng chắc hai Gemini configuration.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Tables II–V; Overall Accuracy và 95% cluster-bootstrap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Noto Sans"/>
              </a:rPr>
              <a:t>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Judge agreement và threats to validity</a:t>
            </a:r>
          </a:p>
        </p:txBody>
      </p:sp>
      <p:pic>
        <p:nvPicPr>
          <p:cNvPr id="5" name="Picture 4" descr="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002105"/>
            <a:ext cx="5650992" cy="27257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1072" y="1353312"/>
            <a:ext cx="24871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353312"/>
            <a:ext cx="73152" cy="10789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517904"/>
            <a:ext cx="20756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Bất đồng tập trung ở 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993391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606D"/>
                </a:solidFill>
                <a:latin typeface="Noto Sans"/>
              </a:rPr>
              <a:t>Exact agreement chỉ 63,21%.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353312"/>
            <a:ext cx="24871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9408" y="1353312"/>
            <a:ext cx="73152" cy="10789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17904"/>
            <a:ext cx="20756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Bất đối xứng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993391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52606D"/>
                </a:solidFill>
                <a:latin typeface="Noto Sans"/>
              </a:rPr>
              <a:t>Gemini Lose/GPT Win: 419; chiều ngược: 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688336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88336"/>
            <a:ext cx="73152" cy="9875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2871216"/>
            <a:ext cx="438912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7121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52928"/>
            <a:ext cx="1554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LLM-only judges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328415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Agreement ≠ human correctness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2688336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79408" y="2688336"/>
            <a:ext cx="73152" cy="9875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871216"/>
            <a:ext cx="43891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87121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2852928"/>
            <a:ext cx="1554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Same-family confound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328415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Gemini judge cùng họ với 2 tutor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877056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3877056"/>
            <a:ext cx="73152" cy="9875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4059936"/>
            <a:ext cx="438912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5993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041648"/>
            <a:ext cx="1554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Principle imbalance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4517136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Challenge 8; Explanation 863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3877056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79408" y="3877056"/>
            <a:ext cx="73152" cy="9875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0576" y="4059936"/>
            <a:ext cx="438912" cy="4389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05993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4041648"/>
            <a:ext cx="1554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Rubric calibration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517136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52606D"/>
                </a:solidFill>
                <a:latin typeface="Noto Sans"/>
              </a:rPr>
              <a:t>Questioning/common criteria khó chấm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Kết quả hỗ trợ relative discrimination, không phải absolute quality certification hay bằng chứng same-family bias.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6565392"/>
            <a:ext cx="7086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7B8794"/>
                </a:solidFill>
                <a:latin typeface="Noto Sans"/>
              </a:rPr>
              <a:t>Tables VI–VII; Section VI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Noto Sans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Noto Sans"/>
              </a:rPr>
              <a:t>Kết luận và các điểm cần chốt tối nay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345643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73152" cy="42976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Kết luận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80944" cy="35021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Pipeline truy vết từ 1.050 hội thoại đến 1.400 mẫu.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6 nguyên tắc + 6 năng lực tạo rubric theo ngữ cảnh.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Phân biệt ổn định khác biệt lớn, chưa phân giải chắc khác biệt nhỏ.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53312"/>
            <a:ext cx="345643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353312"/>
            <a:ext cx="73152" cy="42976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17904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Validation tiếp theo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011680"/>
            <a:ext cx="2980944" cy="35021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HNMU chấm độc lập response pair bằng 22 rubric.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Phân xử thành human reference.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Đo lỗi Gemini/GPT; ưu tiên Questioning, common criteria và principle hiếm.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353312"/>
            <a:ext cx="345643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353312"/>
            <a:ext cx="73152" cy="42976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17904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Cần giáo sư chốt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11680"/>
            <a:ext cx="2980944" cy="35021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Novelty claim và ba đóng góp.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Cách diễn giải 1.400 mẫu eligible.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Reporting hai judge + limitations.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2563EB"/>
                </a:solidFill>
                <a:latin typeface="Noto Sans"/>
              </a:rPr>
              <a:t>• </a:t>
            </a:r>
            <a:r>
              <a:rPr sz="1300" b="0" i="0">
                <a:solidFill>
                  <a:srgbClr val="52606D"/>
                </a:solidFill>
                <a:latin typeface="Noto Sans"/>
              </a:rPr>
              <a:t>Tác giả, affiliation, corresponding author, acknowledgement.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980176"/>
            <a:ext cx="10908792" cy="42062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53328"/>
            <a:ext cx="15087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THÔNG ĐIỆP CHỐT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6030468"/>
            <a:ext cx="9098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Nếu ba cột trên được thống nhất, paper sẵn sàng cho vòng sửa cuối và nộp KSE.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528816"/>
            <a:ext cx="1090879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65392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B8794"/>
                </a:solidFill>
                <a:latin typeface="Noto Sans"/>
              </a:rPr>
              <a:t>VietInfoTutorBench • KSE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56248"/>
            <a:ext cx="411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7B8794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VietInfoTutorBench — KSE 2026 paper-finalization meeting</dc:title>
  <dc:subject>Vietnamese lower-secondary Informatics AI tutor benchmark</dc:subject>
  <dc:creator>VietInfoTutorBench project team</dc:creator>
  <cp:keywords/>
  <dc:description>Concise 12-slide deck generated from the latest KSE manuscript and experiment 20260727_170150.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